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90" r:id="rId4"/>
    <p:sldId id="291" r:id="rId5"/>
    <p:sldId id="292" r:id="rId6"/>
    <p:sldId id="293" r:id="rId7"/>
    <p:sldId id="258" r:id="rId8"/>
    <p:sldId id="259" r:id="rId9"/>
    <p:sldId id="260" r:id="rId10"/>
    <p:sldId id="294" r:id="rId11"/>
    <p:sldId id="295" r:id="rId12"/>
    <p:sldId id="296"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97" r:id="rId30"/>
    <p:sldId id="277" r:id="rId31"/>
    <p:sldId id="278" r:id="rId32"/>
    <p:sldId id="279" r:id="rId33"/>
    <p:sldId id="280" r:id="rId34"/>
    <p:sldId id="281" r:id="rId35"/>
    <p:sldId id="282" r:id="rId36"/>
    <p:sldId id="283" r:id="rId37"/>
    <p:sldId id="284" r:id="rId38"/>
    <p:sldId id="286" r:id="rId39"/>
    <p:sldId id="287" r:id="rId40"/>
    <p:sldId id="288" r:id="rId41"/>
    <p:sldId id="289" r:id="rId42"/>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454" autoAdjust="0"/>
  </p:normalViewPr>
  <p:slideViewPr>
    <p:cSldViewPr snapToGrid="0">
      <p:cViewPr>
        <p:scale>
          <a:sx n="75" d="100"/>
          <a:sy n="75" d="100"/>
        </p:scale>
        <p:origin x="708"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ptos"/>
              </a:rPr>
              <a:t>Click to move the slide</a:t>
            </a: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9"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0"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11"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C95442B9-7154-4DFA-A29A-A2D0EA60A269}"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PlaceHolder 1"/>
          <p:cNvSpPr>
            <a:spLocks noGrp="1" noRot="1" noChangeAspect="1"/>
          </p:cNvSpPr>
          <p:nvPr>
            <p:ph type="sldImg"/>
          </p:nvPr>
        </p:nvSpPr>
        <p:spPr>
          <a:xfrm>
            <a:off x="685800" y="1143000"/>
            <a:ext cx="5486400" cy="3086100"/>
          </a:xfrm>
          <a:prstGeom prst="rect">
            <a:avLst/>
          </a:prstGeom>
          <a:ln w="0">
            <a:noFill/>
          </a:ln>
        </p:spPr>
      </p:sp>
      <p:sp>
        <p:nvSpPr>
          <p:cNvPr id="7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dirty="0"/>
              <a:t>This presentation introduces </a:t>
            </a:r>
            <a:r>
              <a:rPr dirty="0" err="1"/>
              <a:t>NeuroFusion</a:t>
            </a:r>
            <a:r>
              <a:rPr dirty="0"/>
              <a:t>-AI, a project on explainable multimodal machine learning for Alzheimer’s disease using ADNI data. The central idea is to combine several complementary sources of information rather than relying on one measurement alone. These sources include clinical information, cognitive assessments, structural MRI, PET imaging, biofluid biomarkers and genetic information. The project has two major predictive objectives: first, classify the participant’s current state as cognitively normal, mild cognitive impairment or Alzheimer’s disease; and second, estimate future progression from mild cognitive impairment to Alzheimer’s disease. The project is deliberately broader than a single machine-learning model. Students will construct a reproducible data pipeline, compare several algorithms, build ensemble models, evaluate longitudinal prediction, study calibration and uncertainty, provide explainable-AI results, and expose the results through a research dashboard.</a:t>
            </a:r>
          </a:p>
        </p:txBody>
      </p:sp>
      <p:sp>
        <p:nvSpPr>
          <p:cNvPr id="761"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315BEEE-7D36-44C6-AB14-ACCE3F7E53E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 name="PlaceHolder 1"/>
          <p:cNvSpPr>
            <a:spLocks noGrp="1" noRot="1" noChangeAspect="1"/>
          </p:cNvSpPr>
          <p:nvPr>
            <p:ph type="sldImg"/>
          </p:nvPr>
        </p:nvSpPr>
        <p:spPr>
          <a:xfrm>
            <a:off x="685800" y="1143000"/>
            <a:ext cx="5486400" cy="3086100"/>
          </a:xfrm>
          <a:prstGeom prst="rect">
            <a:avLst/>
          </a:prstGeom>
          <a:ln w="0">
            <a:noFill/>
          </a:ln>
        </p:spPr>
      </p:sp>
      <p:sp>
        <p:nvSpPr>
          <p:cNvPr id="7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This slide summarizes the five tangible outputs of the project. First is the research pipeline. Students must construct the cohort reproducibly, harmonize the different ADNI modalities, align visits correctly and prevent temporal leakage. Second are the predictive models: current CN, MCI and AD classification, together with prospective MCI-to-AD progression prediction. Third is trustworthy AI. We do not accept a high accuracy number as sufficient; probabilities must be calibrated, uncertainty and missing modalities must be considered, and explanations must be produced. Fourth is the software platform itself, implemented as reusable Python modules with configuration and provenance tracking. Fifth is the research dashboard, which allows us to inspect cohorts, trajectories, model comparisons, calibration, explanations and progression forecasts. These five outputs show that the thesis combines data engineering, machine learning, research methodology and software engineering.</a:t>
            </a:r>
          </a:p>
        </p:txBody>
      </p:sp>
      <p:sp>
        <p:nvSpPr>
          <p:cNvPr id="764"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48DB0B7-A42D-4453-96B2-EA195F76D840}"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Before discussing algorithms, we need a precise understanding of the three diagnostic categories used in Task A. CN means Cognitively Normal. In the selected ADNI cohort, this describes participants who do not meet the study definition of significant cognitive impairment. MCI means Mild Cognitive Impairment. These participants show measurable cognitive difficulties beyond normal aging, but they do not yet meet the selected definition of Alzheimer’s dementia. AD means Alzheimer’s Disease, or the Alzheimer’s disease or dementia category defined by the relevant ADNI diagnostic rules. The machine-learning question is therefore: given the multimodal measurements available at a particular visit, which of these three current states is most consistent with the patterns learned from the training data? This is a current-state classification problem. It must not be confused with the later progression task, which predicts a future event.</a:t>
            </a:r>
          </a:p>
        </p:txBody>
      </p:sp>
      <p:sp>
        <p:nvSpPr>
          <p:cNvPr id="4" name="Slide Number Placeholder 3"/>
          <p:cNvSpPr>
            <a:spLocks noGrp="1"/>
          </p:cNvSpPr>
          <p:nvPr>
            <p:ph type="sldNum" idx="4"/>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classifier should not return only a hard label such as MCI. It should return a probability distribution across the three possible classes. We represent all information for a participant by a feature vector X. The model estimates P of CN given X, P of MCI given X and P of AD given X. These three probabilities should sum to one. In the example, the model assigns 0.08 to CN, 0.76 to MCI and 0.16 to AD. The predicted class is therefore MCI because 0.76 is the largest probability. Retaining probabilities is essential for this project. They allow us to evaluate calibration, quantify uncertainty and combine different learners in an ensemble. A hard class label discards this information. Later, soft voting, weighted voting and stacking will all make use of the probability outputs produced by the individual models.</a:t>
            </a:r>
          </a:p>
        </p:txBody>
      </p:sp>
      <p:sp>
        <p:nvSpPr>
          <p:cNvPr id="4" name="Slide Number Placeholder 3"/>
          <p:cNvSpPr>
            <a:spLocks noGrp="1"/>
          </p:cNvSpPr>
          <p:nvPr>
            <p:ph type="sldNum" idx="4"/>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slide connects the three-class classification task with the ensemble methodology. We train five diverse base learners: Logistic Regression, an RBF Support Vector Machine, Random Forest, XGBoost and a Multilayer Perceptron neural network. Each model receives the same permitted feature representation and estimates the same three probabilities: CN, MCI and AD. The ensemble does not simply count five hard votes. Instead, it combines the probability vectors. In soft voting, we average the probability vectors. In weighted soft voting, each model receives a weight selected from validation or cross-validation evidence, with the weights summing to one. In stacking, the five models produce out-of-fold probabilities that become inputs to a second-level Logistic Regression meta-learner. This gives us five individual predictive configurations plus three ensemble configurations, for eight principal configurations to compare under the same evaluation protocol.</a:t>
            </a:r>
          </a:p>
        </p:txBody>
      </p:sp>
      <p:sp>
        <p:nvSpPr>
          <p:cNvPr id="4" name="Slide Number Placeholder 3"/>
          <p:cNvSpPr>
            <a:spLocks noGrp="1"/>
          </p:cNvSpPr>
          <p:nvPr>
            <p:ph type="sldNum" idx="4"/>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project contains two different artificial-intelligence questions and it is important to keep them conceptually separate. Task A is current-state recognition. At a defined visit t, we use the measurements available at that visit to estimate whether the participant is CN, MCI or AD. Task B is future-risk forecasting. We begin with a participant who has MCI at an index time t-zero and use only information available at or before that time to estimate the probability of progression to AD within a future horizon H. Candidate horizons are twelve, twenty-four and thirty-six months, depending on follow-up coverage and event counts. Task A is a three-class classification problem. Task B is a longitudinal prospective prediction problem. Their metrics also differ. Task A emphasizes Macro-F1, class sensitivity, one-versus-rest AUROC and calibration, while Task B emphasizes AUROC, AUPRC, sensitivity, specificity, Brier score and calibration.</a:t>
            </a:r>
          </a:p>
        </p:txBody>
      </p:sp>
      <p:sp>
        <p:nvSpPr>
          <p:cNvPr id="4" name="Slide Number Placeholder 3"/>
          <p:cNvSpPr>
            <a:spLocks noGrp="1"/>
          </p:cNvSpPr>
          <p:nvPr>
            <p:ph type="sldNum" idx="4"/>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 name="PlaceHolder 1"/>
          <p:cNvSpPr>
            <a:spLocks noGrp="1" noRot="1" noChangeAspect="1"/>
          </p:cNvSpPr>
          <p:nvPr>
            <p:ph type="sldImg"/>
          </p:nvPr>
        </p:nvSpPr>
        <p:spPr>
          <a:xfrm>
            <a:off x="685800" y="1143000"/>
            <a:ext cx="5486040" cy="3085920"/>
          </a:xfrm>
          <a:prstGeom prst="rect">
            <a:avLst/>
          </a:prstGeom>
          <a:ln w="0">
            <a:noFill/>
          </a:ln>
        </p:spPr>
      </p:sp>
      <p:sp>
        <p:nvSpPr>
          <p:cNvPr id="7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The scientific motivation is that Alzheimer’s disease is both heterogeneous and longitudinal. Heterogeneous means that different participants can show different combinations of cognitive impairment, structural brain changes, PET findings, biomarker profiles and genetic risk. No single modality necessarily captures the complete picture. Longitudinal means that the disease evolves over time, so repeated observations can contain information about trajectories and rates of change. NeuroFusion-AI therefore asks whether combining complementary evidence improves two things: modelling the participant’s current disease state and forecasting future progression. However, improvement in discrimination is not enough. The resulting system should also be reliable and interpretable. Reliability includes calibration, uncertainty, robustness to missing modalities and leakage-safe evaluation. Interpretability means that we can examine which features or modalities influenced a model prediction, while being careful not to claim that model attribution proves biological causation.</a:t>
            </a:r>
          </a:p>
        </p:txBody>
      </p:sp>
      <p:sp>
        <p:nvSpPr>
          <p:cNvPr id="767"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77D81FF-E115-49A5-A088-EF498578725A}"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 name="PlaceHolder 1"/>
          <p:cNvSpPr>
            <a:spLocks noGrp="1" noRot="1" noChangeAspect="1"/>
          </p:cNvSpPr>
          <p:nvPr>
            <p:ph type="sldImg"/>
          </p:nvPr>
        </p:nvSpPr>
        <p:spPr>
          <a:xfrm>
            <a:off x="685800" y="1143000"/>
            <a:ext cx="5486400" cy="3086100"/>
          </a:xfrm>
          <a:prstGeom prst="rect">
            <a:avLst/>
          </a:prstGeom>
          <a:ln w="0">
            <a:noFill/>
          </a:ln>
        </p:spPr>
      </p:sp>
      <p:sp>
        <p:nvSpPr>
          <p:cNvPr id="7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This slide states the central research question and four hypotheses to test. The main question is whether multimodal machine learning using heterogeneous and longitudinal ADNI information can improve current CN, MCI and AD classification and future MCI-to-AD progression prediction while remaining calibrated, interpretable and robust. Hypothesis one concerns fusion: multimodal models should be compared with the best single-modality baseline, not with a weak baseline. Hypothesis two concerns time: longitudinal representations should be compared with baseline-only representations. Hypothesis three concerns architecture: early fusion, late fusion and learned hybrid fusion should be compared experimentally. Hypothesis four concerns robustness: the project should explicitly test missing modalities and uncertainty. These are hypotheses, not predetermined conclusions. The experiments must be designed so that the evidence can support or reject them without using the test set to guide modelling decisions.</a:t>
            </a:r>
          </a:p>
        </p:txBody>
      </p:sp>
      <p:sp>
        <p:nvSpPr>
          <p:cNvPr id="770"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865CF11-6897-47A8-8AD1-9959842DCC1D}"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 name="PlaceHolder 1"/>
          <p:cNvSpPr>
            <a:spLocks noGrp="1" noRot="1" noChangeAspect="1"/>
          </p:cNvSpPr>
          <p:nvPr>
            <p:ph type="sldImg"/>
          </p:nvPr>
        </p:nvSpPr>
        <p:spPr>
          <a:xfrm>
            <a:off x="685800" y="1143000"/>
            <a:ext cx="5486040" cy="3085920"/>
          </a:xfrm>
          <a:prstGeom prst="rect">
            <a:avLst/>
          </a:prstGeom>
          <a:ln w="0">
            <a:noFill/>
          </a:ln>
        </p:spPr>
      </p:sp>
      <p:sp>
        <p:nvSpPr>
          <p:cNvPr id="7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Here we formalize the two primary prediction tasks. Task A is disease-state classification. The input is information available for a participant at a defined visit, and the output is a probability distribution over CN, MCI and AD. We compare conventional and nonlinear baselines, including multinomial Logistic Regression, SVM, Random Forest, XGBoost or LightGBM, and MLP. The key evaluation measures are Macro-F1, class sensitivity, one-versus-rest AUROC and calibration. Task B is MCI-to-AD progression. The cohort contains participants who have MCI at the index time t-zero. The model estimates the probability of future conversion after t-zero. Candidate horizons are twelve, twenty-four and thirty-six months, but the final horizons depend on follow-up coverage and the number of progression events. This second task is the main longitudinal component of the thesis.</a:t>
            </a:r>
          </a:p>
        </p:txBody>
      </p:sp>
      <p:sp>
        <p:nvSpPr>
          <p:cNvPr id="773"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98F9FB7-2B73-481A-805F-FC569D2D826A}"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slide explains Task A in operational terms. Imagine that we select one participant at one permitted visit. We construct X from the information available at that visit, such as clinical variables, cognitive scores, MRI regional measurements, PET summaries, biofluid biomarkers and APOE information. The question is not whether the participant will deteriorate in the future. The question is what current diagnostic state is most consistent with the observed information. The model returns three probabilities. In the example, CN is 0.08, MCI is 0.76 and AD is 0.16, so MCI becomes the predicted class. Notice that we preserve the entire probability distribution. A probability of 0.76 is different from a probability of 0.99 even if both produce the same class label. This distinction becomes important when we study confidence, calibration and ensemble combination.</a:t>
            </a:r>
          </a:p>
        </p:txBody>
      </p:sp>
      <p:sp>
        <p:nvSpPr>
          <p:cNvPr id="4" name="Slide Number Placeholder 3"/>
          <p:cNvSpPr>
            <a:spLocks noGrp="1"/>
          </p:cNvSpPr>
          <p:nvPr>
            <p:ph type="sldNum" idx="4"/>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Task B changes the temporal question. We begin with participants who have MCI at an index time t-zero. The model estimates the probability that a participant will progress from MCI to AD within a future horizon H. The feature window contains only information available at or before t-zero. The outcome window begins after t-zero. This separation is essential. If a measurement collected after t-zero is used as a predictor, the model may receive information that would not have been available when the prediction was supposed to be made. That is temporal leakage. Candidate horizons are twelve, twenty-four and thirty-six months, selected only after we inspect follow-up coverage and the number of conversion events. If a thirty-six-month model returns 0.72, this means an estimated seventy-two percent conversion probability within that defined horizon, subject to calibration and uncertainty.</a:t>
            </a:r>
          </a:p>
        </p:txBody>
      </p:sp>
      <p:sp>
        <p:nvSpPr>
          <p:cNvPr id="4" name="Slide Number Placeholder 3"/>
          <p:cNvSpPr>
            <a:spLocks noGrp="1"/>
          </p:cNvSpPr>
          <p:nvPr>
            <p:ph type="sldNum" idx="4"/>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comparison should make the distinction between the two tasks completely clear. Task A is a three-class classification problem applied to eligible participants at a defined visit. Its output is a probability distribution across CN, MCI and AD. Task B is a future-event prediction problem applied specifically to participants with MCI at t-zero. Its output is a conversion probability within a future horizon. Macro-F1 averages the F1 score across the three diagnostic classes and therefore prevents the largest class from dominating the summary. AUROC measures discrimination across decision thresholds. AUPRC summarizes the precision-recall trade-off and is especially useful when progression events are relatively uncommon. The Brier score measures squared error in predicted probabilities, so lower values are better. Calibration asks a different question from discrimination: when a model predicts approximately seventy percent risk for many similar cases, do roughly seventy percent actually experience the event?</a:t>
            </a:r>
          </a:p>
        </p:txBody>
      </p:sp>
      <p:sp>
        <p:nvSpPr>
          <p:cNvPr id="4" name="Slide Number Placeholder 3"/>
          <p:cNvSpPr>
            <a:spLocks noGrp="1"/>
          </p:cNvSpPr>
          <p:nvPr>
            <p:ph type="sldNum" idx="4"/>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 name="PlaceHolder 1"/>
          <p:cNvSpPr>
            <a:spLocks noGrp="1" noRot="1" noChangeAspect="1"/>
          </p:cNvSpPr>
          <p:nvPr>
            <p:ph type="sldImg"/>
          </p:nvPr>
        </p:nvSpPr>
        <p:spPr>
          <a:xfrm>
            <a:off x="685800" y="1143000"/>
            <a:ext cx="5486400" cy="3086100"/>
          </a:xfrm>
          <a:prstGeom prst="rect">
            <a:avLst/>
          </a:prstGeom>
          <a:ln w="0">
            <a:noFill/>
          </a:ln>
        </p:spPr>
      </p:sp>
      <p:sp>
        <p:nvSpPr>
          <p:cNvPr id="7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We now move from the research questions to the ADNI data foundation. Before any model is trained, students must understand the dataset they are actually using. That includes access conditions, the ADNI phase or release, participant identifiers, visit coding, examination dates, diagnostic definitions, modality coverage and the associated data dictionaries. This is important because a model can only be as defensible as the cohort and variables on which it is built. Different tables may use different conventions, and repeated visits must be aligned correctly. We therefore treat data understanding and provenance as part of the scientific method rather than as preliminary housekeeping. The project starts with approved, manually downloaded ADNI files. The software does not automate ADNI authentication or downloading. From the point at which the local files are available, every transformation should be reproducible and documented.</a:t>
            </a:r>
          </a:p>
        </p:txBody>
      </p:sp>
      <p:sp>
        <p:nvSpPr>
          <p:cNvPr id="776"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139868D-A875-4534-8ED2-AF2DD13D491E}"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 name="PlaceHolder 1"/>
          <p:cNvSpPr>
            <a:spLocks noGrp="1" noRot="1" noChangeAspect="1"/>
          </p:cNvSpPr>
          <p:nvPr>
            <p:ph type="sldImg"/>
          </p:nvPr>
        </p:nvSpPr>
        <p:spPr>
          <a:xfrm>
            <a:off x="685800" y="1143000"/>
            <a:ext cx="5486040" cy="3085920"/>
          </a:xfrm>
          <a:prstGeom prst="rect">
            <a:avLst/>
          </a:prstGeom>
          <a:ln w="0">
            <a:noFill/>
          </a:ln>
        </p:spPr>
      </p:sp>
      <p:sp>
        <p:nvSpPr>
          <p:cNvPr id="7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The central data structure is a participant-by-visit longitudinal table. Each row represents one participant at one visit, not one participant for the entire study. RID is the participant identifier used to link records. VISCODE is the visit code, such as baseline or month twenty-four. EXAMDATE is the examination date. DX is the diagnosis, such as CN, MCI or AD. MMSE is the Mini-Mental State Examination, a brief global cognitive screening measure. ADAS13 is the thirteen-item Alzheimer’s Disease Assessment Scale cognitive subscale; higher values generally indicate greater impairment. CDRSB is the Clinical Dementia Rating Sum of Boxes; higher values indicate greater severity across cognitive and functional domains. MRI is Magnetic Resonance Imaging, PET is Positron Emission Tomography, CSF is Cerebrospinal Fluid, and APOE is Apolipoprotein E genotype. The availability marks show which modalities exist for that participant at that visit.</a:t>
            </a:r>
          </a:p>
        </p:txBody>
      </p:sp>
      <p:sp>
        <p:nvSpPr>
          <p:cNvPr id="779"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E1B3008-593C-493A-89BC-DE3F4D6DC565}"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 name="PlaceHolder 1"/>
          <p:cNvSpPr>
            <a:spLocks noGrp="1" noRot="1" noChangeAspect="1"/>
          </p:cNvSpPr>
          <p:nvPr>
            <p:ph type="sldImg"/>
          </p:nvPr>
        </p:nvSpPr>
        <p:spPr>
          <a:xfrm>
            <a:off x="685800" y="1143000"/>
            <a:ext cx="5486040" cy="3085920"/>
          </a:xfrm>
          <a:prstGeom prst="rect">
            <a:avLst/>
          </a:prstGeom>
          <a:ln w="0">
            <a:noFill/>
          </a:ln>
        </p:spPr>
      </p:sp>
      <p:sp>
        <p:nvSpPr>
          <p:cNvPr id="7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This slide defines an important implementation boundary. ADNI data acquisition is manual and happens outside NeuroFusion-AI. Students use their approved ADNI access to obtain the required files and then place those files in the local project data area. The software begins only after the files are available. The student first places the files under data slash raw, then registers them in a provenance manifest, and finally runs the processing pipeline. We explicitly exclude an IDA API downloader, web scraping, automated authentication and automated downloading. The manifest should record the file name, ADNI phase or release, download date, processing version and the relevant data dictionary. This approach keeps access control separate from the research software while still making the subsequent analysis reproducible. The implementation boundary is therefore local files, harmonization, cohort construction and modelling.</a:t>
            </a:r>
          </a:p>
        </p:txBody>
      </p:sp>
      <p:sp>
        <p:nvSpPr>
          <p:cNvPr id="782"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8E052D5-1592-441B-B0E7-65120BC4C0F5}"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 name="PlaceHolder 1"/>
          <p:cNvSpPr>
            <a:spLocks noGrp="1" noRot="1" noChangeAspect="1"/>
          </p:cNvSpPr>
          <p:nvPr>
            <p:ph type="sldImg"/>
          </p:nvPr>
        </p:nvSpPr>
        <p:spPr>
          <a:xfrm>
            <a:off x="685800" y="1143000"/>
            <a:ext cx="5486040" cy="3085920"/>
          </a:xfrm>
          <a:prstGeom prst="rect">
            <a:avLst/>
          </a:prstGeom>
          <a:ln w="0">
            <a:noFill/>
          </a:ln>
        </p:spPr>
      </p:sp>
      <p:sp>
        <p:nvSpPr>
          <p:cNvPr id="7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For the core thesis, we intentionally start with a manageable ADNI data package. The minimum package contains diagnosis and demographic information, clinical and cognitive assessments, APOE information, biofluid biomarkers, processed MRI numerical summaries and processed PET numerical summaries. We also require identifiers and metadata such as RID or PTID, VISCODE, EXAMDATE, diagnosis, modality-availability indicators and processing or version information. The key design choice is to begin with processed tabular data. Direct learning from raw three-dimensional MRI or PET volumes is an advanced extension, not a prerequisite. High-dimensional omics should also be considered only if the available sample size is adequate. This keeps the core thesis focused on multimodal integration, ensemble learning, longitudinal prediction and trustworthy evaluation rather than allowing raw-image preprocessing to consume the entire project.</a:t>
            </a:r>
          </a:p>
        </p:txBody>
      </p:sp>
      <p:sp>
        <p:nvSpPr>
          <p:cNvPr id="785"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559B9BD-00DA-4FB8-8A84-C857791BC372}"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 name="PlaceHolder 1"/>
          <p:cNvSpPr>
            <a:spLocks noGrp="1" noRot="1" noChangeAspect="1"/>
          </p:cNvSpPr>
          <p:nvPr>
            <p:ph type="sldImg"/>
          </p:nvPr>
        </p:nvSpPr>
        <p:spPr>
          <a:xfrm>
            <a:off x="685800" y="1143000"/>
            <a:ext cx="5486040" cy="3085920"/>
          </a:xfrm>
          <a:prstGeom prst="rect">
            <a:avLst/>
          </a:prstGeom>
          <a:ln w="0">
            <a:noFill/>
          </a:ln>
        </p:spPr>
      </p:sp>
      <p:sp>
        <p:nvSpPr>
          <p:cNvPr id="7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This slide shows how the local project should be organized. Raw files are separated by domain, for example demographics, diagnosis, cognitive, clinical, genetics, biofluid, MRI numerical summaries and PET numerical summaries. Data dictionaries are stored separately. Interim and processed folders contain data generated by code. Configuration files define cohort and experiment settings. Source code, experiments, models, reports and notebooks are also separated. Four rules are important. First, never manually edit files in data slash raw; treat them as immutable evidence. Second, every processed dataset should be reproducible from code and configuration. Third, record the source file version, download date, dictionary and processing provenance. Fourth, keep participant identifiers only in the approved controlled environment. This structure supports reproducibility, debugging and auditing and prevents the thesis from becoming a collection of undocumented spreadsheets and notebooks.</a:t>
            </a:r>
          </a:p>
        </p:txBody>
      </p:sp>
      <p:sp>
        <p:nvSpPr>
          <p:cNvPr id="788"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79EAB02-4039-421A-8883-831206B8B818}"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PlaceHolder 1"/>
          <p:cNvSpPr>
            <a:spLocks noGrp="1" noRot="1" noChangeAspect="1"/>
          </p:cNvSpPr>
          <p:nvPr>
            <p:ph type="sldImg"/>
          </p:nvPr>
        </p:nvSpPr>
        <p:spPr>
          <a:xfrm>
            <a:off x="685800" y="1143000"/>
            <a:ext cx="5486040" cy="3085920"/>
          </a:xfrm>
          <a:prstGeom prst="rect">
            <a:avLst/>
          </a:prstGeom>
          <a:ln w="0">
            <a:noFill/>
          </a:ln>
        </p:spPr>
      </p:sp>
      <p:sp>
        <p:nvSpPr>
          <p:cNvPr id="7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This example illustrates why the data model must be participant by visit rather than participant only. The same RID can appear at baseline, month twelve, month twenty-four and month thirty-six, with changing diagnosis, cognitive scores and modality availability. A participant might begin as CN, later be classified as MCI and eventually be classified as AD. Cognitive scores may deteriorate over the same period, and MRI, PET or CSF may be available at some visits but not others. Therefore, RID alone is not sufficient for a longitudinal merge. We need participant identity together with visit and time information. The exact variable names and mappings must come from the approved ADNI release used by the student. This longitudinal table becomes the foundation for current-state classification, trajectory features and the definition of index times and outcomes for progression prediction.</a:t>
            </a:r>
          </a:p>
        </p:txBody>
      </p:sp>
      <p:sp>
        <p:nvSpPr>
          <p:cNvPr id="791"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7F263B7-06D0-48D7-A45F-AA0D63B519BC}"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 name="PlaceHolder 1"/>
          <p:cNvSpPr>
            <a:spLocks noGrp="1" noRot="1" noChangeAspect="1"/>
          </p:cNvSpPr>
          <p:nvPr>
            <p:ph type="sldImg"/>
          </p:nvPr>
        </p:nvSpPr>
        <p:spPr>
          <a:xfrm>
            <a:off x="685800" y="1143000"/>
            <a:ext cx="5486040" cy="3085920"/>
          </a:xfrm>
          <a:prstGeom prst="rect">
            <a:avLst/>
          </a:prstGeom>
          <a:ln w="0">
            <a:noFill/>
          </a:ln>
        </p:spPr>
      </p:sp>
      <p:sp>
        <p:nvSpPr>
          <p:cNvPr id="7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We now move from data organization to system architecture. The system is deliberately separated into layers: data governance, harmonization, representation, fusion, prediction and trustworthiness. This separation is not merely a software-engineering preference. It helps us prevent leakage and makes the experimental process auditable. Cohort definition and temporal alignment should happen before representation learning and model training. Different modalities can then be transformed into suitable representations, combined through multimodal fusion, and passed to the predictive models. Finally, calibration, uncertainty and explainability are applied as explicit components of the research workflow. The architecture therefore reflects the scientific logic of the thesis: first define exactly what information is permitted, then represent and combine it, then make predictions, and finally evaluate whether those predictions are reliable, interpretable and robust.</a:t>
            </a:r>
          </a:p>
        </p:txBody>
      </p:sp>
      <p:sp>
        <p:nvSpPr>
          <p:cNvPr id="794"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16BE3A3-DA3C-4C23-A325-999E2B65DAA3}"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 name="PlaceHolder 1"/>
          <p:cNvSpPr>
            <a:spLocks noGrp="1" noRot="1" noChangeAspect="1"/>
          </p:cNvSpPr>
          <p:nvPr>
            <p:ph type="sldImg"/>
          </p:nvPr>
        </p:nvSpPr>
        <p:spPr>
          <a:xfrm>
            <a:off x="685800" y="1143000"/>
            <a:ext cx="5486040" cy="3085920"/>
          </a:xfrm>
          <a:prstGeom prst="rect">
            <a:avLst/>
          </a:prstGeom>
          <a:ln w="0">
            <a:noFill/>
          </a:ln>
        </p:spPr>
      </p:sp>
      <p:sp>
        <p:nvSpPr>
          <p:cNvPr id="7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This is the end-to-end logical architecture. At the left are the information sources: clinical data, cognitive data, MRI, PET, biofluid biomarkers and genetic information. These first pass through harmonization, quality control and temporal alignment. Harmonization makes variables comparable, quality control identifies invalid or implausible values, and temporal alignment ensures that measurements correspond to the correct participant and time point. The data then enter representation components. Tabular and static variables use tabular representations, imaging can use numerical summaries or optional imaging encoders, and repeated observations can use temporal encoders. These representations are combined in the multimodal-fusion layer. The resulting representation supports the two predictive outputs: CN, MCI and AD classification and MCI-to-AD progression. XAI, calibration and uncertainty surround the predictive stage because trustworthy interpretation is required for both tasks.</a:t>
            </a:r>
          </a:p>
        </p:txBody>
      </p:sp>
      <p:sp>
        <p:nvSpPr>
          <p:cNvPr id="797"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E3EB199-9AE2-427D-AE60-A12B5DF9AB72}"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 name="PlaceHolder 1"/>
          <p:cNvSpPr>
            <a:spLocks noGrp="1" noRot="1" noChangeAspect="1"/>
          </p:cNvSpPr>
          <p:nvPr>
            <p:ph type="sldImg"/>
          </p:nvPr>
        </p:nvSpPr>
        <p:spPr>
          <a:xfrm>
            <a:off x="685800" y="1143000"/>
            <a:ext cx="5486400" cy="3086100"/>
          </a:xfrm>
          <a:prstGeom prst="rect">
            <a:avLst/>
          </a:prstGeom>
          <a:ln w="0">
            <a:noFill/>
          </a:ln>
        </p:spPr>
      </p:sp>
      <p:sp>
        <p:nvSpPr>
          <p:cNvPr id="7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This slide translates the logical architecture into concrete Python software modules. The Data Import and Harmonization module reads local files, validates schemas and records provenance. The Cohort Builder applies eligibility rules, labels, index dates and horizons. The Patient Timeline Engine aligns visits and timestamps. Domain engines create clinical, cognitive, MRI, PET, biomarker and genetic features. The Missing Data Engine handles imputation, missingness indicators, modality masks and completeness. The Multimodal Fusion Engine implements early, late or hybrid fusion. The Base Learner Engine contains Logistic Regression, SVM, Random Forest, XGBoost and MLP. The Ensemble and Progression Engine implements voting, weighted voting, stacking and future conversion prediction. Calibration and Uncertainty assess probability reliability. The Explainable AI Engine produces global, local and modality-level explanations. The Experiment Manager controls splits, seeds, configurations and metrics, while the Dashboard supports research visualization.</a:t>
            </a:r>
          </a:p>
        </p:txBody>
      </p:sp>
      <p:sp>
        <p:nvSpPr>
          <p:cNvPr id="800"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6BC11BB-349E-4BAD-8D5E-C6F25723CA8F}" type="slidenum">
              <a:rPr lang="en-US" sz="1200" b="0" u="none" strike="noStrike">
                <a:solidFill>
                  <a:schemeClr val="dk1"/>
                </a:solidFill>
                <a:effectLst/>
                <a:uFillTx/>
                <a:latin typeface="+mn-lt"/>
                <a:ea typeface="+mn-ea"/>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PlaceHolder 1"/>
          <p:cNvSpPr>
            <a:spLocks noGrp="1" noRot="1" noChangeAspect="1"/>
          </p:cNvSpPr>
          <p:nvPr>
            <p:ph type="sldImg"/>
          </p:nvPr>
        </p:nvSpPr>
        <p:spPr>
          <a:xfrm>
            <a:off x="685800" y="1143000"/>
            <a:ext cx="5486400" cy="3086100"/>
          </a:xfrm>
          <a:prstGeom prst="rect">
            <a:avLst/>
          </a:prstGeom>
          <a:ln w="0">
            <a:noFill/>
          </a:ln>
        </p:spPr>
      </p:sp>
      <p:sp>
        <p:nvSpPr>
          <p:cNvPr id="8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This slide explains the recommended technology stack and, importantly, the role of each technology. Python is the main implementation language. Pandas is used for tabular data manipulation, NumPy for numerical arrays and SciPy for scientific computation. Scikit-learn supports preprocessing, Logistic Regression, SVM, Random Forest, cross-validation and metrics. XGBoost and LightGBM provide strong gradient-boosted tree models. PyTorch is used for the MLP and, if needed, temporal or learned-fusion neural models. MONAI and NiBabel are optional tools for advanced three-dimensional neuroimaging workflows. SHAP and Integrated Gradients provide model-attribution methods. Parquet or PostgreSQL can store processed analytical data and provenance. FastAPI can expose optional data or model services. Plotly and Dash support the research dashboard. MLflow, or an equivalent system, can track experiments, parameters, metrics and artifacts. The stack is recommended, not mandatory.</a:t>
            </a:r>
          </a:p>
        </p:txBody>
      </p:sp>
      <p:sp>
        <p:nvSpPr>
          <p:cNvPr id="803"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01A425-611C-4971-AA74-0622675772A3}"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 name="PlaceHolder 1"/>
          <p:cNvSpPr>
            <a:spLocks noGrp="1" noRot="1" noChangeAspect="1"/>
          </p:cNvSpPr>
          <p:nvPr>
            <p:ph type="sldImg"/>
          </p:nvPr>
        </p:nvSpPr>
        <p:spPr>
          <a:xfrm>
            <a:off x="685800" y="1143000"/>
            <a:ext cx="5486040" cy="3085920"/>
          </a:xfrm>
          <a:prstGeom prst="rect">
            <a:avLst/>
          </a:prstGeom>
          <a:ln w="0">
            <a:noFill/>
          </a:ln>
        </p:spPr>
      </p:sp>
      <p:sp>
        <p:nvSpPr>
          <p:cNvPr id="8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The implementation roadmap follows the dependency structure of the research rather than starting with sophisticated models. First, organize the local approved data. Second, construct and validate the cohort. Third, establish the five individual base learners. Fourth, add modalities incrementally and measure what each source contributes. Fifth, compare the three ensemble strategies. Sixth, extend the same modelling framework to longitudinal MCI-to-AD progression. Seventh, evaluate trustworthiness through calibration, uncertainty, missing-modality tests and explainability. Eighth, expose the results in a research dashboard and package the complete workflow for reproducibility. The order matters. For example, there is little value in implementing stacking before the participant-level split, cohort labels and base-model probability outputs are stable. Each stage should produce a testable artifact that becomes the foundation for the next stage.</a:t>
            </a:r>
          </a:p>
        </p:txBody>
      </p:sp>
      <p:sp>
        <p:nvSpPr>
          <p:cNvPr id="806"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037C12F-A7D0-4780-8785-AD81F9D653BB}" type="slidenum">
              <a:rPr lang="en-US" sz="1200" b="0" u="none" strike="noStrike">
                <a:solidFill>
                  <a:schemeClr val="dk1"/>
                </a:solidFill>
                <a:effectLst/>
                <a:uFillTx/>
                <a:latin typeface="+mn-lt"/>
                <a:ea typeface="+mn-ea"/>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 name="PlaceHolder 1"/>
          <p:cNvSpPr>
            <a:spLocks noGrp="1" noRot="1" noChangeAspect="1"/>
          </p:cNvSpPr>
          <p:nvPr>
            <p:ph type="sldImg"/>
          </p:nvPr>
        </p:nvSpPr>
        <p:spPr>
          <a:xfrm>
            <a:off x="685800" y="1143000"/>
            <a:ext cx="5486040" cy="3085920"/>
          </a:xfrm>
          <a:prstGeom prst="rect">
            <a:avLst/>
          </a:prstGeom>
          <a:ln w="0">
            <a:noFill/>
          </a:ln>
        </p:spPr>
      </p:sp>
      <p:sp>
        <p:nvSpPr>
          <p:cNvPr id="8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The first implementation phase is project setup and governance. We assume the approved ADNI files have already been downloaded manually and stored securely. Students create the Git repository, Python environment and project directory structure. The selected ADNI files and their dictionaries are placed in the agreed local folders. A provenance manifest records the source file, ADNI phase or release, download date, processing version and, where practical, a checksum. Students also define coding conventions, configuration formats, random-seed policy and experiment naming. The exit criterion is reproducibility at the software level: a fresh clone should be able to recreate the environment, discover the local data through configuration and run the project without requiring manual edits to the raw files. Raw ADNI data must never be committed to public version control.</a:t>
            </a:r>
          </a:p>
        </p:txBody>
      </p:sp>
      <p:sp>
        <p:nvSpPr>
          <p:cNvPr id="809"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845DC24-DADB-4385-A867-0C2FC0997BDA}" type="slidenum">
              <a:rPr lang="en-US" sz="1200" b="0" u="none" strike="noStrike">
                <a:solidFill>
                  <a:schemeClr val="dk1"/>
                </a:solidFill>
                <a:effectLst/>
                <a:uFillTx/>
                <a:latin typeface="+mn-lt"/>
                <a:ea typeface="+mn-ea"/>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 name="PlaceHolder 1"/>
          <p:cNvSpPr>
            <a:spLocks noGrp="1" noRot="1" noChangeAspect="1"/>
          </p:cNvSpPr>
          <p:nvPr>
            <p:ph type="sldImg"/>
          </p:nvPr>
        </p:nvSpPr>
        <p:spPr>
          <a:xfrm>
            <a:off x="685800" y="1143000"/>
            <a:ext cx="5486040" cy="3085920"/>
          </a:xfrm>
          <a:prstGeom prst="rect">
            <a:avLst/>
          </a:prstGeom>
          <a:ln w="0">
            <a:noFill/>
          </a:ln>
        </p:spPr>
      </p:sp>
      <p:sp>
        <p:nvSpPr>
          <p:cNvPr id="8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The cohort-construction phase converts downloaded tables into a defensible research population. Begin with diagnosis, demographics and core cognitive information. Normalize identifiers, visit codes and dates in code while preserving the original values for traceability. Build a canonical timeline for each participant. Define exactly how CN, MCI and AD labels are derived and document any phase-specific diagnostic mappings. Then produce an attrition table showing how many records or participants were available, how many were eligible, how many were included and why others were excluded. Add modality-availability flags so that we know which participants have clinical, MRI, PET, CSF, genetic or other information at each visit. The deliverable is a formal data and cohort specification containing variables, inclusion and exclusion rules, labels, progression horizons and provenance. The result must be reproducible from code, not manually curated.</a:t>
            </a:r>
          </a:p>
        </p:txBody>
      </p:sp>
      <p:sp>
        <p:nvSpPr>
          <p:cNvPr id="812"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3B71682-A1CF-47DD-B68F-4C256E7EEEA5}"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PlaceHolder 1"/>
          <p:cNvSpPr>
            <a:spLocks noGrp="1" noRot="1" noChangeAspect="1"/>
          </p:cNvSpPr>
          <p:nvPr>
            <p:ph type="sldImg"/>
          </p:nvPr>
        </p:nvSpPr>
        <p:spPr>
          <a:xfrm>
            <a:off x="685800" y="1143000"/>
            <a:ext cx="5486040" cy="3085920"/>
          </a:xfrm>
          <a:prstGeom prst="rect">
            <a:avLst/>
          </a:prstGeom>
          <a:ln w="0">
            <a:noFill/>
          </a:ln>
        </p:spPr>
      </p:sp>
      <p:sp>
        <p:nvSpPr>
          <p:cNvPr id="8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Once the cohort and split are stable, we train five mandatory base learners under the same patient-level evaluation protocol. Logistic Regression provides a transparent linear probabilistic baseline. The RBF Support Vector Machine provides a nonlinear margin-based model. Random Forest represents bagging and tree ensembles. XGBoost represents gradient boosting, where trees are built sequentially to correct previous errors. The Multilayer Perceptron provides a neural nonlinear model. These families are deliberately diverse because diversity can make an ensemble useful. Every model must output probabilities rather than only class labels. Preprocessing steps such as imputation, scaling and feature selection are fitted inside the training folds only. Hyperparameters are tuned without using the final test set. The same held-out participants should be used across models so that performance comparisons are paired and scientifically defensible.</a:t>
            </a:r>
          </a:p>
        </p:txBody>
      </p:sp>
      <p:sp>
        <p:nvSpPr>
          <p:cNvPr id="815"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1C7DCBA-4416-4119-8BDA-9E86A371CC82}" type="slidenum">
              <a:rPr lang="en-US" sz="1200" b="0" u="none" strike="noStrike">
                <a:solidFill>
                  <a:schemeClr val="dk1"/>
                </a:solidFill>
                <a:effectLst/>
                <a:uFillTx/>
                <a:latin typeface="+mn-lt"/>
                <a:ea typeface="+mn-ea"/>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 name="PlaceHolder 1"/>
          <p:cNvSpPr>
            <a:spLocks noGrp="1" noRot="1" noChangeAspect="1"/>
          </p:cNvSpPr>
          <p:nvPr>
            <p:ph type="sldImg"/>
          </p:nvPr>
        </p:nvSpPr>
        <p:spPr>
          <a:xfrm>
            <a:off x="685800" y="1143000"/>
            <a:ext cx="5486040" cy="3085920"/>
          </a:xfrm>
          <a:prstGeom prst="rect">
            <a:avLst/>
          </a:prstGeom>
          <a:ln w="0">
            <a:noFill/>
          </a:ln>
        </p:spPr>
      </p:sp>
      <p:sp>
        <p:nvSpPr>
          <p:cNvPr id="8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This slide explains the multimodal feature space. We begin with clinical and cognitive information as the foundation. Clinical information can include medical and functional measures, while cognitive information includes assessments such as MMSE, ADAS13 and CDRSB. We then add APOE, or Apolipoprotein E genotype, which is relatively stable biological information; the epsilon-four allele is an established genetic risk factor. Biofluid biomarkers are measurements from fluids such as CSF or blood that reflect biological processes related to disease. MRI numerical features describe structural brain characteristics such as regional volumes or cortical thickness. PET numerical features summarize molecular or functional imaging, including FDG, amyloid or tau measures where available. A feature space means the complete set of predictor variables supplied to the model. At every addition, record sample size, missingness, class balance and performance. A modality is useful only if it adds defensible information without making the cohort too small or biased.</a:t>
            </a:r>
          </a:p>
        </p:txBody>
      </p:sp>
      <p:sp>
        <p:nvSpPr>
          <p:cNvPr id="818"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43BE6A0-8597-4C5A-9EE7-FCCE03E3FDA0}" type="slidenum">
              <a:rPr lang="en-US" sz="1200" b="0" u="none" strike="noStrike">
                <a:solidFill>
                  <a:schemeClr val="dk1"/>
                </a:solidFill>
                <a:effectLst/>
                <a:uFillTx/>
                <a:latin typeface="+mn-lt"/>
                <a:ea typeface="+mn-ea"/>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 name="PlaceHolder 1"/>
          <p:cNvSpPr>
            <a:spLocks noGrp="1" noRot="1" noChangeAspect="1"/>
          </p:cNvSpPr>
          <p:nvPr>
            <p:ph type="sldImg"/>
          </p:nvPr>
        </p:nvSpPr>
        <p:spPr>
          <a:xfrm>
            <a:off x="685800" y="1143000"/>
            <a:ext cx="5486400" cy="3086100"/>
          </a:xfrm>
          <a:prstGeom prst="rect">
            <a:avLst/>
          </a:prstGeom>
          <a:ln w="0">
            <a:noFill/>
          </a:ln>
        </p:spPr>
      </p:sp>
      <p:sp>
        <p:nvSpPr>
          <p:cNvPr id="8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This is the central ensemble diagram. At the top are five base learners: LR, SVM, RF, XGB and MLP. LR is Logistic Regression. SVM is Support Vector Machine. RF is Random Forest. XGB is XGBoost. MLP is Multilayer Perceptron. Each model is trained independently on the same prediction task and produces probability outputs. For Task A, those are probabilities for CN, MCI and AD. For Task B, the output is a progression probability within a defined horizon. The probability outputs then feed three alternative ensemble strategies. Soft Voting calculates the mean of the calibrated probabilities, so every model contributes equally. Weighted Voting uses validation-derived weights, so some models may contribute more than others. Stacking uses out-of-fold predictions as inputs to a second-level Logistic Regression meta-model. We compare the five individual learners and these three ensemble strategies, giving eight primary predictive configurations.</a:t>
            </a:r>
          </a:p>
        </p:txBody>
      </p:sp>
      <p:sp>
        <p:nvSpPr>
          <p:cNvPr id="821"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025A2E1-60FC-487F-996E-DFB5A2F8550A}" type="slidenum">
              <a:rPr lang="en-US" sz="1200" b="0" u="none" strike="noStrike">
                <a:solidFill>
                  <a:schemeClr val="dk1"/>
                </a:solidFill>
                <a:effectLst/>
                <a:uFillTx/>
                <a:latin typeface="+mn-lt"/>
                <a:ea typeface="+mn-ea"/>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r>
              <a:t>This slide keeps the same diagram but explains what each box represents in more detail. Logistic Regression is the simple linear probabilistic baseline. The SVM uses a radial-basis-function kernel to model nonlinear class boundaries. Random Forest combines many decision trees through bagging. XGBoost builds boosted trees sequentially, with later trees correcting errors made earlier. The MLP is a feed-forward neural network that learns nonlinear relationships among features. The Probability Outputs box is the common interface connecting these different algorithms. Soft Voting takes an equal average of the calibrated probabilities. Weighted Voting multiplies each model’s probability by a weight selected using validation or cross-validation evidence. Stacking is more sophisticated: out-of-fold probabilities become new meta-features. A Logistic Regression meta-model then learns how to combine those five sets of predictions. Out-of-fold means the prediction for a training participant is produced by a model that did not train on that participant.</a:t>
            </a:r>
          </a:p>
        </p:txBody>
      </p:sp>
      <p:sp>
        <p:nvSpPr>
          <p:cNvPr id="4" name="Slide Number Placeholder 3"/>
          <p:cNvSpPr>
            <a:spLocks noGrp="1"/>
          </p:cNvSpPr>
          <p:nvPr>
            <p:ph type="sldNum" idx="4"/>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PlaceHolder 1"/>
          <p:cNvSpPr>
            <a:spLocks noGrp="1" noRot="1" noChangeAspect="1"/>
          </p:cNvSpPr>
          <p:nvPr>
            <p:ph type="sldImg"/>
          </p:nvPr>
        </p:nvSpPr>
        <p:spPr>
          <a:xfrm>
            <a:off x="685800" y="1143000"/>
            <a:ext cx="5486040" cy="3085920"/>
          </a:xfrm>
          <a:prstGeom prst="rect">
            <a:avLst/>
          </a:prstGeom>
          <a:ln w="0">
            <a:noFill/>
          </a:ln>
        </p:spPr>
      </p:sp>
      <p:sp>
        <p:nvSpPr>
          <p:cNvPr id="8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Stacking requires special care because it can easily leak information. We begin with the training cohort and divide it into K folds. For each fold, the base learner is trained on the other folds and predicts the held-out fold. Repeating this process gives every training participant a set of out-of-fold probabilities from LR, SVM, RF, XGBoost and MLP. These five predictions form a new vector Z. The Logistic Regression meta-learner is trained on Z, not on in-sample base-model predictions. This is crucial because in-sample predictions are unrealistically optimistic and would allow the meta-model to exploit overfitting. After the stacking design is fixed, the base learners can be refitted on the permitted training data and the complete ensemble is evaluated once on untouched test participants. The test set is never used to choose base models, weights or meta-model parameters.</a:t>
            </a:r>
          </a:p>
        </p:txBody>
      </p:sp>
      <p:sp>
        <p:nvSpPr>
          <p:cNvPr id="824"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9A29804-9B3F-405C-8A11-431A21A3A3F0}"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 name="PlaceHolder 1"/>
          <p:cNvSpPr>
            <a:spLocks noGrp="1" noRot="1" noChangeAspect="1"/>
          </p:cNvSpPr>
          <p:nvPr>
            <p:ph type="sldImg"/>
          </p:nvPr>
        </p:nvSpPr>
        <p:spPr>
          <a:xfrm>
            <a:off x="685800" y="1143000"/>
            <a:ext cx="5486040" cy="3085920"/>
          </a:xfrm>
          <a:prstGeom prst="rect">
            <a:avLst/>
          </a:prstGeom>
          <a:ln w="0">
            <a:noFill/>
          </a:ln>
        </p:spPr>
      </p:sp>
      <p:sp>
        <p:nvSpPr>
          <p:cNvPr id="8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The ensemble architecture is then reused for longitudinal MCI-to-AD progression. The key concept is the separation between the feature window and the outcome window. The feature window contains only information available at or before the index time t-zero. The outcome window begins after t-zero and records whether conversion occurs within the chosen horizon. The same five base learners estimate progression probabilities, and those probabilities can again be combined using Soft Voting, Weighted Voting or Stacking. The primary horizon is selected after cohort inspection. Thirty-six months is a candidate, but twelve- and twenty-four-month horizons should be added only if follow-up coverage and event counts are adequate. The scientific question is not simply which horizon gives the highest AUROC. The horizon must be clinically and statistically defensible, with enough participants remaining under observation to support reliable evaluation.</a:t>
            </a:r>
          </a:p>
        </p:txBody>
      </p:sp>
      <p:sp>
        <p:nvSpPr>
          <p:cNvPr id="827"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9DFBB4A-29F5-4B34-8DCA-4FDA405380A5}" type="slidenum">
              <a:rPr lang="en-US" sz="1200" b="0" u="none" strike="noStrike">
                <a:solidFill>
                  <a:schemeClr val="dk1"/>
                </a:solidFill>
                <a:effectLst/>
                <a:uFillTx/>
                <a:latin typeface="+mn-lt"/>
                <a:ea typeface="+mn-ea"/>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 name="PlaceHolder 1"/>
          <p:cNvSpPr>
            <a:spLocks noGrp="1" noRot="1" noChangeAspect="1"/>
          </p:cNvSpPr>
          <p:nvPr>
            <p:ph type="sldImg"/>
          </p:nvPr>
        </p:nvSpPr>
        <p:spPr>
          <a:xfrm>
            <a:off x="685800" y="1143000"/>
            <a:ext cx="5486040" cy="3085920"/>
          </a:xfrm>
          <a:prstGeom prst="rect">
            <a:avLst/>
          </a:prstGeom>
          <a:ln w="0">
            <a:noFill/>
          </a:ln>
        </p:spPr>
      </p:sp>
      <p:sp>
        <p:nvSpPr>
          <p:cNvPr id="8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This phase addresses calibration, uncertainty and explainable AI. Calibration asks whether predicted probabilities correspond to observed frequencies. Candidate calibration methods include Platt scaling, isotonic regression and temperature scaling, and they must be fitted using validation data rather than the final test set. Uncertainty should not be represented by an invented cosmetic confidence number. It should reflect clearly defined evidence such as probability reliability, data quality, missing modalities or variability across resampling. Explainability asks why a model produced a prediction. SHAP is appropriate for tree-based models and can provide global and local feature contributions. Integrated Gradients or ablation can be used for neural models. We must use careful language: these methods explain model contribution, not biological causation. Trustworthiness is therefore an experimental requirement that is evaluated quantitatively, not simply a visualization added to the dashboard.</a:t>
            </a:r>
          </a:p>
        </p:txBody>
      </p:sp>
      <p:sp>
        <p:nvSpPr>
          <p:cNvPr id="830"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F1C89EE-C93A-4F1C-BDF7-1863DF93F3D1}"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 name="PlaceHolder 1"/>
          <p:cNvSpPr>
            <a:spLocks noGrp="1" noRot="1" noChangeAspect="1"/>
          </p:cNvSpPr>
          <p:nvPr>
            <p:ph type="sldImg"/>
          </p:nvPr>
        </p:nvSpPr>
        <p:spPr>
          <a:xfrm>
            <a:off x="685800" y="1143000"/>
            <a:ext cx="5486040" cy="3085920"/>
          </a:xfrm>
          <a:prstGeom prst="rect">
            <a:avLst/>
          </a:prstGeom>
          <a:ln w="0">
            <a:noFill/>
          </a:ln>
        </p:spPr>
      </p:sp>
      <p:sp>
        <p:nvSpPr>
          <p:cNvPr id="8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The research dashboard presents the outputs in a form that can be inspected by researchers. A participant view can show the current predicted state, such as MCI, together with a calibrated future progression risk. It can also show data completeness so the user knows which modalities contributed. A progression panel can display risk estimates at different horizons, while a contribution panel can summarize which feature groups or modalities influenced the model. The dashboard should also support cohort-level views, model comparison, calibration curves, experiment metadata and provenance. Importantly, the displayed confidence or risk values must come from clearly defined model outputs and calibration procedures. The dashboard is a research interface, not a clinical diagnostic system. Therefore, it must explicitly state that model estimates are not diagnosis or treatment advice. Its purpose is to make experiments transparent and inspectable.</a:t>
            </a:r>
          </a:p>
        </p:txBody>
      </p:sp>
      <p:sp>
        <p:nvSpPr>
          <p:cNvPr id="833"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B856A1-C81F-451A-8FE1-589B573B168F}" type="slidenum">
              <a:rPr lang="en-US" sz="1200" b="0" u="none" strike="noStrike">
                <a:solidFill>
                  <a:schemeClr val="dk1"/>
                </a:solidFill>
                <a:effectLst/>
                <a:uFillTx/>
                <a:latin typeface="+mn-lt"/>
                <a:ea typeface="+mn-ea"/>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 name="PlaceHolder 1"/>
          <p:cNvSpPr>
            <a:spLocks noGrp="1" noRot="1" noChangeAspect="1"/>
          </p:cNvSpPr>
          <p:nvPr>
            <p:ph type="sldImg"/>
          </p:nvPr>
        </p:nvSpPr>
        <p:spPr>
          <a:xfrm>
            <a:off x="685800" y="1143000"/>
            <a:ext cx="5486040" cy="3085920"/>
          </a:xfrm>
          <a:prstGeom prst="rect">
            <a:avLst/>
          </a:prstGeom>
          <a:ln w="0">
            <a:noFill/>
          </a:ln>
        </p:spPr>
      </p:sp>
      <p:sp>
        <p:nvSpPr>
          <p:cNvPr id="8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We now shift from implementation features to experimental discipline. A defensible thesis depends on the integrity of the evaluation protocol. Participant-level splitting is necessary because the same person may have many visits and scans. If different visits from one participant appear in both training and test sets, performance can be artificially inflated. Preprocessing must also be nested correctly so that imputation, scaling, feature selection and calibration do not learn from the test data. Comparisons should use consistent held-out participants whenever possible. Cohort attrition must be transparent so readers can see how the final sample was obtained. Finally, every experiment should record its random seed, cohort version, preprocessing settings, model configuration and predictions. The goal is to create an evidence chain that another researcher could inspect and, given the same approved data, reproduce.</a:t>
            </a:r>
          </a:p>
        </p:txBody>
      </p:sp>
      <p:sp>
        <p:nvSpPr>
          <p:cNvPr id="836"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0590EB6-3105-4587-AF5A-93CCBF66463C}"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 name="PlaceHolder 1"/>
          <p:cNvSpPr>
            <a:spLocks noGrp="1" noRot="1" noChangeAspect="1"/>
          </p:cNvSpPr>
          <p:nvPr>
            <p:ph type="sldImg"/>
          </p:nvPr>
        </p:nvSpPr>
        <p:spPr>
          <a:xfrm>
            <a:off x="685800" y="1143000"/>
            <a:ext cx="5486040" cy="3085920"/>
          </a:xfrm>
          <a:prstGeom prst="rect">
            <a:avLst/>
          </a:prstGeom>
          <a:ln w="0">
            <a:noFill/>
          </a:ln>
        </p:spPr>
      </p:sp>
      <p:sp>
        <p:nvSpPr>
          <p:cNvPr id="8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This checklist contains non-negotiable leakage-prevention rules. First, split at participant level so repeated visits and scans never cross partitions. Second, fit imputation, scaling and feature selection inside the training folds only. Third, fit calibration using validation data, never the final test set. Fourth, enforce temporal cut-offs programmatically for progression prediction so no post-index measurement enters the predictors. Fifth, use the same held-out participants for model comparisons whenever possible. Sixth, persist seeds, cohort query or version, preprocessing parameters and model configuration. Seventh, maintain a prediction ledger recording model version, modality mask and probability outputs. These rules protect the validity of the results. A sophisticated ensemble can still produce scientifically invalid conclusions if the data pipeline leaks information. Therefore, leakage prevention is more important than obtaining a marginal improvement in a headline metric.</a:t>
            </a:r>
          </a:p>
        </p:txBody>
      </p:sp>
      <p:sp>
        <p:nvSpPr>
          <p:cNvPr id="839"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2364DAF-894A-434A-82E3-E138CA25802B}"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 name="PlaceHolder 1"/>
          <p:cNvSpPr>
            <a:spLocks noGrp="1" noRot="1" noChangeAspect="1"/>
          </p:cNvSpPr>
          <p:nvPr>
            <p:ph type="sldImg"/>
          </p:nvPr>
        </p:nvSpPr>
        <p:spPr>
          <a:xfrm>
            <a:off x="685800" y="1143000"/>
            <a:ext cx="5486040" cy="3085920"/>
          </a:xfrm>
          <a:prstGeom prst="rect">
            <a:avLst/>
          </a:prstGeom>
          <a:ln w="0">
            <a:noFill/>
          </a:ln>
        </p:spPr>
      </p:sp>
      <p:sp>
        <p:nvSpPr>
          <p:cNvPr id="8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The experimental programme is organized as an evidence chain rather than a collection of unrelated algorithms. E1 establishes single-modality benchmarks. E2 establishes the multimodal five-model benchmark. E3 evaluates Soft Voting. E4 evaluates Weighted Soft Voting. E5 evaluates Stacking. E6 applies the ensemble framework to MCI-to-AD progression. E7 performs missing-modality stress testing. E8 evaluates calibration and uncertainty. E9 evaluates explainability and ablation, meaning we deliberately remove features or modalities to measure their contribution. E10 performs subgroup analysis using prespecified strata where sample sizes permit. The main comparison is the best individual learner versus the three ensemble approaches on identical held-out participants. This design lets us answer a focused scientific question: does combining diverse learners improve discrimination, calibration or robustness compared with the individual models under the same evaluation protocol?</a:t>
            </a:r>
          </a:p>
        </p:txBody>
      </p:sp>
      <p:sp>
        <p:nvSpPr>
          <p:cNvPr id="842"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2ED8317-303B-4C2C-8E26-8E47D96DA8FD}"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 name="PlaceHolder 1"/>
          <p:cNvSpPr>
            <a:spLocks noGrp="1" noRot="1" noChangeAspect="1"/>
          </p:cNvSpPr>
          <p:nvPr>
            <p:ph type="sldImg"/>
          </p:nvPr>
        </p:nvSpPr>
        <p:spPr>
          <a:xfrm>
            <a:off x="685800" y="1143000"/>
            <a:ext cx="5486040" cy="3085920"/>
          </a:xfrm>
          <a:prstGeom prst="rect">
            <a:avLst/>
          </a:prstGeom>
          <a:ln w="0">
            <a:noFill/>
          </a:ln>
        </p:spPr>
      </p:sp>
      <p:sp>
        <p:nvSpPr>
          <p:cNvPr id="8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This slide defines the evaluation framework. For CN, MCI and AD classification, the primary metrics are Macro-F1, class sensitivity and one-versus-rest AUROC. The confusion matrix and calibration provide important secondary information. For MCI-to-AD progression, we use AUROC, AUPRC, sensitivity and specificity, together with Brier score and calibration. PPV means Positive Predictive Value and NPV means Negative Predictive Value. For multimodal fusion, we report the change in performance relative to the best single modality and use paired bootstrap confidence intervals. For robustness, we measure performance when modalities are missing and plot degradation curves. For subgroup analysis, we report metrics by prespecified strata together with uncertainty and sample size. Accuracy alone is insufficient. Principal results should include confidence intervals, and patient-level bootstrap resampling is appropriate where the evaluation design supports it.</a:t>
            </a:r>
          </a:p>
        </p:txBody>
      </p:sp>
      <p:sp>
        <p:nvSpPr>
          <p:cNvPr id="845"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37EDA72-DCFC-431C-BD6B-9B39A46117E1}" type="slidenum">
              <a:rPr lang="en-US" sz="1200" b="0" u="none" strike="noStrike">
                <a:solidFill>
                  <a:schemeClr val="dk1"/>
                </a:solidFill>
                <a:effectLst/>
                <a:uFillTx/>
                <a:latin typeface="+mn-lt"/>
                <a:ea typeface="+mn-ea"/>
              </a:rPr>
              <a:t>37</a:t>
            </a:fld>
            <a:endParaRPr lang="en-US" sz="1200" b="0" u="none" strike="noStrike">
              <a:solidFill>
                <a:srgbClr val="000000"/>
              </a:solidFill>
              <a:effectLst/>
              <a:uFillTx/>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 name="PlaceHolder 1"/>
          <p:cNvSpPr>
            <a:spLocks noGrp="1" noRot="1" noChangeAspect="1"/>
          </p:cNvSpPr>
          <p:nvPr>
            <p:ph type="sldImg"/>
          </p:nvPr>
        </p:nvSpPr>
        <p:spPr>
          <a:xfrm>
            <a:off x="685800" y="1143000"/>
            <a:ext cx="5486040" cy="3085920"/>
          </a:xfrm>
          <a:prstGeom prst="rect">
            <a:avLst/>
          </a:prstGeom>
          <a:ln w="0">
            <a:noFill/>
          </a:ln>
        </p:spPr>
      </p:sp>
      <p:sp>
        <p:nvSpPr>
          <p:cNvPr id="8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These are the concrete deliverables that define completion of the project. D1 is the data and cohort specification, documenting variables, rules, labels, horizons and provenance. D2 is the reproducible Python pipeline for import, harmonization, quality control, feature construction and splitting. D3 is the baseline benchmark containing the individual machine-learning results. D4 contains the multimodal and ensemble modelling results, including the chosen fusion strategies. D5 is the longitudinal MCI-to-AD predictor evaluated at defensible horizons. D6 is the trustworthiness suite covering calibration, uncertainty, explainability, subgroup analysis and robustness. D7 is the research dashboard. D8 is the Master’s thesis together with the reproducibility package. These deliverables should be used as progress checkpoints. A deliverable is complete only when the associated code, configuration, results and methodological description agree with one another.</a:t>
            </a:r>
          </a:p>
        </p:txBody>
      </p:sp>
      <p:sp>
        <p:nvSpPr>
          <p:cNvPr id="851"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77E10E4-1BFC-4A9B-9C4A-D79E891A3AE8}" type="slidenum">
              <a:rPr lang="en-US" sz="1200" b="0" u="none" strike="noStrike">
                <a:solidFill>
                  <a:schemeClr val="dk1"/>
                </a:solidFill>
                <a:effectLst/>
                <a:uFillTx/>
                <a:latin typeface="+mn-lt"/>
                <a:ea typeface="+mn-ea"/>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 name="PlaceHolder 1"/>
          <p:cNvSpPr>
            <a:spLocks noGrp="1" noRot="1" noChangeAspect="1"/>
          </p:cNvSpPr>
          <p:nvPr>
            <p:ph type="sldImg"/>
          </p:nvPr>
        </p:nvSpPr>
        <p:spPr>
          <a:xfrm>
            <a:off x="685800" y="1143000"/>
            <a:ext cx="5486040" cy="3085920"/>
          </a:xfrm>
          <a:prstGeom prst="rect">
            <a:avLst/>
          </a:prstGeom>
          <a:ln w="0">
            <a:noFill/>
          </a:ln>
        </p:spPr>
      </p:sp>
      <p:sp>
        <p:nvSpPr>
          <p:cNvPr id="8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A strong final project demonstrates much more than a model with a good score. First, the cohort can be reconstructed reproducibly from the manually provided ADNI files. Second, all five base learners and all three ensemble strategies are evaluated using the same leakage-safe protocol. Third, MCI-to-AD progression is evaluated at one or more defensible horizons. Fourth, calibration and uncertainty are assessed rather than reporting only classification accuracy or AUROC. Fifth, missing-modality and modality-ablation experiments are completed. Sixth, participant-level explanations and model provenance are available in the dashboard. Finally, the student can discuss limitations, including selection bias, missingness, scanner and site heterogeneity, sample-size constraints and the danger of overinterpreting explainability. The student must also understand why this system is research decision support and not a clinical diagnostic device.</a:t>
            </a:r>
          </a:p>
        </p:txBody>
      </p:sp>
      <p:sp>
        <p:nvSpPr>
          <p:cNvPr id="854"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0C02556-874F-4538-88D2-2268D65FB0DB}" type="slidenum">
              <a:rPr lang="en-US" sz="1200" b="0" u="none" strike="noStrike">
                <a:solidFill>
                  <a:schemeClr val="dk1"/>
                </a:solidFill>
                <a:effectLst/>
                <a:uFillTx/>
                <a:latin typeface="+mn-lt"/>
                <a:ea typeface="+mn-ea"/>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 name="PlaceHolder 1"/>
          <p:cNvSpPr>
            <a:spLocks noGrp="1" noRot="1" noChangeAspect="1"/>
          </p:cNvSpPr>
          <p:nvPr>
            <p:ph type="sldImg"/>
          </p:nvPr>
        </p:nvSpPr>
        <p:spPr>
          <a:xfrm>
            <a:off x="685800" y="1143000"/>
            <a:ext cx="5486040" cy="3085920"/>
          </a:xfrm>
          <a:prstGeom prst="rect">
            <a:avLst/>
          </a:prstGeom>
          <a:ln w="0">
            <a:noFill/>
          </a:ln>
        </p:spPr>
      </p:sp>
      <p:sp>
        <p:nvSpPr>
          <p:cNvPr id="8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This final operational slide tells students where to begin. First, place the approved ADNI files under the local raw-data structure and keep them immutable. Second, create the provenance manifest containing release, date, version, dictionary and modality information. Third, harmonize identifiers, visits, dates and variable names in code. Fourth, build the participant-by-visit cohort and define CN, MCI and AD labels. Fifth, create participant-level train, validation and test partitions. Sixth, train the five individual models: Logistic Regression, SVM, Random Forest, XGBoost and MLP. Seventh, build the three ensembles: Soft Voting, Weighted Voting and Stacking. Eighth, evaluate current-state classification, progression, calibration, explainability and robustness. The important message is the order: local data, cohort, five base learners, three ensembles, progression and finally trustworthiness. Do not jump directly to the ensemble before the earlier stages are stable.</a:t>
            </a:r>
          </a:p>
        </p:txBody>
      </p:sp>
      <p:sp>
        <p:nvSpPr>
          <p:cNvPr id="857"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021B3FC-3799-4330-A983-E224CAA50149}" type="slidenum">
              <a:rPr lang="en-US" sz="1200" b="0" u="none" strike="noStrike">
                <a:solidFill>
                  <a:schemeClr val="dk1"/>
                </a:solidFill>
                <a:effectLst/>
                <a:uFillTx/>
                <a:latin typeface="+mn-lt"/>
                <a:ea typeface="+mn-ea"/>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 name="PlaceHolder 1"/>
          <p:cNvSpPr>
            <a:spLocks noGrp="1" noRot="1" noChangeAspect="1"/>
          </p:cNvSpPr>
          <p:nvPr>
            <p:ph type="sldImg"/>
          </p:nvPr>
        </p:nvSpPr>
        <p:spPr>
          <a:xfrm>
            <a:off x="685800" y="1143000"/>
            <a:ext cx="5486040" cy="3085920"/>
          </a:xfrm>
          <a:prstGeom prst="rect">
            <a:avLst/>
          </a:prstGeom>
          <a:ln w="0">
            <a:noFill/>
          </a:ln>
        </p:spPr>
      </p:sp>
      <p:sp>
        <p:nvSpPr>
          <p:cNvPr id="8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t>The final slide lists the documentation sources that support implementation. The scientific basis is the NeuroFusion-AI Master’s Project Brief. Students must also use the official ADNI documentation for data access, study files, data dictionaries, clinical assessments, genetics and related omics, and the LONI Image and Data Archive documentation. The exact files, variables, cohort counts and biomarker definitions used in the thesis must be documented from the approved ADNI release actually used by the student. Do not hard-code assumptions copied from an older paper, tutorial or previous ADNI release without checking the current dictionary. This is especially important for diagnostic mappings, visit codes, processed imaging variables and biomarker definitions. The purpose of these references is to make every data decision traceable. ADNI documentation supports understanding of the manually downloaded files; data acquisition itself remains outside the NeuroFusion-AI software implementation.</a:t>
            </a:r>
          </a:p>
        </p:txBody>
      </p:sp>
      <p:sp>
        <p:nvSpPr>
          <p:cNvPr id="860"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B7E8BD6-8966-4DBA-A3F8-976EC3EADB7D}" type="slidenum">
              <a:rPr lang="en-US" sz="1200" b="0" u="none" strike="noStrike">
                <a:solidFill>
                  <a:schemeClr val="dk1"/>
                </a:solidFill>
                <a:effectLst/>
                <a:uFillTx/>
                <a:latin typeface="+mn-lt"/>
                <a:ea typeface="+mn-ea"/>
              </a:rPr>
              <a:t>41</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
    <p:bg>
      <p:bgPr>
        <a:solidFill>
          <a:srgbClr val="F7F9FC"/>
        </a:solidFill>
        <a:effectLst/>
      </p:bgPr>
    </p:bg>
    <p:spTree>
      <p:nvGrpSpPr>
        <p:cNvPr id="1" name=""/>
        <p:cNvGrpSpPr/>
        <p:nvPr/>
      </p:nvGrpSpPr>
      <p:grpSpPr>
        <a:xfrm>
          <a:off x="0" y="0"/>
          <a:ext cx="0" cy="0"/>
          <a:chOff x="0" y="0"/>
          <a:chExt cx="0" cy="0"/>
        </a:xfrm>
      </p:grpSpPr>
      <p:sp>
        <p:nvSpPr>
          <p:cNvPr id="6" name="Shape 0"/>
          <p:cNvSpPr/>
          <p:nvPr/>
        </p:nvSpPr>
        <p:spPr>
          <a:xfrm>
            <a:off x="0" y="0"/>
            <a:ext cx="12191400" cy="145800"/>
          </a:xfrm>
          <a:prstGeom prst="rect">
            <a:avLst/>
          </a:prstGeom>
          <a:solidFill>
            <a:srgbClr val="0B3558"/>
          </a:solidFill>
          <a:ln w="12700">
            <a:solidFill>
              <a:srgbClr val="0B355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 name="Text 1"/>
          <p:cNvSpPr/>
          <p:nvPr/>
        </p:nvSpPr>
        <p:spPr>
          <a:xfrm>
            <a:off x="502920" y="6546960"/>
            <a:ext cx="8046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u="none" strike="noStrike">
                <a:solidFill>
                  <a:srgbClr val="657786"/>
                </a:solidFill>
                <a:effectLst/>
                <a:uFillTx/>
                <a:latin typeface="Aptos"/>
                <a:ea typeface="Aptos"/>
              </a:rPr>
              <a:t>NeuroFusion-AI  •  ADNI  •  Multimodal ML  •  Longitudinal Prediction</a:t>
            </a:r>
            <a:endParaRPr lang="en-US" sz="800" b="0" u="none" strike="noStrike">
              <a:solidFill>
                <a:srgbClr val="000000"/>
              </a:solidFill>
              <a:effectLst/>
              <a:uFillTx/>
              <a:latin typeface="Arial"/>
            </a:endParaRPr>
          </a:p>
        </p:txBody>
      </p:sp>
      <p:sp>
        <p:nvSpPr>
          <p:cNvPr id="2" name="Text 2"/>
          <p:cNvSpPr/>
          <p:nvPr/>
        </p:nvSpPr>
        <p:spPr>
          <a:xfrm>
            <a:off x="9646920" y="6546960"/>
            <a:ext cx="2011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657786"/>
                </a:solidFill>
                <a:effectLst/>
                <a:uFillTx/>
                <a:latin typeface="Aptos"/>
                <a:ea typeface="Aptos"/>
              </a:rPr>
              <a:t>MASTER’S PROJECT</a:t>
            </a:r>
            <a:endParaRPr lang="en-US" sz="800" b="0" u="none" strike="noStrike">
              <a:solidFill>
                <a:srgbClr val="000000"/>
              </a:solidFill>
              <a:effectLst/>
              <a:uFillTx/>
              <a:latin typeface="Arial"/>
            </a:endParaRPr>
          </a:p>
        </p:txBody>
      </p:sp>
      <p:sp>
        <p:nvSpPr>
          <p:cNvPr id="3" name="PlaceHolder 1"/>
          <p:cNvSpPr>
            <a:spLocks noGrp="1"/>
          </p:cNvSpPr>
          <p:nvPr>
            <p:ph type="sldNum" idx="1"/>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defTabSz="914400">
              <a:lnSpc>
                <a:spcPct val="100000"/>
              </a:lnSpc>
              <a:buNone/>
            </a:pPr>
            <a:fld id="{BB611EF4-ECD7-41D2-83B4-1A596F69D54D}" type="slidenum">
              <a:rPr lang="en-US" sz="800" b="0" u="none" strike="noStrike">
                <a:solidFill>
                  <a:srgbClr val="657786"/>
                </a:solidFill>
                <a:effectLst/>
                <a:uFillTx/>
                <a:latin typeface="Aptos"/>
                <a:ea typeface="Aptos"/>
              </a:rPr>
              <a:t>‹#›</a:t>
            </a:fld>
            <a:endParaRPr lang="en-US" sz="800" b="0" u="none" strike="noStrike">
              <a:solidFill>
                <a:srgbClr val="000000"/>
              </a:solidFill>
              <a:effectLst/>
              <a:uFillTx/>
              <a:latin typeface="Times New Roman"/>
            </a:endParaRPr>
          </a:p>
        </p:txBody>
      </p:sp>
      <p:sp>
        <p:nvSpPr>
          <p:cNvPr id="4"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ptos"/>
              </a:rPr>
              <a:t>Click to edit the title text format</a:t>
            </a:r>
          </a:p>
        </p:txBody>
      </p:sp>
      <p:sp>
        <p:nvSpPr>
          <p:cNvPr id="5"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3558"/>
        </a:solidFill>
        <a:effectLst/>
      </p:bgPr>
    </p:bg>
    <p:spTree>
      <p:nvGrpSpPr>
        <p:cNvPr id="1" name=""/>
        <p:cNvGrpSpPr/>
        <p:nvPr/>
      </p:nvGrpSpPr>
      <p:grpSpPr>
        <a:xfrm>
          <a:off x="0" y="0"/>
          <a:ext cx="0" cy="0"/>
          <a:chOff x="0" y="0"/>
          <a:chExt cx="0" cy="0"/>
        </a:xfrm>
      </p:grpSpPr>
      <p:sp>
        <p:nvSpPr>
          <p:cNvPr id="12" name="Text 0"/>
          <p:cNvSpPr/>
          <p:nvPr/>
        </p:nvSpPr>
        <p:spPr>
          <a:xfrm>
            <a:off x="658440" y="914400"/>
            <a:ext cx="65833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u="none" strike="noStrike">
                <a:solidFill>
                  <a:srgbClr val="FFFFFF"/>
                </a:solidFill>
                <a:effectLst/>
                <a:uFillTx/>
                <a:latin typeface="Aptos"/>
              </a:rPr>
              <a:t>NeuroFusion-AI</a:t>
            </a:r>
            <a:endParaRPr lang="en-US" sz="4000" b="0" u="none" strike="noStrike">
              <a:solidFill>
                <a:srgbClr val="FFFFFF"/>
              </a:solidFill>
              <a:effectLst/>
              <a:uFillTx/>
              <a:latin typeface="Arial"/>
            </a:endParaRPr>
          </a:p>
        </p:txBody>
      </p:sp>
      <p:sp>
        <p:nvSpPr>
          <p:cNvPr id="13" name="Text 1"/>
          <p:cNvSpPr/>
          <p:nvPr/>
        </p:nvSpPr>
        <p:spPr>
          <a:xfrm>
            <a:off x="658440" y="1737360"/>
            <a:ext cx="7497720" cy="132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u="none" strike="noStrike">
                <a:solidFill>
                  <a:srgbClr val="DDEAF1"/>
                </a:solidFill>
                <a:effectLst/>
                <a:uFillTx/>
                <a:latin typeface="Aptos"/>
              </a:rPr>
              <a:t>Explainable Multimodal Machine Learning for Alzheimer’s Disease Classification and Longitudinal Progression Prediction Using ADNI</a:t>
            </a:r>
            <a:endParaRPr lang="en-US" sz="2400" b="0" u="none" strike="noStrike">
              <a:solidFill>
                <a:srgbClr val="FFFFFF"/>
              </a:solidFill>
              <a:effectLst/>
              <a:uFillTx/>
              <a:latin typeface="Arial"/>
            </a:endParaRPr>
          </a:p>
        </p:txBody>
      </p:sp>
      <p:sp>
        <p:nvSpPr>
          <p:cNvPr id="14" name="Shape 2"/>
          <p:cNvSpPr/>
          <p:nvPr/>
        </p:nvSpPr>
        <p:spPr>
          <a:xfrm>
            <a:off x="685800" y="3657600"/>
            <a:ext cx="1234080" cy="383760"/>
          </a:xfrm>
          <a:prstGeom prst="roundRect">
            <a:avLst>
              <a:gd name="adj" fmla="val 16667"/>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 name="Text 3"/>
          <p:cNvSpPr/>
          <p:nvPr/>
        </p:nvSpPr>
        <p:spPr>
          <a:xfrm>
            <a:off x="685800" y="3730680"/>
            <a:ext cx="1234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CLINICAL</a:t>
            </a:r>
            <a:endParaRPr lang="en-US" sz="1100" b="0" u="none" strike="noStrike">
              <a:solidFill>
                <a:srgbClr val="FFFFFF"/>
              </a:solidFill>
              <a:effectLst/>
              <a:uFillTx/>
              <a:latin typeface="Arial"/>
            </a:endParaRPr>
          </a:p>
        </p:txBody>
      </p:sp>
      <p:sp>
        <p:nvSpPr>
          <p:cNvPr id="16" name="Shape 4"/>
          <p:cNvSpPr/>
          <p:nvPr/>
        </p:nvSpPr>
        <p:spPr>
          <a:xfrm>
            <a:off x="2194560" y="3657600"/>
            <a:ext cx="1234080" cy="383760"/>
          </a:xfrm>
          <a:prstGeom prst="roundRect">
            <a:avLst>
              <a:gd name="adj" fmla="val 16667"/>
            </a:avLst>
          </a:prstGeom>
          <a:solidFill>
            <a:srgbClr val="19A7A0"/>
          </a:solidFill>
          <a:ln w="12700">
            <a:solidFill>
              <a:srgbClr val="19A7A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 name="Text 5"/>
          <p:cNvSpPr/>
          <p:nvPr/>
        </p:nvSpPr>
        <p:spPr>
          <a:xfrm>
            <a:off x="2194560" y="3730680"/>
            <a:ext cx="1234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COGNITIVE</a:t>
            </a:r>
            <a:endParaRPr lang="en-US" sz="1100" b="0" u="none" strike="noStrike">
              <a:solidFill>
                <a:srgbClr val="FFFFFF"/>
              </a:solidFill>
              <a:effectLst/>
              <a:uFillTx/>
              <a:latin typeface="Arial"/>
            </a:endParaRPr>
          </a:p>
        </p:txBody>
      </p:sp>
      <p:sp>
        <p:nvSpPr>
          <p:cNvPr id="18" name="Shape 6"/>
          <p:cNvSpPr/>
          <p:nvPr/>
        </p:nvSpPr>
        <p:spPr>
          <a:xfrm>
            <a:off x="3703320" y="3657600"/>
            <a:ext cx="1234080" cy="383760"/>
          </a:xfrm>
          <a:prstGeom prst="roundRect">
            <a:avLst>
              <a:gd name="adj" fmla="val 16667"/>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 name="Text 7"/>
          <p:cNvSpPr/>
          <p:nvPr/>
        </p:nvSpPr>
        <p:spPr>
          <a:xfrm>
            <a:off x="3703320" y="3730680"/>
            <a:ext cx="1234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MRI</a:t>
            </a:r>
            <a:endParaRPr lang="en-US" sz="1100" b="0" u="none" strike="noStrike">
              <a:solidFill>
                <a:srgbClr val="FFFFFF"/>
              </a:solidFill>
              <a:effectLst/>
              <a:uFillTx/>
              <a:latin typeface="Arial"/>
            </a:endParaRPr>
          </a:p>
        </p:txBody>
      </p:sp>
      <p:sp>
        <p:nvSpPr>
          <p:cNvPr id="20" name="Shape 8"/>
          <p:cNvSpPr/>
          <p:nvPr/>
        </p:nvSpPr>
        <p:spPr>
          <a:xfrm>
            <a:off x="5212080" y="3657600"/>
            <a:ext cx="1234080" cy="383760"/>
          </a:xfrm>
          <a:prstGeom prst="roundRect">
            <a:avLst>
              <a:gd name="adj" fmla="val 16667"/>
            </a:avLst>
          </a:prstGeom>
          <a:solidFill>
            <a:srgbClr val="D99A22"/>
          </a:solidFill>
          <a:ln w="12700">
            <a:solidFill>
              <a:srgbClr val="D99A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 name="Text 9"/>
          <p:cNvSpPr/>
          <p:nvPr/>
        </p:nvSpPr>
        <p:spPr>
          <a:xfrm>
            <a:off x="5212080" y="3730680"/>
            <a:ext cx="1234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PET</a:t>
            </a:r>
            <a:endParaRPr lang="en-US" sz="1100" b="0" u="none" strike="noStrike">
              <a:solidFill>
                <a:srgbClr val="FFFFFF"/>
              </a:solidFill>
              <a:effectLst/>
              <a:uFillTx/>
              <a:latin typeface="Arial"/>
            </a:endParaRPr>
          </a:p>
        </p:txBody>
      </p:sp>
      <p:sp>
        <p:nvSpPr>
          <p:cNvPr id="22" name="Shape 10"/>
          <p:cNvSpPr/>
          <p:nvPr/>
        </p:nvSpPr>
        <p:spPr>
          <a:xfrm>
            <a:off x="6720840" y="3657600"/>
            <a:ext cx="1234080" cy="383760"/>
          </a:xfrm>
          <a:prstGeom prst="roundRect">
            <a:avLst>
              <a:gd name="adj" fmla="val 16667"/>
            </a:avLst>
          </a:prstGeom>
          <a:solidFill>
            <a:srgbClr val="2E8B68"/>
          </a:solidFill>
          <a:ln w="12700">
            <a:solidFill>
              <a:srgbClr val="2E8B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 name="Text 11"/>
          <p:cNvSpPr/>
          <p:nvPr/>
        </p:nvSpPr>
        <p:spPr>
          <a:xfrm>
            <a:off x="6720840" y="3730680"/>
            <a:ext cx="1234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BIOFLUID</a:t>
            </a:r>
            <a:endParaRPr lang="en-US" sz="1100" b="0" u="none" strike="noStrike">
              <a:solidFill>
                <a:srgbClr val="FFFFFF"/>
              </a:solidFill>
              <a:effectLst/>
              <a:uFillTx/>
              <a:latin typeface="Arial"/>
            </a:endParaRPr>
          </a:p>
        </p:txBody>
      </p:sp>
      <p:sp>
        <p:nvSpPr>
          <p:cNvPr id="24" name="Shape 12"/>
          <p:cNvSpPr/>
          <p:nvPr/>
        </p:nvSpPr>
        <p:spPr>
          <a:xfrm>
            <a:off x="8229600" y="3657600"/>
            <a:ext cx="1234080" cy="383760"/>
          </a:xfrm>
          <a:prstGeom prst="roundRect">
            <a:avLst>
              <a:gd name="adj" fmla="val 16667"/>
            </a:avLst>
          </a:prstGeom>
          <a:solidFill>
            <a:srgbClr val="C65353"/>
          </a:solidFill>
          <a:ln w="12700">
            <a:solidFill>
              <a:srgbClr val="C653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 name="Text 13"/>
          <p:cNvSpPr/>
          <p:nvPr/>
        </p:nvSpPr>
        <p:spPr>
          <a:xfrm>
            <a:off x="8229600" y="3730680"/>
            <a:ext cx="1234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GENETIC</a:t>
            </a:r>
            <a:endParaRPr lang="en-US" sz="1100" b="0" u="none" strike="noStrike">
              <a:solidFill>
                <a:srgbClr val="FFFFFF"/>
              </a:solidFill>
              <a:effectLst/>
              <a:uFillTx/>
              <a:latin typeface="Arial"/>
            </a:endParaRPr>
          </a:p>
        </p:txBody>
      </p:sp>
      <p:sp>
        <p:nvSpPr>
          <p:cNvPr id="26" name="Shape 14"/>
          <p:cNvSpPr/>
          <p:nvPr/>
        </p:nvSpPr>
        <p:spPr>
          <a:xfrm>
            <a:off x="1280160" y="4160520"/>
            <a:ext cx="3977640" cy="685800"/>
          </a:xfrm>
          <a:prstGeom prst="line">
            <a:avLst/>
          </a:prstGeom>
          <a:ln w="25400">
            <a:solidFill>
              <a:srgbClr val="B8CFD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27" name="Shape 15"/>
          <p:cNvSpPr/>
          <p:nvPr/>
        </p:nvSpPr>
        <p:spPr>
          <a:xfrm>
            <a:off x="2788920" y="4160520"/>
            <a:ext cx="2468880" cy="685800"/>
          </a:xfrm>
          <a:prstGeom prst="line">
            <a:avLst/>
          </a:prstGeom>
          <a:ln w="25400">
            <a:solidFill>
              <a:srgbClr val="B8CFD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28" name="Shape 16"/>
          <p:cNvSpPr/>
          <p:nvPr/>
        </p:nvSpPr>
        <p:spPr>
          <a:xfrm>
            <a:off x="4297680" y="4160520"/>
            <a:ext cx="960120" cy="685800"/>
          </a:xfrm>
          <a:prstGeom prst="line">
            <a:avLst/>
          </a:prstGeom>
          <a:ln w="25400">
            <a:solidFill>
              <a:srgbClr val="B8CFD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29" name="Shape 17"/>
          <p:cNvSpPr/>
          <p:nvPr/>
        </p:nvSpPr>
        <p:spPr>
          <a:xfrm>
            <a:off x="5806440" y="4160520"/>
            <a:ext cx="777240" cy="685800"/>
          </a:xfrm>
          <a:prstGeom prst="line">
            <a:avLst/>
          </a:prstGeom>
          <a:ln w="25400">
            <a:solidFill>
              <a:srgbClr val="B8CFD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30" name="Shape 18"/>
          <p:cNvSpPr/>
          <p:nvPr/>
        </p:nvSpPr>
        <p:spPr>
          <a:xfrm flipH="1">
            <a:off x="6583680" y="4160520"/>
            <a:ext cx="731520" cy="685800"/>
          </a:xfrm>
          <a:prstGeom prst="line">
            <a:avLst/>
          </a:prstGeom>
          <a:ln w="25400">
            <a:solidFill>
              <a:srgbClr val="B8CFD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31" name="Shape 19"/>
          <p:cNvSpPr/>
          <p:nvPr/>
        </p:nvSpPr>
        <p:spPr>
          <a:xfrm flipH="1">
            <a:off x="6583680" y="4160520"/>
            <a:ext cx="2240280" cy="685800"/>
          </a:xfrm>
          <a:prstGeom prst="line">
            <a:avLst/>
          </a:prstGeom>
          <a:ln w="25400">
            <a:solidFill>
              <a:srgbClr val="B8CFD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32" name="Shape 20"/>
          <p:cNvSpPr/>
          <p:nvPr/>
        </p:nvSpPr>
        <p:spPr>
          <a:xfrm>
            <a:off x="4160520" y="4800600"/>
            <a:ext cx="3657240" cy="594000"/>
          </a:xfrm>
          <a:prstGeom prst="roundRect">
            <a:avLst>
              <a:gd name="adj" fmla="val 16667"/>
            </a:avLst>
          </a:prstGeom>
          <a:solidFill>
            <a:srgbClr val="082A46"/>
          </a:solidFill>
          <a:ln w="19050">
            <a:solidFill>
              <a:srgbClr val="19A7A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 name="Text 21"/>
          <p:cNvSpPr/>
          <p:nvPr/>
        </p:nvSpPr>
        <p:spPr>
          <a:xfrm>
            <a:off x="4343400" y="4992480"/>
            <a:ext cx="3291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MULTIMODAL FUSION + TEMPORAL ML</a:t>
            </a:r>
            <a:endParaRPr lang="en-US" sz="1400" b="0" u="none" strike="noStrike">
              <a:solidFill>
                <a:srgbClr val="FFFFFF"/>
              </a:solidFill>
              <a:effectLst/>
              <a:uFillTx/>
              <a:latin typeface="Arial"/>
            </a:endParaRPr>
          </a:p>
        </p:txBody>
      </p:sp>
      <p:sp>
        <p:nvSpPr>
          <p:cNvPr id="34" name="Text 22"/>
          <p:cNvSpPr/>
          <p:nvPr/>
        </p:nvSpPr>
        <p:spPr>
          <a:xfrm>
            <a:off x="685800" y="5806440"/>
            <a:ext cx="6400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AFC5D3"/>
                </a:solidFill>
                <a:effectLst/>
                <a:uFillTx/>
                <a:latin typeface="Aptos"/>
              </a:rPr>
              <a:t>Project presentation + student implementation roadmap</a:t>
            </a:r>
            <a:endParaRPr lang="en-US" sz="1600" b="0" u="none" strike="noStrike">
              <a:solidFill>
                <a:srgbClr val="FFFFFF"/>
              </a:solidFill>
              <a:effectLst/>
              <a:uFillTx/>
              <a:latin typeface="Arial"/>
            </a:endParaRPr>
          </a:p>
        </p:txBody>
      </p:sp>
      <p:sp>
        <p:nvSpPr>
          <p:cNvPr id="35" name="PlaceHolder 1"/>
          <p:cNvSpPr>
            <a:spLocks noGrp="1"/>
          </p:cNvSpPr>
          <p:nvPr>
            <p:ph type="sldNum" idx="5"/>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1</a:t>
            </a:r>
            <a:endParaRPr lang="en-US" sz="800" b="0" u="none" strike="noStrike">
              <a:solidFill>
                <a:srgbClr val="FFFFFF"/>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 0"/>
          <p:cNvSpPr/>
          <p:nvPr/>
        </p:nvSpPr>
        <p:spPr>
          <a:xfrm>
            <a:off x="567000" y="384120"/>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11">
                <a:solidFill>
                  <a:srgbClr val="0F8B8D"/>
                </a:solidFill>
                <a:effectLst/>
                <a:uFillTx/>
                <a:latin typeface="Aptos"/>
              </a:rPr>
              <a:t>PROJECT AT A GLANCE</a:t>
            </a:r>
            <a:endParaRPr lang="en-US" sz="1000" b="0" u="none" strike="noStrike">
              <a:solidFill>
                <a:srgbClr val="000000"/>
              </a:solidFill>
              <a:effectLst/>
              <a:uFillTx/>
              <a:latin typeface="Arial"/>
            </a:endParaRPr>
          </a:p>
        </p:txBody>
      </p:sp>
      <p:sp>
        <p:nvSpPr>
          <p:cNvPr id="38" name="Shape 2"/>
          <p:cNvSpPr/>
          <p:nvPr/>
        </p:nvSpPr>
        <p:spPr>
          <a:xfrm>
            <a:off x="640080" y="1417320"/>
            <a:ext cx="3428640" cy="1874160"/>
          </a:xfrm>
          <a:prstGeom prst="roundRect">
            <a:avLst>
              <a:gd name="adj" fmla="val 2927"/>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9" name="Shape 3"/>
          <p:cNvSpPr/>
          <p:nvPr/>
        </p:nvSpPr>
        <p:spPr>
          <a:xfrm>
            <a:off x="640080" y="1417320"/>
            <a:ext cx="72720" cy="187416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40" name="Text 4"/>
          <p:cNvSpPr/>
          <p:nvPr/>
        </p:nvSpPr>
        <p:spPr>
          <a:xfrm>
            <a:off x="822960" y="1563480"/>
            <a:ext cx="3108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F8B8D"/>
                </a:solidFill>
                <a:effectLst/>
                <a:uFillTx/>
                <a:latin typeface="Aptos"/>
              </a:rPr>
              <a:t>Research pipeline</a:t>
            </a:r>
            <a:endParaRPr lang="en-US" sz="1500" b="0" u="none" strike="noStrike">
              <a:solidFill>
                <a:srgbClr val="000000"/>
              </a:solidFill>
              <a:effectLst/>
              <a:uFillTx/>
              <a:latin typeface="Arial"/>
            </a:endParaRPr>
          </a:p>
        </p:txBody>
      </p:sp>
      <p:sp>
        <p:nvSpPr>
          <p:cNvPr id="41" name="Text 5"/>
          <p:cNvSpPr/>
          <p:nvPr/>
        </p:nvSpPr>
        <p:spPr>
          <a:xfrm>
            <a:off x="822960" y="1947600"/>
            <a:ext cx="308124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A reproducible workflow that constructs ADNI cohorts, harmonizes modalities, prevents temporal leakage and produces auditable datasets.</a:t>
            </a:r>
            <a:endParaRPr lang="en-US" sz="1250" b="0" u="none" strike="noStrike">
              <a:solidFill>
                <a:srgbClr val="000000"/>
              </a:solidFill>
              <a:effectLst/>
              <a:uFillTx/>
              <a:latin typeface="Arial"/>
            </a:endParaRPr>
          </a:p>
        </p:txBody>
      </p:sp>
      <p:sp>
        <p:nvSpPr>
          <p:cNvPr id="42" name="Shape 6"/>
          <p:cNvSpPr/>
          <p:nvPr/>
        </p:nvSpPr>
        <p:spPr>
          <a:xfrm>
            <a:off x="4389120" y="1417320"/>
            <a:ext cx="3428640" cy="1874160"/>
          </a:xfrm>
          <a:prstGeom prst="roundRect">
            <a:avLst>
              <a:gd name="adj" fmla="val 2927"/>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43" name="Shape 7"/>
          <p:cNvSpPr/>
          <p:nvPr/>
        </p:nvSpPr>
        <p:spPr>
          <a:xfrm>
            <a:off x="4389120" y="1417320"/>
            <a:ext cx="72720" cy="187416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44" name="Text 8"/>
          <p:cNvSpPr/>
          <p:nvPr/>
        </p:nvSpPr>
        <p:spPr>
          <a:xfrm>
            <a:off x="4572000" y="1563480"/>
            <a:ext cx="3108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7357B4"/>
                </a:solidFill>
                <a:effectLst/>
                <a:uFillTx/>
                <a:latin typeface="Aptos"/>
              </a:rPr>
              <a:t>Predictive models</a:t>
            </a:r>
            <a:endParaRPr lang="en-US" sz="1500" b="0" u="none" strike="noStrike">
              <a:solidFill>
                <a:srgbClr val="000000"/>
              </a:solidFill>
              <a:effectLst/>
              <a:uFillTx/>
              <a:latin typeface="Arial"/>
            </a:endParaRPr>
          </a:p>
        </p:txBody>
      </p:sp>
      <p:sp>
        <p:nvSpPr>
          <p:cNvPr id="45" name="Text 9"/>
          <p:cNvSpPr/>
          <p:nvPr/>
        </p:nvSpPr>
        <p:spPr>
          <a:xfrm>
            <a:off x="4572000" y="1947600"/>
            <a:ext cx="308124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CN/MCI/AD classification plus prospective MCI→AD progression prediction at defensible follow-up horizons.</a:t>
            </a:r>
            <a:endParaRPr lang="en-US" sz="1250" b="0" u="none" strike="noStrike">
              <a:solidFill>
                <a:srgbClr val="000000"/>
              </a:solidFill>
              <a:effectLst/>
              <a:uFillTx/>
              <a:latin typeface="Arial"/>
            </a:endParaRPr>
          </a:p>
        </p:txBody>
      </p:sp>
      <p:sp>
        <p:nvSpPr>
          <p:cNvPr id="46" name="Shape 10"/>
          <p:cNvSpPr/>
          <p:nvPr/>
        </p:nvSpPr>
        <p:spPr>
          <a:xfrm>
            <a:off x="8138160" y="1417320"/>
            <a:ext cx="3428640" cy="1874160"/>
          </a:xfrm>
          <a:prstGeom prst="roundRect">
            <a:avLst>
              <a:gd name="adj" fmla="val 2927"/>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47" name="Shape 11"/>
          <p:cNvSpPr/>
          <p:nvPr/>
        </p:nvSpPr>
        <p:spPr>
          <a:xfrm>
            <a:off x="8138160" y="1417320"/>
            <a:ext cx="72720" cy="1874160"/>
          </a:xfrm>
          <a:prstGeom prst="rect">
            <a:avLst/>
          </a:prstGeom>
          <a:solidFill>
            <a:srgbClr val="2E8B68"/>
          </a:solidFill>
          <a:ln w="12700">
            <a:solidFill>
              <a:srgbClr val="2E8B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48" name="Text 12"/>
          <p:cNvSpPr/>
          <p:nvPr/>
        </p:nvSpPr>
        <p:spPr>
          <a:xfrm>
            <a:off x="8321040" y="1563480"/>
            <a:ext cx="3108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E8B68"/>
                </a:solidFill>
                <a:effectLst/>
                <a:uFillTx/>
                <a:latin typeface="Aptos"/>
              </a:rPr>
              <a:t>Trustworthy AI</a:t>
            </a:r>
            <a:endParaRPr lang="en-US" sz="1500" b="0" u="none" strike="noStrike">
              <a:solidFill>
                <a:srgbClr val="000000"/>
              </a:solidFill>
              <a:effectLst/>
              <a:uFillTx/>
              <a:latin typeface="Arial"/>
            </a:endParaRPr>
          </a:p>
        </p:txBody>
      </p:sp>
      <p:sp>
        <p:nvSpPr>
          <p:cNvPr id="49" name="Text 13"/>
          <p:cNvSpPr/>
          <p:nvPr/>
        </p:nvSpPr>
        <p:spPr>
          <a:xfrm>
            <a:off x="8321040" y="1947600"/>
            <a:ext cx="308124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Calibration, uncertainty, missing-modality robustness, explainability, subgroup analysis and stress testing.</a:t>
            </a:r>
            <a:endParaRPr lang="en-US" sz="1250" b="0" u="none" strike="noStrike">
              <a:solidFill>
                <a:srgbClr val="000000"/>
              </a:solidFill>
              <a:effectLst/>
              <a:uFillTx/>
              <a:latin typeface="Arial"/>
            </a:endParaRPr>
          </a:p>
        </p:txBody>
      </p:sp>
      <p:sp>
        <p:nvSpPr>
          <p:cNvPr id="50" name="Shape 14"/>
          <p:cNvSpPr/>
          <p:nvPr/>
        </p:nvSpPr>
        <p:spPr>
          <a:xfrm>
            <a:off x="2514600" y="3703320"/>
            <a:ext cx="3428640" cy="1828440"/>
          </a:xfrm>
          <a:prstGeom prst="roundRect">
            <a:avLst>
              <a:gd name="adj" fmla="val 3000"/>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51" name="Shape 15"/>
          <p:cNvSpPr/>
          <p:nvPr/>
        </p:nvSpPr>
        <p:spPr>
          <a:xfrm>
            <a:off x="2514600" y="3703320"/>
            <a:ext cx="72720" cy="1828440"/>
          </a:xfrm>
          <a:prstGeom prst="rect">
            <a:avLst/>
          </a:prstGeom>
          <a:solidFill>
            <a:srgbClr val="D99A22"/>
          </a:solidFill>
          <a:ln w="12700">
            <a:solidFill>
              <a:srgbClr val="D99A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52" name="Text 16"/>
          <p:cNvSpPr/>
          <p:nvPr/>
        </p:nvSpPr>
        <p:spPr>
          <a:xfrm>
            <a:off x="2697480" y="3849480"/>
            <a:ext cx="3108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D99A22"/>
                </a:solidFill>
                <a:effectLst/>
                <a:uFillTx/>
                <a:latin typeface="Aptos"/>
              </a:rPr>
              <a:t>Software platform</a:t>
            </a:r>
            <a:endParaRPr lang="en-US" sz="1500" b="0" u="none" strike="noStrike">
              <a:solidFill>
                <a:srgbClr val="000000"/>
              </a:solidFill>
              <a:effectLst/>
              <a:uFillTx/>
              <a:latin typeface="Arial"/>
            </a:endParaRPr>
          </a:p>
        </p:txBody>
      </p:sp>
      <p:sp>
        <p:nvSpPr>
          <p:cNvPr id="53" name="Text 17"/>
          <p:cNvSpPr/>
          <p:nvPr/>
        </p:nvSpPr>
        <p:spPr>
          <a:xfrm>
            <a:off x="2697480" y="4233600"/>
            <a:ext cx="308124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Python modules, experiment manager, provenance tracking and reusable configurations.</a:t>
            </a:r>
            <a:endParaRPr lang="en-US" sz="1250" b="0" u="none" strike="noStrike">
              <a:solidFill>
                <a:srgbClr val="000000"/>
              </a:solidFill>
              <a:effectLst/>
              <a:uFillTx/>
              <a:latin typeface="Arial"/>
            </a:endParaRPr>
          </a:p>
        </p:txBody>
      </p:sp>
      <p:sp>
        <p:nvSpPr>
          <p:cNvPr id="54" name="Shape 18"/>
          <p:cNvSpPr/>
          <p:nvPr/>
        </p:nvSpPr>
        <p:spPr>
          <a:xfrm>
            <a:off x="6263640" y="3703320"/>
            <a:ext cx="3428640" cy="1828440"/>
          </a:xfrm>
          <a:prstGeom prst="roundRect">
            <a:avLst>
              <a:gd name="adj" fmla="val 3000"/>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55" name="Shape 19"/>
          <p:cNvSpPr/>
          <p:nvPr/>
        </p:nvSpPr>
        <p:spPr>
          <a:xfrm>
            <a:off x="6263640" y="3703320"/>
            <a:ext cx="72720" cy="1828440"/>
          </a:xfrm>
          <a:prstGeom prst="rect">
            <a:avLst/>
          </a:prstGeom>
          <a:solidFill>
            <a:srgbClr val="19A7A0"/>
          </a:solidFill>
          <a:ln w="12700">
            <a:solidFill>
              <a:srgbClr val="19A7A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56" name="Text 20"/>
          <p:cNvSpPr/>
          <p:nvPr/>
        </p:nvSpPr>
        <p:spPr>
          <a:xfrm>
            <a:off x="6446520" y="3849480"/>
            <a:ext cx="3108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9A7A0"/>
                </a:solidFill>
                <a:effectLst/>
                <a:uFillTx/>
                <a:latin typeface="Aptos"/>
              </a:rPr>
              <a:t>Research dashboard</a:t>
            </a:r>
            <a:endParaRPr lang="en-US" sz="1500" b="0" u="none" strike="noStrike">
              <a:solidFill>
                <a:srgbClr val="000000"/>
              </a:solidFill>
              <a:effectLst/>
              <a:uFillTx/>
              <a:latin typeface="Arial"/>
            </a:endParaRPr>
          </a:p>
        </p:txBody>
      </p:sp>
      <p:sp>
        <p:nvSpPr>
          <p:cNvPr id="57" name="Text 21"/>
          <p:cNvSpPr/>
          <p:nvPr/>
        </p:nvSpPr>
        <p:spPr>
          <a:xfrm>
            <a:off x="6446520" y="4233600"/>
            <a:ext cx="308124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Cohort inspection, trajectories, model comparison, calibration, SHAP summaries and progression forecasts.</a:t>
            </a:r>
            <a:endParaRPr lang="en-US" sz="1250" b="0" u="none" strike="noStrike">
              <a:solidFill>
                <a:srgbClr val="000000"/>
              </a:solidFill>
              <a:effectLst/>
              <a:uFillTx/>
              <a:latin typeface="Arial"/>
            </a:endParaRPr>
          </a:p>
        </p:txBody>
      </p:sp>
      <p:sp>
        <p:nvSpPr>
          <p:cNvPr id="58" name="PlaceHolder 1"/>
          <p:cNvSpPr>
            <a:spLocks noGrp="1"/>
          </p:cNvSpPr>
          <p:nvPr>
            <p:ph type="sldNum" idx="6"/>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2</a:t>
            </a:r>
            <a:endParaRPr lang="en-US" sz="800" b="0" u="none" strike="noStrike">
              <a:solidFill>
                <a:srgbClr val="000000"/>
              </a:solidFill>
              <a:effectLst/>
              <a:uFillTx/>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1064240" cy="228600"/>
          </a:xfrm>
          <a:prstGeom prst="rect">
            <a:avLst/>
          </a:prstGeom>
          <a:noFill/>
        </p:spPr>
        <p:txBody>
          <a:bodyPr wrap="square" anchor="ctr">
            <a:spAutoFit/>
          </a:bodyPr>
          <a:lstStyle/>
          <a:p>
            <a:pPr algn="l"/>
            <a:r>
              <a:rPr sz="1000" b="1">
                <a:solidFill>
                  <a:srgbClr val="117E8F"/>
                </a:solidFill>
                <a:latin typeface="Aptos"/>
              </a:rPr>
              <a:t>CORE TERMINOLOGY</a:t>
            </a:r>
          </a:p>
        </p:txBody>
      </p:sp>
      <p:sp>
        <p:nvSpPr>
          <p:cNvPr id="3" name="TextBox 2"/>
          <p:cNvSpPr txBox="1"/>
          <p:nvPr/>
        </p:nvSpPr>
        <p:spPr>
          <a:xfrm>
            <a:off x="502920" y="438912"/>
            <a:ext cx="11064240" cy="502920"/>
          </a:xfrm>
          <a:prstGeom prst="rect">
            <a:avLst/>
          </a:prstGeom>
          <a:noFill/>
        </p:spPr>
        <p:txBody>
          <a:bodyPr wrap="square" anchor="ctr">
            <a:spAutoFit/>
          </a:bodyPr>
          <a:lstStyle/>
          <a:p>
            <a:pPr algn="l"/>
            <a:r>
              <a:rPr sz="2500" b="1">
                <a:solidFill>
                  <a:srgbClr val="0A304C"/>
                </a:solidFill>
                <a:latin typeface="Aptos"/>
              </a:rPr>
              <a:t>What does CN / MCI / AD classification mean?</a:t>
            </a:r>
          </a:p>
        </p:txBody>
      </p:sp>
      <p:sp>
        <p:nvSpPr>
          <p:cNvPr id="4" name="TextBox 3"/>
          <p:cNvSpPr txBox="1"/>
          <p:nvPr/>
        </p:nvSpPr>
        <p:spPr>
          <a:xfrm>
            <a:off x="502920" y="941832"/>
            <a:ext cx="10972800" cy="347472"/>
          </a:xfrm>
          <a:prstGeom prst="rect">
            <a:avLst/>
          </a:prstGeom>
          <a:noFill/>
        </p:spPr>
        <p:txBody>
          <a:bodyPr wrap="square" anchor="ctr">
            <a:spAutoFit/>
          </a:bodyPr>
          <a:lstStyle/>
          <a:p>
            <a:pPr algn="l"/>
            <a:r>
              <a:rPr sz="1200" b="0">
                <a:solidFill>
                  <a:srgbClr val="5C6C77"/>
                </a:solidFill>
                <a:latin typeface="Aptos"/>
              </a:rPr>
              <a:t>Task A predicts a participant’s current disease-state category from information available at a defined visit.</a:t>
            </a:r>
          </a:p>
        </p:txBody>
      </p:sp>
      <p:sp>
        <p:nvSpPr>
          <p:cNvPr id="5" name="TextBox 4"/>
          <p:cNvSpPr txBox="1"/>
          <p:nvPr/>
        </p:nvSpPr>
        <p:spPr>
          <a:xfrm>
            <a:off x="502920" y="6510528"/>
            <a:ext cx="8961120" cy="182880"/>
          </a:xfrm>
          <a:prstGeom prst="rect">
            <a:avLst/>
          </a:prstGeom>
          <a:noFill/>
        </p:spPr>
        <p:txBody>
          <a:bodyPr wrap="square" anchor="ctr">
            <a:spAutoFit/>
          </a:bodyPr>
          <a:lstStyle/>
          <a:p>
            <a:pPr algn="l"/>
            <a:r>
              <a:rPr sz="900" b="0">
                <a:solidFill>
                  <a:srgbClr val="5C6C77"/>
                </a:solidFill>
                <a:latin typeface="Aptos"/>
              </a:rPr>
              <a:t>NeuroFusion-AI  •  ADNI  •  Multimodal ML  •  Longitudinal Prediction</a:t>
            </a:r>
          </a:p>
        </p:txBody>
      </p:sp>
      <p:sp>
        <p:nvSpPr>
          <p:cNvPr id="6" name="TextBox 5"/>
          <p:cNvSpPr txBox="1"/>
          <p:nvPr/>
        </p:nvSpPr>
        <p:spPr>
          <a:xfrm>
            <a:off x="10241280" y="6492240"/>
            <a:ext cx="1417320" cy="201168"/>
          </a:xfrm>
          <a:prstGeom prst="rect">
            <a:avLst/>
          </a:prstGeom>
          <a:noFill/>
        </p:spPr>
        <p:txBody>
          <a:bodyPr wrap="square" anchor="ctr">
            <a:spAutoFit/>
          </a:bodyPr>
          <a:lstStyle/>
          <a:p>
            <a:pPr algn="r"/>
            <a:r>
              <a:rPr sz="900" b="1">
                <a:solidFill>
                  <a:srgbClr val="0A304C"/>
                </a:solidFill>
                <a:latin typeface="Aptos"/>
              </a:rPr>
              <a:t>MASTER’S PROJECT</a:t>
            </a:r>
          </a:p>
        </p:txBody>
      </p:sp>
      <p:sp>
        <p:nvSpPr>
          <p:cNvPr id="7" name="Rounded Rectangle 6"/>
          <p:cNvSpPr/>
          <p:nvPr/>
        </p:nvSpPr>
        <p:spPr>
          <a:xfrm>
            <a:off x="594360" y="1508760"/>
            <a:ext cx="3456432" cy="2057400"/>
          </a:xfrm>
          <a:prstGeom prst="roundRect">
            <a:avLst/>
          </a:prstGeom>
          <a:solidFill>
            <a:srgbClr val="F4F7F9"/>
          </a:solidFill>
          <a:ln>
            <a:solidFill>
              <a:srgbClr val="D2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58952" y="1682496"/>
            <a:ext cx="713232" cy="384048"/>
          </a:xfrm>
          <a:prstGeom prst="roundRect">
            <a:avLst/>
          </a:prstGeom>
          <a:solidFill>
            <a:srgbClr val="117E8F"/>
          </a:solidFill>
          <a:ln>
            <a:solidFill>
              <a:srgbClr val="117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1700784"/>
            <a:ext cx="713232" cy="310896"/>
          </a:xfrm>
          <a:prstGeom prst="rect">
            <a:avLst/>
          </a:prstGeom>
          <a:noFill/>
        </p:spPr>
        <p:txBody>
          <a:bodyPr wrap="square" anchor="ctr">
            <a:spAutoFit/>
          </a:bodyPr>
          <a:lstStyle/>
          <a:p>
            <a:pPr algn="ctr"/>
            <a:r>
              <a:rPr sz="1200" b="1">
                <a:solidFill>
                  <a:srgbClr val="FFFFFF"/>
                </a:solidFill>
                <a:latin typeface="Aptos"/>
              </a:rPr>
              <a:t>CN</a:t>
            </a:r>
          </a:p>
        </p:txBody>
      </p:sp>
      <p:sp>
        <p:nvSpPr>
          <p:cNvPr id="10" name="TextBox 9"/>
          <p:cNvSpPr txBox="1"/>
          <p:nvPr/>
        </p:nvSpPr>
        <p:spPr>
          <a:xfrm>
            <a:off x="1581912" y="1645920"/>
            <a:ext cx="2240280" cy="502920"/>
          </a:xfrm>
          <a:prstGeom prst="rect">
            <a:avLst/>
          </a:prstGeom>
          <a:noFill/>
        </p:spPr>
        <p:txBody>
          <a:bodyPr wrap="square" anchor="ctr">
            <a:spAutoFit/>
          </a:bodyPr>
          <a:lstStyle/>
          <a:p>
            <a:pPr algn="l"/>
            <a:r>
              <a:rPr sz="1700" b="1">
                <a:solidFill>
                  <a:srgbClr val="0A304C"/>
                </a:solidFill>
                <a:latin typeface="Aptos"/>
              </a:rPr>
              <a:t>Cognitively Normal</a:t>
            </a:r>
          </a:p>
        </p:txBody>
      </p:sp>
      <p:sp>
        <p:nvSpPr>
          <p:cNvPr id="11" name="TextBox 10"/>
          <p:cNvSpPr txBox="1"/>
          <p:nvPr/>
        </p:nvSpPr>
        <p:spPr>
          <a:xfrm>
            <a:off x="777240" y="2267712"/>
            <a:ext cx="3063240" cy="987552"/>
          </a:xfrm>
          <a:prstGeom prst="rect">
            <a:avLst/>
          </a:prstGeom>
          <a:noFill/>
        </p:spPr>
        <p:txBody>
          <a:bodyPr wrap="square" anchor="ctr">
            <a:spAutoFit/>
          </a:bodyPr>
          <a:lstStyle/>
          <a:p>
            <a:pPr algn="l"/>
            <a:r>
              <a:rPr sz="1300" b="0">
                <a:solidFill>
                  <a:srgbClr val="23303A"/>
                </a:solidFill>
                <a:latin typeface="Aptos"/>
              </a:rPr>
              <a:t>No significant cognitive impairment according to the diagnostic definitions used for the selected ADNI cohort.</a:t>
            </a:r>
          </a:p>
        </p:txBody>
      </p:sp>
      <p:sp>
        <p:nvSpPr>
          <p:cNvPr id="12" name="Rounded Rectangle 11"/>
          <p:cNvSpPr/>
          <p:nvPr/>
        </p:nvSpPr>
        <p:spPr>
          <a:xfrm>
            <a:off x="4416552" y="1508760"/>
            <a:ext cx="3456432" cy="2057400"/>
          </a:xfrm>
          <a:prstGeom prst="roundRect">
            <a:avLst/>
          </a:prstGeom>
          <a:solidFill>
            <a:srgbClr val="F4F7F9"/>
          </a:solidFill>
          <a:ln>
            <a:solidFill>
              <a:srgbClr val="D2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81144" y="1682496"/>
            <a:ext cx="713232" cy="384048"/>
          </a:xfrm>
          <a:prstGeom prst="roundRect">
            <a:avLst/>
          </a:prstGeom>
          <a:solidFill>
            <a:srgbClr val="DA9D2B"/>
          </a:solidFill>
          <a:ln>
            <a:solidFill>
              <a:srgbClr val="DA9D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81144" y="1700784"/>
            <a:ext cx="713232" cy="310896"/>
          </a:xfrm>
          <a:prstGeom prst="rect">
            <a:avLst/>
          </a:prstGeom>
          <a:noFill/>
        </p:spPr>
        <p:txBody>
          <a:bodyPr wrap="square" anchor="ctr">
            <a:spAutoFit/>
          </a:bodyPr>
          <a:lstStyle/>
          <a:p>
            <a:pPr algn="ctr"/>
            <a:r>
              <a:rPr sz="1200" b="1">
                <a:solidFill>
                  <a:srgbClr val="FFFFFF"/>
                </a:solidFill>
                <a:latin typeface="Aptos"/>
              </a:rPr>
              <a:t>MCI</a:t>
            </a:r>
          </a:p>
        </p:txBody>
      </p:sp>
      <p:sp>
        <p:nvSpPr>
          <p:cNvPr id="15" name="TextBox 14"/>
          <p:cNvSpPr txBox="1"/>
          <p:nvPr/>
        </p:nvSpPr>
        <p:spPr>
          <a:xfrm>
            <a:off x="5404104" y="1645920"/>
            <a:ext cx="2240280" cy="502920"/>
          </a:xfrm>
          <a:prstGeom prst="rect">
            <a:avLst/>
          </a:prstGeom>
          <a:noFill/>
        </p:spPr>
        <p:txBody>
          <a:bodyPr wrap="square" anchor="ctr">
            <a:spAutoFit/>
          </a:bodyPr>
          <a:lstStyle/>
          <a:p>
            <a:pPr algn="l"/>
            <a:r>
              <a:rPr sz="1700" b="1">
                <a:solidFill>
                  <a:srgbClr val="0A304C"/>
                </a:solidFill>
                <a:latin typeface="Aptos"/>
              </a:rPr>
              <a:t>Mild Cognitive Impairment</a:t>
            </a:r>
          </a:p>
        </p:txBody>
      </p:sp>
      <p:sp>
        <p:nvSpPr>
          <p:cNvPr id="16" name="TextBox 15"/>
          <p:cNvSpPr txBox="1"/>
          <p:nvPr/>
        </p:nvSpPr>
        <p:spPr>
          <a:xfrm>
            <a:off x="4599432" y="2267712"/>
            <a:ext cx="3063240" cy="987552"/>
          </a:xfrm>
          <a:prstGeom prst="rect">
            <a:avLst/>
          </a:prstGeom>
          <a:noFill/>
        </p:spPr>
        <p:txBody>
          <a:bodyPr wrap="square" anchor="ctr">
            <a:spAutoFit/>
          </a:bodyPr>
          <a:lstStyle/>
          <a:p>
            <a:pPr algn="l"/>
            <a:r>
              <a:rPr sz="1300" b="0">
                <a:solidFill>
                  <a:srgbClr val="23303A"/>
                </a:solidFill>
                <a:latin typeface="Aptos"/>
              </a:rPr>
              <a:t>Measurable cognitive impairment beyond expected normal aging, without meeting the selected ADNI definition of Alzheimer’s dementia.</a:t>
            </a:r>
          </a:p>
        </p:txBody>
      </p:sp>
      <p:sp>
        <p:nvSpPr>
          <p:cNvPr id="17" name="Rounded Rectangle 16"/>
          <p:cNvSpPr/>
          <p:nvPr/>
        </p:nvSpPr>
        <p:spPr>
          <a:xfrm>
            <a:off x="8238744" y="1508760"/>
            <a:ext cx="3456432" cy="2057400"/>
          </a:xfrm>
          <a:prstGeom prst="roundRect">
            <a:avLst/>
          </a:prstGeom>
          <a:solidFill>
            <a:srgbClr val="F4F7F9"/>
          </a:solidFill>
          <a:ln>
            <a:solidFill>
              <a:srgbClr val="D2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403336" y="1682496"/>
            <a:ext cx="713232" cy="384048"/>
          </a:xfrm>
          <a:prstGeom prst="roundRect">
            <a:avLst/>
          </a:prstGeom>
          <a:solidFill>
            <a:srgbClr val="C24B44"/>
          </a:solidFill>
          <a:ln>
            <a:solidFill>
              <a:srgbClr val="C24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03336" y="1700784"/>
            <a:ext cx="713232" cy="310896"/>
          </a:xfrm>
          <a:prstGeom prst="rect">
            <a:avLst/>
          </a:prstGeom>
          <a:noFill/>
        </p:spPr>
        <p:txBody>
          <a:bodyPr wrap="square" anchor="ctr">
            <a:spAutoFit/>
          </a:bodyPr>
          <a:lstStyle/>
          <a:p>
            <a:pPr algn="ctr"/>
            <a:r>
              <a:rPr sz="1200" b="1">
                <a:solidFill>
                  <a:srgbClr val="FFFFFF"/>
                </a:solidFill>
                <a:latin typeface="Aptos"/>
              </a:rPr>
              <a:t>AD</a:t>
            </a:r>
          </a:p>
        </p:txBody>
      </p:sp>
      <p:sp>
        <p:nvSpPr>
          <p:cNvPr id="20" name="TextBox 19"/>
          <p:cNvSpPr txBox="1"/>
          <p:nvPr/>
        </p:nvSpPr>
        <p:spPr>
          <a:xfrm>
            <a:off x="9226296" y="1645920"/>
            <a:ext cx="2240280" cy="502920"/>
          </a:xfrm>
          <a:prstGeom prst="rect">
            <a:avLst/>
          </a:prstGeom>
          <a:noFill/>
        </p:spPr>
        <p:txBody>
          <a:bodyPr wrap="square" anchor="ctr">
            <a:spAutoFit/>
          </a:bodyPr>
          <a:lstStyle/>
          <a:p>
            <a:pPr algn="l"/>
            <a:r>
              <a:rPr sz="1700" b="1">
                <a:solidFill>
                  <a:srgbClr val="0A304C"/>
                </a:solidFill>
                <a:latin typeface="Aptos"/>
              </a:rPr>
              <a:t>Alzheimer’s Disease</a:t>
            </a:r>
          </a:p>
        </p:txBody>
      </p:sp>
      <p:sp>
        <p:nvSpPr>
          <p:cNvPr id="21" name="TextBox 20"/>
          <p:cNvSpPr txBox="1"/>
          <p:nvPr/>
        </p:nvSpPr>
        <p:spPr>
          <a:xfrm>
            <a:off x="8421624" y="2267712"/>
            <a:ext cx="3063240" cy="987552"/>
          </a:xfrm>
          <a:prstGeom prst="rect">
            <a:avLst/>
          </a:prstGeom>
          <a:noFill/>
        </p:spPr>
        <p:txBody>
          <a:bodyPr wrap="square" anchor="ctr">
            <a:spAutoFit/>
          </a:bodyPr>
          <a:lstStyle/>
          <a:p>
            <a:pPr algn="l"/>
            <a:r>
              <a:rPr sz="1300" b="0">
                <a:solidFill>
                  <a:srgbClr val="23303A"/>
                </a:solidFill>
                <a:latin typeface="Aptos"/>
              </a:rPr>
              <a:t>Participant classified in the Alzheimer’s disease/dementia category according to the diagnostic rules used in the relevant ADNI phase.</a:t>
            </a:r>
          </a:p>
        </p:txBody>
      </p:sp>
      <p:sp>
        <p:nvSpPr>
          <p:cNvPr id="22" name="Rounded Rectangle 21"/>
          <p:cNvSpPr/>
          <p:nvPr/>
        </p:nvSpPr>
        <p:spPr>
          <a:xfrm>
            <a:off x="594360" y="3858768"/>
            <a:ext cx="10972800" cy="1600200"/>
          </a:xfrm>
          <a:prstGeom prst="roundRect">
            <a:avLst/>
          </a:prstGeom>
          <a:solidFill>
            <a:srgbClr val="FFFFFF"/>
          </a:solidFill>
          <a:ln>
            <a:solidFill>
              <a:srgbClr val="117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4050791"/>
            <a:ext cx="2286000" cy="329184"/>
          </a:xfrm>
          <a:prstGeom prst="rect">
            <a:avLst/>
          </a:prstGeom>
          <a:noFill/>
        </p:spPr>
        <p:txBody>
          <a:bodyPr wrap="square" anchor="ctr">
            <a:spAutoFit/>
          </a:bodyPr>
          <a:lstStyle/>
          <a:p>
            <a:pPr algn="l"/>
            <a:r>
              <a:rPr sz="1400" b="1">
                <a:solidFill>
                  <a:srgbClr val="117E8F"/>
                </a:solidFill>
                <a:latin typeface="Aptos"/>
              </a:rPr>
              <a:t>The ML question</a:t>
            </a:r>
          </a:p>
        </p:txBody>
      </p:sp>
      <p:sp>
        <p:nvSpPr>
          <p:cNvPr id="24" name="TextBox 23"/>
          <p:cNvSpPr txBox="1"/>
          <p:nvPr/>
        </p:nvSpPr>
        <p:spPr>
          <a:xfrm>
            <a:off x="822960" y="4416552"/>
            <a:ext cx="10469880" cy="713232"/>
          </a:xfrm>
          <a:prstGeom prst="rect">
            <a:avLst/>
          </a:prstGeom>
          <a:noFill/>
        </p:spPr>
        <p:txBody>
          <a:bodyPr wrap="square" anchor="ctr">
            <a:spAutoFit/>
          </a:bodyPr>
          <a:lstStyle/>
          <a:p>
            <a:pPr algn="l"/>
            <a:r>
              <a:rPr sz="1900" b="1">
                <a:solidFill>
                  <a:srgbClr val="0A304C"/>
                </a:solidFill>
                <a:latin typeface="Aptos"/>
              </a:rPr>
              <a:t>Given the participant’s multimodal measurements at visit t, which current state is most consistent with the learned patterns: CN, MCI or AD?</a:t>
            </a:r>
          </a:p>
        </p:txBody>
      </p:sp>
      <p:sp>
        <p:nvSpPr>
          <p:cNvPr id="25" name="TextBox 24"/>
          <p:cNvSpPr txBox="1"/>
          <p:nvPr/>
        </p:nvSpPr>
        <p:spPr>
          <a:xfrm>
            <a:off x="822960" y="5102352"/>
            <a:ext cx="10469880" cy="256032"/>
          </a:xfrm>
          <a:prstGeom prst="rect">
            <a:avLst/>
          </a:prstGeom>
          <a:noFill/>
        </p:spPr>
        <p:txBody>
          <a:bodyPr wrap="square" anchor="ctr">
            <a:spAutoFit/>
          </a:bodyPr>
          <a:lstStyle/>
          <a:p>
            <a:pPr algn="l"/>
            <a:r>
              <a:rPr sz="1200" b="1">
                <a:solidFill>
                  <a:srgbClr val="C24B44"/>
                </a:solidFill>
                <a:latin typeface="Aptos"/>
              </a:rPr>
              <a:t>Important: this is disease-state classification, not future progression prediction.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1064240" cy="228600"/>
          </a:xfrm>
          <a:prstGeom prst="rect">
            <a:avLst/>
          </a:prstGeom>
          <a:noFill/>
        </p:spPr>
        <p:txBody>
          <a:bodyPr wrap="square" anchor="ctr">
            <a:spAutoFit/>
          </a:bodyPr>
          <a:lstStyle/>
          <a:p>
            <a:pPr algn="l"/>
            <a:r>
              <a:rPr sz="1000" b="1">
                <a:solidFill>
                  <a:srgbClr val="117E8F"/>
                </a:solidFill>
                <a:latin typeface="Aptos"/>
              </a:rPr>
              <a:t>TASK A • MULTICLASS OUTPUT</a:t>
            </a:r>
          </a:p>
        </p:txBody>
      </p:sp>
      <p:sp>
        <p:nvSpPr>
          <p:cNvPr id="3" name="TextBox 2"/>
          <p:cNvSpPr txBox="1"/>
          <p:nvPr/>
        </p:nvSpPr>
        <p:spPr>
          <a:xfrm>
            <a:off x="502920" y="438912"/>
            <a:ext cx="11064240" cy="502920"/>
          </a:xfrm>
          <a:prstGeom prst="rect">
            <a:avLst/>
          </a:prstGeom>
          <a:noFill/>
        </p:spPr>
        <p:txBody>
          <a:bodyPr wrap="square" anchor="ctr">
            <a:spAutoFit/>
          </a:bodyPr>
          <a:lstStyle/>
          <a:p>
            <a:pPr algn="l"/>
            <a:r>
              <a:rPr sz="2500" b="1">
                <a:solidFill>
                  <a:srgbClr val="0A304C"/>
                </a:solidFill>
                <a:latin typeface="Aptos"/>
              </a:rPr>
              <a:t>The model predicts probabilities — not only a label</a:t>
            </a:r>
          </a:p>
        </p:txBody>
      </p:sp>
      <p:sp>
        <p:nvSpPr>
          <p:cNvPr id="4" name="TextBox 3"/>
          <p:cNvSpPr txBox="1"/>
          <p:nvPr/>
        </p:nvSpPr>
        <p:spPr>
          <a:xfrm>
            <a:off x="502920" y="941832"/>
            <a:ext cx="10972800" cy="347472"/>
          </a:xfrm>
          <a:prstGeom prst="rect">
            <a:avLst/>
          </a:prstGeom>
          <a:noFill/>
        </p:spPr>
        <p:txBody>
          <a:bodyPr wrap="square" anchor="ctr">
            <a:spAutoFit/>
          </a:bodyPr>
          <a:lstStyle/>
          <a:p>
            <a:pPr algn="l"/>
            <a:r>
              <a:rPr sz="1200" b="0">
                <a:solidFill>
                  <a:srgbClr val="5C6C77"/>
                </a:solidFill>
                <a:latin typeface="Aptos"/>
              </a:rPr>
              <a:t>For participant feature vector X, each model returns a probability distribution across the three classes.</a:t>
            </a:r>
          </a:p>
        </p:txBody>
      </p:sp>
      <p:sp>
        <p:nvSpPr>
          <p:cNvPr id="5" name="TextBox 4"/>
          <p:cNvSpPr txBox="1"/>
          <p:nvPr/>
        </p:nvSpPr>
        <p:spPr>
          <a:xfrm>
            <a:off x="502920" y="6510528"/>
            <a:ext cx="8961120" cy="182880"/>
          </a:xfrm>
          <a:prstGeom prst="rect">
            <a:avLst/>
          </a:prstGeom>
          <a:noFill/>
        </p:spPr>
        <p:txBody>
          <a:bodyPr wrap="square" anchor="ctr">
            <a:spAutoFit/>
          </a:bodyPr>
          <a:lstStyle/>
          <a:p>
            <a:pPr algn="l"/>
            <a:r>
              <a:rPr sz="900" b="0">
                <a:solidFill>
                  <a:srgbClr val="5C6C77"/>
                </a:solidFill>
                <a:latin typeface="Aptos"/>
              </a:rPr>
              <a:t>NeuroFusion-AI  •  ADNI  •  Multimodal ML  •  Longitudinal Prediction</a:t>
            </a:r>
          </a:p>
        </p:txBody>
      </p:sp>
      <p:sp>
        <p:nvSpPr>
          <p:cNvPr id="6" name="TextBox 5"/>
          <p:cNvSpPr txBox="1"/>
          <p:nvPr/>
        </p:nvSpPr>
        <p:spPr>
          <a:xfrm>
            <a:off x="10241280" y="6492240"/>
            <a:ext cx="1417320" cy="201168"/>
          </a:xfrm>
          <a:prstGeom prst="rect">
            <a:avLst/>
          </a:prstGeom>
          <a:noFill/>
        </p:spPr>
        <p:txBody>
          <a:bodyPr wrap="square" anchor="ctr">
            <a:spAutoFit/>
          </a:bodyPr>
          <a:lstStyle/>
          <a:p>
            <a:pPr algn="r"/>
            <a:r>
              <a:rPr sz="900" b="1">
                <a:solidFill>
                  <a:srgbClr val="0A304C"/>
                </a:solidFill>
                <a:latin typeface="Aptos"/>
              </a:rPr>
              <a:t>MASTER’S PROJECT</a:t>
            </a:r>
          </a:p>
        </p:txBody>
      </p:sp>
      <p:sp>
        <p:nvSpPr>
          <p:cNvPr id="7" name="Rounded Rectangle 6"/>
          <p:cNvSpPr/>
          <p:nvPr/>
        </p:nvSpPr>
        <p:spPr>
          <a:xfrm>
            <a:off x="594360" y="1417320"/>
            <a:ext cx="3703320" cy="4251960"/>
          </a:xfrm>
          <a:prstGeom prst="roundRect">
            <a:avLst/>
          </a:prstGeom>
          <a:solidFill>
            <a:srgbClr val="F4F7F9"/>
          </a:solidFill>
          <a:ln>
            <a:solidFill>
              <a:srgbClr val="D2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627632"/>
            <a:ext cx="3246120" cy="320040"/>
          </a:xfrm>
          <a:prstGeom prst="rect">
            <a:avLst/>
          </a:prstGeom>
          <a:noFill/>
        </p:spPr>
        <p:txBody>
          <a:bodyPr wrap="square" anchor="ctr">
            <a:spAutoFit/>
          </a:bodyPr>
          <a:lstStyle/>
          <a:p>
            <a:pPr algn="l"/>
            <a:r>
              <a:rPr sz="1500" b="1">
                <a:solidFill>
                  <a:srgbClr val="0A304C"/>
                </a:solidFill>
                <a:latin typeface="Aptos"/>
              </a:rPr>
              <a:t>Example participant features</a:t>
            </a:r>
          </a:p>
        </p:txBody>
      </p:sp>
      <p:sp>
        <p:nvSpPr>
          <p:cNvPr id="9" name="TextBox 8"/>
          <p:cNvSpPr txBox="1"/>
          <p:nvPr/>
        </p:nvSpPr>
        <p:spPr>
          <a:xfrm>
            <a:off x="932688" y="2057400"/>
            <a:ext cx="2971800" cy="320040"/>
          </a:xfrm>
          <a:prstGeom prst="rect">
            <a:avLst/>
          </a:prstGeom>
          <a:noFill/>
        </p:spPr>
        <p:txBody>
          <a:bodyPr wrap="square" anchor="ctr">
            <a:spAutoFit/>
          </a:bodyPr>
          <a:lstStyle/>
          <a:p>
            <a:pPr algn="l"/>
            <a:r>
              <a:rPr sz="1300" b="0">
                <a:solidFill>
                  <a:srgbClr val="23303A"/>
                </a:solidFill>
                <a:latin typeface="Aptos"/>
              </a:rPr>
              <a:t>•  Age / education</a:t>
            </a:r>
          </a:p>
        </p:txBody>
      </p:sp>
      <p:sp>
        <p:nvSpPr>
          <p:cNvPr id="10" name="TextBox 9"/>
          <p:cNvSpPr txBox="1"/>
          <p:nvPr/>
        </p:nvSpPr>
        <p:spPr>
          <a:xfrm>
            <a:off x="932688" y="2532888"/>
            <a:ext cx="2971800" cy="320040"/>
          </a:xfrm>
          <a:prstGeom prst="rect">
            <a:avLst/>
          </a:prstGeom>
          <a:noFill/>
        </p:spPr>
        <p:txBody>
          <a:bodyPr wrap="square" anchor="ctr">
            <a:spAutoFit/>
          </a:bodyPr>
          <a:lstStyle/>
          <a:p>
            <a:pPr algn="l"/>
            <a:r>
              <a:rPr sz="1300" b="0">
                <a:solidFill>
                  <a:srgbClr val="23303A"/>
                </a:solidFill>
                <a:latin typeface="Aptos"/>
              </a:rPr>
              <a:t>•  MMSE • ADAS-Cog • CDR-SB</a:t>
            </a:r>
          </a:p>
        </p:txBody>
      </p:sp>
      <p:sp>
        <p:nvSpPr>
          <p:cNvPr id="11" name="TextBox 10"/>
          <p:cNvSpPr txBox="1"/>
          <p:nvPr/>
        </p:nvSpPr>
        <p:spPr>
          <a:xfrm>
            <a:off x="932688" y="3008376"/>
            <a:ext cx="2971800" cy="320040"/>
          </a:xfrm>
          <a:prstGeom prst="rect">
            <a:avLst/>
          </a:prstGeom>
          <a:noFill/>
        </p:spPr>
        <p:txBody>
          <a:bodyPr wrap="square" anchor="ctr">
            <a:spAutoFit/>
          </a:bodyPr>
          <a:lstStyle/>
          <a:p>
            <a:pPr algn="l"/>
            <a:r>
              <a:rPr sz="1300" b="0">
                <a:solidFill>
                  <a:srgbClr val="23303A"/>
                </a:solidFill>
                <a:latin typeface="Aptos"/>
              </a:rPr>
              <a:t>•  MRI regional measures</a:t>
            </a:r>
          </a:p>
        </p:txBody>
      </p:sp>
      <p:sp>
        <p:nvSpPr>
          <p:cNvPr id="12" name="TextBox 11"/>
          <p:cNvSpPr txBox="1"/>
          <p:nvPr/>
        </p:nvSpPr>
        <p:spPr>
          <a:xfrm>
            <a:off x="932688" y="3483864"/>
            <a:ext cx="2971800" cy="320040"/>
          </a:xfrm>
          <a:prstGeom prst="rect">
            <a:avLst/>
          </a:prstGeom>
          <a:noFill/>
        </p:spPr>
        <p:txBody>
          <a:bodyPr wrap="square" anchor="ctr">
            <a:spAutoFit/>
          </a:bodyPr>
          <a:lstStyle/>
          <a:p>
            <a:pPr algn="l"/>
            <a:r>
              <a:rPr sz="1300" b="0">
                <a:solidFill>
                  <a:srgbClr val="23303A"/>
                </a:solidFill>
                <a:latin typeface="Aptos"/>
              </a:rPr>
              <a:t>•  PET summaries</a:t>
            </a:r>
          </a:p>
        </p:txBody>
      </p:sp>
      <p:sp>
        <p:nvSpPr>
          <p:cNvPr id="13" name="TextBox 12"/>
          <p:cNvSpPr txBox="1"/>
          <p:nvPr/>
        </p:nvSpPr>
        <p:spPr>
          <a:xfrm>
            <a:off x="932688" y="3959352"/>
            <a:ext cx="2971800" cy="320040"/>
          </a:xfrm>
          <a:prstGeom prst="rect">
            <a:avLst/>
          </a:prstGeom>
          <a:noFill/>
        </p:spPr>
        <p:txBody>
          <a:bodyPr wrap="square" anchor="ctr">
            <a:spAutoFit/>
          </a:bodyPr>
          <a:lstStyle/>
          <a:p>
            <a:pPr algn="l"/>
            <a:r>
              <a:rPr sz="1300" b="0">
                <a:solidFill>
                  <a:srgbClr val="23303A"/>
                </a:solidFill>
                <a:latin typeface="Aptos"/>
              </a:rPr>
              <a:t>•  Biofluid biomarkers</a:t>
            </a:r>
          </a:p>
        </p:txBody>
      </p:sp>
      <p:sp>
        <p:nvSpPr>
          <p:cNvPr id="14" name="TextBox 13"/>
          <p:cNvSpPr txBox="1"/>
          <p:nvPr/>
        </p:nvSpPr>
        <p:spPr>
          <a:xfrm>
            <a:off x="932688" y="4434840"/>
            <a:ext cx="2971800" cy="320040"/>
          </a:xfrm>
          <a:prstGeom prst="rect">
            <a:avLst/>
          </a:prstGeom>
          <a:noFill/>
        </p:spPr>
        <p:txBody>
          <a:bodyPr wrap="square" anchor="ctr">
            <a:spAutoFit/>
          </a:bodyPr>
          <a:lstStyle/>
          <a:p>
            <a:pPr algn="l"/>
            <a:r>
              <a:rPr sz="1300" b="0">
                <a:solidFill>
                  <a:srgbClr val="23303A"/>
                </a:solidFill>
                <a:latin typeface="Aptos"/>
              </a:rPr>
              <a:t>•  APOE ε4 information</a:t>
            </a:r>
          </a:p>
        </p:txBody>
      </p:sp>
      <p:sp>
        <p:nvSpPr>
          <p:cNvPr id="15" name="Rounded Rectangle 14"/>
          <p:cNvSpPr/>
          <p:nvPr/>
        </p:nvSpPr>
        <p:spPr>
          <a:xfrm>
            <a:off x="4572000" y="1417320"/>
            <a:ext cx="6995160" cy="1965960"/>
          </a:xfrm>
          <a:prstGeom prst="roundRect">
            <a:avLst/>
          </a:prstGeom>
          <a:solidFill>
            <a:srgbClr val="FFFFFF"/>
          </a:solidFill>
          <a:ln>
            <a:solidFill>
              <a:srgbClr val="117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00600" y="1645920"/>
            <a:ext cx="6537960" cy="365760"/>
          </a:xfrm>
          <a:prstGeom prst="rect">
            <a:avLst/>
          </a:prstGeom>
          <a:noFill/>
        </p:spPr>
        <p:txBody>
          <a:bodyPr wrap="square" anchor="ctr">
            <a:spAutoFit/>
          </a:bodyPr>
          <a:lstStyle/>
          <a:p>
            <a:pPr algn="l"/>
            <a:r>
              <a:rPr sz="1500" b="1">
                <a:solidFill>
                  <a:srgbClr val="117E8F"/>
                </a:solidFill>
                <a:latin typeface="Aptos"/>
              </a:rPr>
              <a:t>Multiclass probability model</a:t>
            </a:r>
          </a:p>
        </p:txBody>
      </p:sp>
      <p:sp>
        <p:nvSpPr>
          <p:cNvPr id="17" name="TextBox 16"/>
          <p:cNvSpPr txBox="1"/>
          <p:nvPr/>
        </p:nvSpPr>
        <p:spPr>
          <a:xfrm>
            <a:off x="4800600" y="2121408"/>
            <a:ext cx="6537960" cy="411480"/>
          </a:xfrm>
          <a:prstGeom prst="rect">
            <a:avLst/>
          </a:prstGeom>
          <a:noFill/>
        </p:spPr>
        <p:txBody>
          <a:bodyPr wrap="square" anchor="ctr">
            <a:spAutoFit/>
          </a:bodyPr>
          <a:lstStyle/>
          <a:p>
            <a:pPr algn="ctr"/>
            <a:r>
              <a:rPr sz="2300" b="1">
                <a:solidFill>
                  <a:srgbClr val="0A304C"/>
                </a:solidFill>
                <a:latin typeface="Aptos"/>
              </a:rPr>
              <a:t>P(CN | X),   P(MCI | X),   P(AD | X)</a:t>
            </a:r>
          </a:p>
        </p:txBody>
      </p:sp>
      <p:sp>
        <p:nvSpPr>
          <p:cNvPr id="18" name="TextBox 17"/>
          <p:cNvSpPr txBox="1"/>
          <p:nvPr/>
        </p:nvSpPr>
        <p:spPr>
          <a:xfrm>
            <a:off x="4800600" y="2660904"/>
            <a:ext cx="6537960" cy="329184"/>
          </a:xfrm>
          <a:prstGeom prst="rect">
            <a:avLst/>
          </a:prstGeom>
          <a:noFill/>
        </p:spPr>
        <p:txBody>
          <a:bodyPr wrap="square" anchor="ctr">
            <a:spAutoFit/>
          </a:bodyPr>
          <a:lstStyle/>
          <a:p>
            <a:pPr algn="ctr"/>
            <a:r>
              <a:rPr sz="1700" b="1">
                <a:solidFill>
                  <a:srgbClr val="23303A"/>
                </a:solidFill>
                <a:latin typeface="Aptos"/>
              </a:rPr>
              <a:t>P(CN|X) + P(MCI|X) + P(AD|X) = 1</a:t>
            </a:r>
          </a:p>
        </p:txBody>
      </p:sp>
      <p:sp>
        <p:nvSpPr>
          <p:cNvPr id="19" name="Rounded Rectangle 18"/>
          <p:cNvSpPr/>
          <p:nvPr/>
        </p:nvSpPr>
        <p:spPr>
          <a:xfrm>
            <a:off x="4572000" y="3657600"/>
            <a:ext cx="6995160" cy="2011680"/>
          </a:xfrm>
          <a:prstGeom prst="roundRect">
            <a:avLst/>
          </a:prstGeom>
          <a:solidFill>
            <a:srgbClr val="F4F7F9"/>
          </a:solidFill>
          <a:ln>
            <a:solidFill>
              <a:srgbClr val="D2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00600" y="3840480"/>
            <a:ext cx="6537960" cy="320040"/>
          </a:xfrm>
          <a:prstGeom prst="rect">
            <a:avLst/>
          </a:prstGeom>
          <a:noFill/>
        </p:spPr>
        <p:txBody>
          <a:bodyPr wrap="square" anchor="ctr">
            <a:spAutoFit/>
          </a:bodyPr>
          <a:lstStyle/>
          <a:p>
            <a:pPr algn="l"/>
            <a:r>
              <a:rPr sz="1500" b="1">
                <a:solidFill>
                  <a:srgbClr val="0A304C"/>
                </a:solidFill>
                <a:latin typeface="Aptos"/>
              </a:rPr>
              <a:t>Illustrative output</a:t>
            </a:r>
          </a:p>
        </p:txBody>
      </p:sp>
      <p:sp>
        <p:nvSpPr>
          <p:cNvPr id="21" name="Rounded Rectangle 20"/>
          <p:cNvSpPr/>
          <p:nvPr/>
        </p:nvSpPr>
        <p:spPr>
          <a:xfrm>
            <a:off x="4892040" y="4315968"/>
            <a:ext cx="932688" cy="384048"/>
          </a:xfrm>
          <a:prstGeom prst="roundRect">
            <a:avLst/>
          </a:prstGeom>
          <a:solidFill>
            <a:srgbClr val="117E8F"/>
          </a:solidFill>
          <a:ln>
            <a:solidFill>
              <a:srgbClr val="117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92040" y="4334255"/>
            <a:ext cx="932688" cy="310896"/>
          </a:xfrm>
          <a:prstGeom prst="rect">
            <a:avLst/>
          </a:prstGeom>
          <a:noFill/>
        </p:spPr>
        <p:txBody>
          <a:bodyPr wrap="square" anchor="ctr">
            <a:spAutoFit/>
          </a:bodyPr>
          <a:lstStyle/>
          <a:p>
            <a:pPr algn="ctr"/>
            <a:r>
              <a:rPr sz="1200" b="1">
                <a:solidFill>
                  <a:srgbClr val="FFFFFF"/>
                </a:solidFill>
                <a:latin typeface="Aptos"/>
              </a:rPr>
              <a:t>CN</a:t>
            </a:r>
          </a:p>
        </p:txBody>
      </p:sp>
      <p:sp>
        <p:nvSpPr>
          <p:cNvPr id="23" name="TextBox 22"/>
          <p:cNvSpPr txBox="1"/>
          <p:nvPr/>
        </p:nvSpPr>
        <p:spPr>
          <a:xfrm>
            <a:off x="5897879" y="4297680"/>
            <a:ext cx="914400" cy="384048"/>
          </a:xfrm>
          <a:prstGeom prst="rect">
            <a:avLst/>
          </a:prstGeom>
          <a:noFill/>
        </p:spPr>
        <p:txBody>
          <a:bodyPr wrap="square" anchor="ctr">
            <a:spAutoFit/>
          </a:bodyPr>
          <a:lstStyle/>
          <a:p>
            <a:pPr algn="l"/>
            <a:r>
              <a:rPr sz="1800" b="1">
                <a:solidFill>
                  <a:srgbClr val="23303A"/>
                </a:solidFill>
                <a:latin typeface="Aptos"/>
              </a:rPr>
              <a:t>0.08</a:t>
            </a:r>
          </a:p>
        </p:txBody>
      </p:sp>
      <p:sp>
        <p:nvSpPr>
          <p:cNvPr id="24" name="Rounded Rectangle 23"/>
          <p:cNvSpPr/>
          <p:nvPr/>
        </p:nvSpPr>
        <p:spPr>
          <a:xfrm>
            <a:off x="7040879" y="4315968"/>
            <a:ext cx="932688" cy="384048"/>
          </a:xfrm>
          <a:prstGeom prst="roundRect">
            <a:avLst/>
          </a:prstGeom>
          <a:solidFill>
            <a:srgbClr val="DA9D2B"/>
          </a:solidFill>
          <a:ln>
            <a:solidFill>
              <a:srgbClr val="DA9D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79" y="4334255"/>
            <a:ext cx="932688" cy="310896"/>
          </a:xfrm>
          <a:prstGeom prst="rect">
            <a:avLst/>
          </a:prstGeom>
          <a:noFill/>
        </p:spPr>
        <p:txBody>
          <a:bodyPr wrap="square" anchor="ctr">
            <a:spAutoFit/>
          </a:bodyPr>
          <a:lstStyle/>
          <a:p>
            <a:pPr algn="ctr"/>
            <a:r>
              <a:rPr sz="1200" b="1">
                <a:solidFill>
                  <a:srgbClr val="FFFFFF"/>
                </a:solidFill>
                <a:latin typeface="Aptos"/>
              </a:rPr>
              <a:t>MCI</a:t>
            </a:r>
          </a:p>
        </p:txBody>
      </p:sp>
      <p:sp>
        <p:nvSpPr>
          <p:cNvPr id="26" name="TextBox 25"/>
          <p:cNvSpPr txBox="1"/>
          <p:nvPr/>
        </p:nvSpPr>
        <p:spPr>
          <a:xfrm>
            <a:off x="8046719" y="4297680"/>
            <a:ext cx="914400" cy="384048"/>
          </a:xfrm>
          <a:prstGeom prst="rect">
            <a:avLst/>
          </a:prstGeom>
          <a:noFill/>
        </p:spPr>
        <p:txBody>
          <a:bodyPr wrap="square" anchor="ctr">
            <a:spAutoFit/>
          </a:bodyPr>
          <a:lstStyle/>
          <a:p>
            <a:pPr algn="l"/>
            <a:r>
              <a:rPr sz="1800" b="1">
                <a:solidFill>
                  <a:srgbClr val="23303A"/>
                </a:solidFill>
                <a:latin typeface="Aptos"/>
              </a:rPr>
              <a:t>0.76</a:t>
            </a:r>
          </a:p>
        </p:txBody>
      </p:sp>
      <p:sp>
        <p:nvSpPr>
          <p:cNvPr id="27" name="Rounded Rectangle 26"/>
          <p:cNvSpPr/>
          <p:nvPr/>
        </p:nvSpPr>
        <p:spPr>
          <a:xfrm>
            <a:off x="9189720" y="4315968"/>
            <a:ext cx="932688" cy="384048"/>
          </a:xfrm>
          <a:prstGeom prst="roundRect">
            <a:avLst/>
          </a:prstGeom>
          <a:solidFill>
            <a:srgbClr val="C24B44"/>
          </a:solidFill>
          <a:ln>
            <a:solidFill>
              <a:srgbClr val="C24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89720" y="4334255"/>
            <a:ext cx="932688" cy="310896"/>
          </a:xfrm>
          <a:prstGeom prst="rect">
            <a:avLst/>
          </a:prstGeom>
          <a:noFill/>
        </p:spPr>
        <p:txBody>
          <a:bodyPr wrap="square" anchor="ctr">
            <a:spAutoFit/>
          </a:bodyPr>
          <a:lstStyle/>
          <a:p>
            <a:pPr algn="ctr"/>
            <a:r>
              <a:rPr sz="1200" b="1">
                <a:solidFill>
                  <a:srgbClr val="FFFFFF"/>
                </a:solidFill>
                <a:latin typeface="Aptos"/>
              </a:rPr>
              <a:t>AD</a:t>
            </a:r>
          </a:p>
        </p:txBody>
      </p:sp>
      <p:sp>
        <p:nvSpPr>
          <p:cNvPr id="29" name="TextBox 28"/>
          <p:cNvSpPr txBox="1"/>
          <p:nvPr/>
        </p:nvSpPr>
        <p:spPr>
          <a:xfrm>
            <a:off x="10195560" y="4297680"/>
            <a:ext cx="914400" cy="384048"/>
          </a:xfrm>
          <a:prstGeom prst="rect">
            <a:avLst/>
          </a:prstGeom>
          <a:noFill/>
        </p:spPr>
        <p:txBody>
          <a:bodyPr wrap="square" anchor="ctr">
            <a:spAutoFit/>
          </a:bodyPr>
          <a:lstStyle/>
          <a:p>
            <a:pPr algn="l"/>
            <a:r>
              <a:rPr sz="1800" b="1">
                <a:solidFill>
                  <a:srgbClr val="23303A"/>
                </a:solidFill>
                <a:latin typeface="Aptos"/>
              </a:rPr>
              <a:t>0.16</a:t>
            </a:r>
          </a:p>
        </p:txBody>
      </p:sp>
      <p:sp>
        <p:nvSpPr>
          <p:cNvPr id="30" name="TextBox 29"/>
          <p:cNvSpPr txBox="1"/>
          <p:nvPr/>
        </p:nvSpPr>
        <p:spPr>
          <a:xfrm>
            <a:off x="4800600" y="4983480"/>
            <a:ext cx="6537960" cy="438912"/>
          </a:xfrm>
          <a:prstGeom prst="rect">
            <a:avLst/>
          </a:prstGeom>
          <a:noFill/>
        </p:spPr>
        <p:txBody>
          <a:bodyPr wrap="square" anchor="ctr">
            <a:spAutoFit/>
          </a:bodyPr>
          <a:lstStyle/>
          <a:p>
            <a:pPr algn="ctr"/>
            <a:r>
              <a:rPr sz="1400" b="1">
                <a:solidFill>
                  <a:srgbClr val="0A304C"/>
                </a:solidFill>
                <a:latin typeface="Aptos"/>
              </a:rPr>
              <a:t>Predicted class = arg max { P(CN|X), P(MCI|X), P(AD|X) } = MCI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1064240" cy="228600"/>
          </a:xfrm>
          <a:prstGeom prst="rect">
            <a:avLst/>
          </a:prstGeom>
          <a:noFill/>
        </p:spPr>
        <p:txBody>
          <a:bodyPr wrap="square" anchor="ctr">
            <a:spAutoFit/>
          </a:bodyPr>
          <a:lstStyle/>
          <a:p>
            <a:pPr algn="l"/>
            <a:r>
              <a:rPr sz="1000" b="1">
                <a:solidFill>
                  <a:srgbClr val="117E8F"/>
                </a:solidFill>
                <a:latin typeface="Aptos"/>
              </a:rPr>
              <a:t>ENSEMBLE CONNECTION</a:t>
            </a:r>
          </a:p>
        </p:txBody>
      </p:sp>
      <p:sp>
        <p:nvSpPr>
          <p:cNvPr id="3" name="TextBox 2"/>
          <p:cNvSpPr txBox="1"/>
          <p:nvPr/>
        </p:nvSpPr>
        <p:spPr>
          <a:xfrm>
            <a:off x="502920" y="438912"/>
            <a:ext cx="11064240" cy="502920"/>
          </a:xfrm>
          <a:prstGeom prst="rect">
            <a:avLst/>
          </a:prstGeom>
          <a:noFill/>
        </p:spPr>
        <p:txBody>
          <a:bodyPr wrap="square" anchor="ctr">
            <a:spAutoFit/>
          </a:bodyPr>
          <a:lstStyle/>
          <a:p>
            <a:pPr algn="l"/>
            <a:r>
              <a:rPr sz="2500" b="1">
                <a:solidFill>
                  <a:srgbClr val="0A304C"/>
                </a:solidFill>
                <a:latin typeface="Aptos"/>
              </a:rPr>
              <a:t>How CN / MCI / AD classification enters the ensemble</a:t>
            </a:r>
          </a:p>
        </p:txBody>
      </p:sp>
      <p:sp>
        <p:nvSpPr>
          <p:cNvPr id="4" name="TextBox 3"/>
          <p:cNvSpPr txBox="1"/>
          <p:nvPr/>
        </p:nvSpPr>
        <p:spPr>
          <a:xfrm>
            <a:off x="502920" y="941832"/>
            <a:ext cx="10972800" cy="347472"/>
          </a:xfrm>
          <a:prstGeom prst="rect">
            <a:avLst/>
          </a:prstGeom>
          <a:noFill/>
        </p:spPr>
        <p:txBody>
          <a:bodyPr wrap="square" anchor="ctr">
            <a:spAutoFit/>
          </a:bodyPr>
          <a:lstStyle/>
          <a:p>
            <a:pPr algn="l"/>
            <a:r>
              <a:rPr sz="1200" b="0">
                <a:solidFill>
                  <a:srgbClr val="5C6C77"/>
                </a:solidFill>
                <a:latin typeface="Aptos"/>
              </a:rPr>
              <a:t>All five base learners estimate the same three probabilities. The ensemble combines probability vectors, not hard votes.</a:t>
            </a:r>
          </a:p>
        </p:txBody>
      </p:sp>
      <p:sp>
        <p:nvSpPr>
          <p:cNvPr id="5" name="TextBox 4"/>
          <p:cNvSpPr txBox="1"/>
          <p:nvPr/>
        </p:nvSpPr>
        <p:spPr>
          <a:xfrm>
            <a:off x="502920" y="6510528"/>
            <a:ext cx="8961120" cy="182880"/>
          </a:xfrm>
          <a:prstGeom prst="rect">
            <a:avLst/>
          </a:prstGeom>
          <a:noFill/>
        </p:spPr>
        <p:txBody>
          <a:bodyPr wrap="square" anchor="ctr">
            <a:spAutoFit/>
          </a:bodyPr>
          <a:lstStyle/>
          <a:p>
            <a:pPr algn="l"/>
            <a:r>
              <a:rPr sz="900" b="0">
                <a:solidFill>
                  <a:srgbClr val="5C6C77"/>
                </a:solidFill>
                <a:latin typeface="Aptos"/>
              </a:rPr>
              <a:t>NeuroFusion-AI  •  ADNI  •  Multimodal ML  •  Longitudinal Prediction</a:t>
            </a:r>
          </a:p>
        </p:txBody>
      </p:sp>
      <p:sp>
        <p:nvSpPr>
          <p:cNvPr id="6" name="TextBox 5"/>
          <p:cNvSpPr txBox="1"/>
          <p:nvPr/>
        </p:nvSpPr>
        <p:spPr>
          <a:xfrm>
            <a:off x="10241280" y="6492240"/>
            <a:ext cx="1417320" cy="201168"/>
          </a:xfrm>
          <a:prstGeom prst="rect">
            <a:avLst/>
          </a:prstGeom>
          <a:noFill/>
        </p:spPr>
        <p:txBody>
          <a:bodyPr wrap="square" anchor="ctr">
            <a:spAutoFit/>
          </a:bodyPr>
          <a:lstStyle/>
          <a:p>
            <a:pPr algn="r"/>
            <a:r>
              <a:rPr sz="900" b="1">
                <a:solidFill>
                  <a:srgbClr val="0A304C"/>
                </a:solidFill>
                <a:latin typeface="Aptos"/>
              </a:rPr>
              <a:t>MASTER’S PROJECT</a:t>
            </a:r>
          </a:p>
        </p:txBody>
      </p:sp>
      <p:sp>
        <p:nvSpPr>
          <p:cNvPr id="7" name="Rounded Rectangle 6"/>
          <p:cNvSpPr/>
          <p:nvPr/>
        </p:nvSpPr>
        <p:spPr>
          <a:xfrm>
            <a:off x="594360" y="1417320"/>
            <a:ext cx="658368" cy="384048"/>
          </a:xfrm>
          <a:prstGeom prst="roundRect">
            <a:avLst/>
          </a:prstGeom>
          <a:solidFill>
            <a:srgbClr val="117E8F"/>
          </a:solidFill>
          <a:ln>
            <a:solidFill>
              <a:srgbClr val="117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435608"/>
            <a:ext cx="658368" cy="310896"/>
          </a:xfrm>
          <a:prstGeom prst="rect">
            <a:avLst/>
          </a:prstGeom>
          <a:noFill/>
        </p:spPr>
        <p:txBody>
          <a:bodyPr wrap="square" anchor="ctr">
            <a:spAutoFit/>
          </a:bodyPr>
          <a:lstStyle/>
          <a:p>
            <a:pPr algn="ctr"/>
            <a:r>
              <a:rPr sz="1200" b="1">
                <a:solidFill>
                  <a:srgbClr val="FFFFFF"/>
                </a:solidFill>
                <a:latin typeface="Aptos"/>
              </a:rPr>
              <a:t>LR</a:t>
            </a:r>
          </a:p>
        </p:txBody>
      </p:sp>
      <p:sp>
        <p:nvSpPr>
          <p:cNvPr id="9" name="TextBox 8"/>
          <p:cNvSpPr txBox="1"/>
          <p:nvPr/>
        </p:nvSpPr>
        <p:spPr>
          <a:xfrm>
            <a:off x="1389888" y="1408176"/>
            <a:ext cx="2148840" cy="384048"/>
          </a:xfrm>
          <a:prstGeom prst="rect">
            <a:avLst/>
          </a:prstGeom>
          <a:noFill/>
        </p:spPr>
        <p:txBody>
          <a:bodyPr wrap="square" anchor="ctr">
            <a:spAutoFit/>
          </a:bodyPr>
          <a:lstStyle/>
          <a:p>
            <a:pPr algn="l"/>
            <a:r>
              <a:rPr sz="1200" b="1">
                <a:solidFill>
                  <a:srgbClr val="23303A"/>
                </a:solidFill>
                <a:latin typeface="Aptos"/>
              </a:rPr>
              <a:t>Logistic Regression</a:t>
            </a:r>
          </a:p>
        </p:txBody>
      </p:sp>
      <p:sp>
        <p:nvSpPr>
          <p:cNvPr id="10" name="TextBox 9"/>
          <p:cNvSpPr txBox="1"/>
          <p:nvPr/>
        </p:nvSpPr>
        <p:spPr>
          <a:xfrm>
            <a:off x="3429000" y="1408176"/>
            <a:ext cx="2834640" cy="384048"/>
          </a:xfrm>
          <a:prstGeom prst="rect">
            <a:avLst/>
          </a:prstGeom>
          <a:noFill/>
        </p:spPr>
        <p:txBody>
          <a:bodyPr wrap="square" anchor="ctr">
            <a:spAutoFit/>
          </a:bodyPr>
          <a:lstStyle/>
          <a:p>
            <a:pPr algn="l"/>
            <a:r>
              <a:rPr sz="1200" b="0">
                <a:solidFill>
                  <a:srgbClr val="0A304C"/>
                </a:solidFill>
                <a:latin typeface="Aptos"/>
              </a:rPr>
              <a:t>→  [P(CN), P(MCI), P(AD)]</a:t>
            </a:r>
          </a:p>
        </p:txBody>
      </p:sp>
      <p:sp>
        <p:nvSpPr>
          <p:cNvPr id="11" name="Rounded Rectangle 10"/>
          <p:cNvSpPr/>
          <p:nvPr/>
        </p:nvSpPr>
        <p:spPr>
          <a:xfrm>
            <a:off x="594360" y="2167128"/>
            <a:ext cx="658368" cy="384048"/>
          </a:xfrm>
          <a:prstGeom prst="roundRect">
            <a:avLst/>
          </a:prstGeom>
          <a:solidFill>
            <a:srgbClr val="6F4EA0"/>
          </a:solidFill>
          <a:ln>
            <a:solidFill>
              <a:srgbClr val="6F4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2185416"/>
            <a:ext cx="658368" cy="310896"/>
          </a:xfrm>
          <a:prstGeom prst="rect">
            <a:avLst/>
          </a:prstGeom>
          <a:noFill/>
        </p:spPr>
        <p:txBody>
          <a:bodyPr wrap="square" anchor="ctr">
            <a:spAutoFit/>
          </a:bodyPr>
          <a:lstStyle/>
          <a:p>
            <a:pPr algn="ctr"/>
            <a:r>
              <a:rPr sz="1200" b="1">
                <a:solidFill>
                  <a:srgbClr val="FFFFFF"/>
                </a:solidFill>
                <a:latin typeface="Aptos"/>
              </a:rPr>
              <a:t>SVM</a:t>
            </a:r>
          </a:p>
        </p:txBody>
      </p:sp>
      <p:sp>
        <p:nvSpPr>
          <p:cNvPr id="13" name="TextBox 12"/>
          <p:cNvSpPr txBox="1"/>
          <p:nvPr/>
        </p:nvSpPr>
        <p:spPr>
          <a:xfrm>
            <a:off x="1389888" y="2157984"/>
            <a:ext cx="2148840" cy="384048"/>
          </a:xfrm>
          <a:prstGeom prst="rect">
            <a:avLst/>
          </a:prstGeom>
          <a:noFill/>
        </p:spPr>
        <p:txBody>
          <a:bodyPr wrap="square" anchor="ctr">
            <a:spAutoFit/>
          </a:bodyPr>
          <a:lstStyle/>
          <a:p>
            <a:pPr algn="l"/>
            <a:r>
              <a:rPr sz="1200" b="1">
                <a:solidFill>
                  <a:srgbClr val="23303A"/>
                </a:solidFill>
                <a:latin typeface="Aptos"/>
              </a:rPr>
              <a:t>RBF Support Vector Machine</a:t>
            </a:r>
          </a:p>
        </p:txBody>
      </p:sp>
      <p:sp>
        <p:nvSpPr>
          <p:cNvPr id="14" name="TextBox 13"/>
          <p:cNvSpPr txBox="1"/>
          <p:nvPr/>
        </p:nvSpPr>
        <p:spPr>
          <a:xfrm>
            <a:off x="3429000" y="2157984"/>
            <a:ext cx="2834640" cy="384048"/>
          </a:xfrm>
          <a:prstGeom prst="rect">
            <a:avLst/>
          </a:prstGeom>
          <a:noFill/>
        </p:spPr>
        <p:txBody>
          <a:bodyPr wrap="square" anchor="ctr">
            <a:spAutoFit/>
          </a:bodyPr>
          <a:lstStyle/>
          <a:p>
            <a:pPr algn="l"/>
            <a:r>
              <a:rPr sz="1200" b="0">
                <a:solidFill>
                  <a:srgbClr val="0A304C"/>
                </a:solidFill>
                <a:latin typeface="Aptos"/>
              </a:rPr>
              <a:t>→  [P(CN), P(MCI), P(AD)]</a:t>
            </a:r>
          </a:p>
        </p:txBody>
      </p:sp>
      <p:sp>
        <p:nvSpPr>
          <p:cNvPr id="15" name="Rounded Rectangle 14"/>
          <p:cNvSpPr/>
          <p:nvPr/>
        </p:nvSpPr>
        <p:spPr>
          <a:xfrm>
            <a:off x="594360" y="2916936"/>
            <a:ext cx="658368" cy="384048"/>
          </a:xfrm>
          <a:prstGeom prst="roundRect">
            <a:avLst/>
          </a:prstGeom>
          <a:solidFill>
            <a:srgbClr val="279A85"/>
          </a:solidFill>
          <a:ln>
            <a:solidFill>
              <a:srgbClr val="279A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2935224"/>
            <a:ext cx="658368" cy="310896"/>
          </a:xfrm>
          <a:prstGeom prst="rect">
            <a:avLst/>
          </a:prstGeom>
          <a:noFill/>
        </p:spPr>
        <p:txBody>
          <a:bodyPr wrap="square" anchor="ctr">
            <a:spAutoFit/>
          </a:bodyPr>
          <a:lstStyle/>
          <a:p>
            <a:pPr algn="ctr"/>
            <a:r>
              <a:rPr sz="1200" b="1">
                <a:solidFill>
                  <a:srgbClr val="FFFFFF"/>
                </a:solidFill>
                <a:latin typeface="Aptos"/>
              </a:rPr>
              <a:t>RF</a:t>
            </a:r>
          </a:p>
        </p:txBody>
      </p:sp>
      <p:sp>
        <p:nvSpPr>
          <p:cNvPr id="17" name="TextBox 16"/>
          <p:cNvSpPr txBox="1"/>
          <p:nvPr/>
        </p:nvSpPr>
        <p:spPr>
          <a:xfrm>
            <a:off x="1389888" y="2907792"/>
            <a:ext cx="2148840" cy="384048"/>
          </a:xfrm>
          <a:prstGeom prst="rect">
            <a:avLst/>
          </a:prstGeom>
          <a:noFill/>
        </p:spPr>
        <p:txBody>
          <a:bodyPr wrap="square" anchor="ctr">
            <a:spAutoFit/>
          </a:bodyPr>
          <a:lstStyle/>
          <a:p>
            <a:pPr algn="l"/>
            <a:r>
              <a:rPr sz="1200" b="1">
                <a:solidFill>
                  <a:srgbClr val="23303A"/>
                </a:solidFill>
                <a:latin typeface="Aptos"/>
              </a:rPr>
              <a:t>Random Forest</a:t>
            </a:r>
          </a:p>
        </p:txBody>
      </p:sp>
      <p:sp>
        <p:nvSpPr>
          <p:cNvPr id="18" name="TextBox 17"/>
          <p:cNvSpPr txBox="1"/>
          <p:nvPr/>
        </p:nvSpPr>
        <p:spPr>
          <a:xfrm>
            <a:off x="3429000" y="2907792"/>
            <a:ext cx="2834640" cy="384048"/>
          </a:xfrm>
          <a:prstGeom prst="rect">
            <a:avLst/>
          </a:prstGeom>
          <a:noFill/>
        </p:spPr>
        <p:txBody>
          <a:bodyPr wrap="square" anchor="ctr">
            <a:spAutoFit/>
          </a:bodyPr>
          <a:lstStyle/>
          <a:p>
            <a:pPr algn="l"/>
            <a:r>
              <a:rPr sz="1200" b="0">
                <a:solidFill>
                  <a:srgbClr val="0A304C"/>
                </a:solidFill>
                <a:latin typeface="Aptos"/>
              </a:rPr>
              <a:t>→  [P(CN), P(MCI), P(AD)]</a:t>
            </a:r>
          </a:p>
        </p:txBody>
      </p:sp>
      <p:sp>
        <p:nvSpPr>
          <p:cNvPr id="19" name="Rounded Rectangle 18"/>
          <p:cNvSpPr/>
          <p:nvPr/>
        </p:nvSpPr>
        <p:spPr>
          <a:xfrm>
            <a:off x="594360" y="3666744"/>
            <a:ext cx="658368" cy="384048"/>
          </a:xfrm>
          <a:prstGeom prst="roundRect">
            <a:avLst/>
          </a:prstGeom>
          <a:solidFill>
            <a:srgbClr val="DA9D2B"/>
          </a:solidFill>
          <a:ln>
            <a:solidFill>
              <a:srgbClr val="DA9D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3685031"/>
            <a:ext cx="658368" cy="310896"/>
          </a:xfrm>
          <a:prstGeom prst="rect">
            <a:avLst/>
          </a:prstGeom>
          <a:noFill/>
        </p:spPr>
        <p:txBody>
          <a:bodyPr wrap="square" anchor="ctr">
            <a:spAutoFit/>
          </a:bodyPr>
          <a:lstStyle/>
          <a:p>
            <a:pPr algn="ctr"/>
            <a:r>
              <a:rPr sz="1200" b="1">
                <a:solidFill>
                  <a:srgbClr val="FFFFFF"/>
                </a:solidFill>
                <a:latin typeface="Aptos"/>
              </a:rPr>
              <a:t>XGB</a:t>
            </a:r>
          </a:p>
        </p:txBody>
      </p:sp>
      <p:sp>
        <p:nvSpPr>
          <p:cNvPr id="21" name="TextBox 20"/>
          <p:cNvSpPr txBox="1"/>
          <p:nvPr/>
        </p:nvSpPr>
        <p:spPr>
          <a:xfrm>
            <a:off x="1389888" y="3657600"/>
            <a:ext cx="2148840" cy="384048"/>
          </a:xfrm>
          <a:prstGeom prst="rect">
            <a:avLst/>
          </a:prstGeom>
          <a:noFill/>
        </p:spPr>
        <p:txBody>
          <a:bodyPr wrap="square" anchor="ctr">
            <a:spAutoFit/>
          </a:bodyPr>
          <a:lstStyle/>
          <a:p>
            <a:pPr algn="l"/>
            <a:r>
              <a:rPr sz="1200" b="1">
                <a:solidFill>
                  <a:srgbClr val="23303A"/>
                </a:solidFill>
                <a:latin typeface="Aptos"/>
              </a:rPr>
              <a:t>XGBoost</a:t>
            </a:r>
          </a:p>
        </p:txBody>
      </p:sp>
      <p:sp>
        <p:nvSpPr>
          <p:cNvPr id="22" name="TextBox 21"/>
          <p:cNvSpPr txBox="1"/>
          <p:nvPr/>
        </p:nvSpPr>
        <p:spPr>
          <a:xfrm>
            <a:off x="3429000" y="3657600"/>
            <a:ext cx="2834640" cy="384048"/>
          </a:xfrm>
          <a:prstGeom prst="rect">
            <a:avLst/>
          </a:prstGeom>
          <a:noFill/>
        </p:spPr>
        <p:txBody>
          <a:bodyPr wrap="square" anchor="ctr">
            <a:spAutoFit/>
          </a:bodyPr>
          <a:lstStyle/>
          <a:p>
            <a:pPr algn="l"/>
            <a:r>
              <a:rPr sz="1200" b="0">
                <a:solidFill>
                  <a:srgbClr val="0A304C"/>
                </a:solidFill>
                <a:latin typeface="Aptos"/>
              </a:rPr>
              <a:t>→  [P(CN), P(MCI), P(AD)]</a:t>
            </a:r>
          </a:p>
        </p:txBody>
      </p:sp>
      <p:sp>
        <p:nvSpPr>
          <p:cNvPr id="23" name="Rounded Rectangle 22"/>
          <p:cNvSpPr/>
          <p:nvPr/>
        </p:nvSpPr>
        <p:spPr>
          <a:xfrm>
            <a:off x="594360" y="4416552"/>
            <a:ext cx="658368" cy="384048"/>
          </a:xfrm>
          <a:prstGeom prst="roundRect">
            <a:avLst/>
          </a:prstGeom>
          <a:solidFill>
            <a:srgbClr val="C24B44"/>
          </a:solidFill>
          <a:ln>
            <a:solidFill>
              <a:srgbClr val="C24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 y="4434840"/>
            <a:ext cx="658368" cy="310896"/>
          </a:xfrm>
          <a:prstGeom prst="rect">
            <a:avLst/>
          </a:prstGeom>
          <a:noFill/>
        </p:spPr>
        <p:txBody>
          <a:bodyPr wrap="square" anchor="ctr">
            <a:spAutoFit/>
          </a:bodyPr>
          <a:lstStyle/>
          <a:p>
            <a:pPr algn="ctr"/>
            <a:r>
              <a:rPr sz="1200" b="1">
                <a:solidFill>
                  <a:srgbClr val="FFFFFF"/>
                </a:solidFill>
                <a:latin typeface="Aptos"/>
              </a:rPr>
              <a:t>MLP</a:t>
            </a:r>
          </a:p>
        </p:txBody>
      </p:sp>
      <p:sp>
        <p:nvSpPr>
          <p:cNvPr id="25" name="TextBox 24"/>
          <p:cNvSpPr txBox="1"/>
          <p:nvPr/>
        </p:nvSpPr>
        <p:spPr>
          <a:xfrm>
            <a:off x="1389888" y="4407408"/>
            <a:ext cx="2148840" cy="384048"/>
          </a:xfrm>
          <a:prstGeom prst="rect">
            <a:avLst/>
          </a:prstGeom>
          <a:noFill/>
        </p:spPr>
        <p:txBody>
          <a:bodyPr wrap="square" anchor="ctr">
            <a:spAutoFit/>
          </a:bodyPr>
          <a:lstStyle/>
          <a:p>
            <a:pPr algn="l"/>
            <a:r>
              <a:rPr sz="1200" b="1">
                <a:solidFill>
                  <a:srgbClr val="23303A"/>
                </a:solidFill>
                <a:latin typeface="Aptos"/>
              </a:rPr>
              <a:t>Neural Network</a:t>
            </a:r>
          </a:p>
        </p:txBody>
      </p:sp>
      <p:sp>
        <p:nvSpPr>
          <p:cNvPr id="26" name="TextBox 25"/>
          <p:cNvSpPr txBox="1"/>
          <p:nvPr/>
        </p:nvSpPr>
        <p:spPr>
          <a:xfrm>
            <a:off x="3429000" y="4407408"/>
            <a:ext cx="2834640" cy="384048"/>
          </a:xfrm>
          <a:prstGeom prst="rect">
            <a:avLst/>
          </a:prstGeom>
          <a:noFill/>
        </p:spPr>
        <p:txBody>
          <a:bodyPr wrap="square" anchor="ctr">
            <a:spAutoFit/>
          </a:bodyPr>
          <a:lstStyle/>
          <a:p>
            <a:pPr algn="l"/>
            <a:r>
              <a:rPr sz="1200" b="0">
                <a:solidFill>
                  <a:srgbClr val="0A304C"/>
                </a:solidFill>
                <a:latin typeface="Aptos"/>
              </a:rPr>
              <a:t>→  [P(CN), P(MCI), P(AD)]</a:t>
            </a:r>
          </a:p>
        </p:txBody>
      </p:sp>
      <p:sp>
        <p:nvSpPr>
          <p:cNvPr id="27" name="Rounded Rectangle 26"/>
          <p:cNvSpPr/>
          <p:nvPr/>
        </p:nvSpPr>
        <p:spPr>
          <a:xfrm>
            <a:off x="6629400" y="1417320"/>
            <a:ext cx="4937760" cy="3794760"/>
          </a:xfrm>
          <a:prstGeom prst="roundRect">
            <a:avLst/>
          </a:prstGeom>
          <a:solidFill>
            <a:srgbClr val="F4F7F9"/>
          </a:solidFill>
          <a:ln>
            <a:solidFill>
              <a:srgbClr val="D2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03720" y="1645920"/>
            <a:ext cx="4389120" cy="320040"/>
          </a:xfrm>
          <a:prstGeom prst="rect">
            <a:avLst/>
          </a:prstGeom>
          <a:noFill/>
        </p:spPr>
        <p:txBody>
          <a:bodyPr wrap="square" anchor="ctr">
            <a:spAutoFit/>
          </a:bodyPr>
          <a:lstStyle/>
          <a:p>
            <a:pPr algn="l"/>
            <a:r>
              <a:rPr sz="1600" b="1">
                <a:solidFill>
                  <a:srgbClr val="0A304C"/>
                </a:solidFill>
                <a:latin typeface="Aptos"/>
              </a:rPr>
              <a:t>Three ensemble configurations</a:t>
            </a:r>
          </a:p>
        </p:txBody>
      </p:sp>
      <p:sp>
        <p:nvSpPr>
          <p:cNvPr id="29" name="TextBox 28"/>
          <p:cNvSpPr txBox="1"/>
          <p:nvPr/>
        </p:nvSpPr>
        <p:spPr>
          <a:xfrm>
            <a:off x="6903720" y="2130552"/>
            <a:ext cx="4389120" cy="566928"/>
          </a:xfrm>
          <a:prstGeom prst="rect">
            <a:avLst/>
          </a:prstGeom>
          <a:noFill/>
        </p:spPr>
        <p:txBody>
          <a:bodyPr wrap="square" anchor="ctr">
            <a:spAutoFit/>
          </a:bodyPr>
          <a:lstStyle/>
          <a:p>
            <a:pPr algn="l"/>
            <a:r>
              <a:rPr sz="1300" b="1">
                <a:solidFill>
                  <a:srgbClr val="117E8F"/>
                </a:solidFill>
                <a:latin typeface="Aptos"/>
              </a:rPr>
              <a:t>A  Soft Voting
Mean of the five probability vectors</a:t>
            </a:r>
          </a:p>
        </p:txBody>
      </p:sp>
      <p:sp>
        <p:nvSpPr>
          <p:cNvPr id="30" name="TextBox 29"/>
          <p:cNvSpPr txBox="1"/>
          <p:nvPr/>
        </p:nvSpPr>
        <p:spPr>
          <a:xfrm>
            <a:off x="6903720" y="2889504"/>
            <a:ext cx="4389120" cy="676656"/>
          </a:xfrm>
          <a:prstGeom prst="rect">
            <a:avLst/>
          </a:prstGeom>
          <a:noFill/>
        </p:spPr>
        <p:txBody>
          <a:bodyPr wrap="square" anchor="ctr">
            <a:spAutoFit/>
          </a:bodyPr>
          <a:lstStyle/>
          <a:p>
            <a:pPr algn="l"/>
            <a:r>
              <a:rPr sz="1300" b="1">
                <a:solidFill>
                  <a:srgbClr val="DA9D2B"/>
                </a:solidFill>
                <a:latin typeface="Aptos"/>
              </a:rPr>
              <a:t>B  Weighted Soft Voting
Pₑ(c|X) = Σₘ wₘ Pₘ(c|X),   Σₘ wₘ = 1</a:t>
            </a:r>
          </a:p>
        </p:txBody>
      </p:sp>
      <p:sp>
        <p:nvSpPr>
          <p:cNvPr id="31" name="TextBox 30"/>
          <p:cNvSpPr txBox="1"/>
          <p:nvPr/>
        </p:nvSpPr>
        <p:spPr>
          <a:xfrm>
            <a:off x="6903720" y="3794760"/>
            <a:ext cx="4389120" cy="914400"/>
          </a:xfrm>
          <a:prstGeom prst="rect">
            <a:avLst/>
          </a:prstGeom>
          <a:noFill/>
        </p:spPr>
        <p:txBody>
          <a:bodyPr wrap="square" anchor="ctr">
            <a:spAutoFit/>
          </a:bodyPr>
          <a:lstStyle/>
          <a:p>
            <a:pPr algn="l"/>
            <a:r>
              <a:rPr sz="1300" b="1">
                <a:solidFill>
                  <a:srgbClr val="6F4EA0"/>
                </a:solidFill>
                <a:latin typeface="Aptos"/>
              </a:rPr>
              <a:t>C  Stacking
Z = [P_LR, P_SVM, P_RF, P_XGB, P_MLP]
Logistic Regression meta-learner uses out-of-fold predictions.</a:t>
            </a:r>
          </a:p>
        </p:txBody>
      </p:sp>
      <p:sp>
        <p:nvSpPr>
          <p:cNvPr id="32" name="TextBox 31"/>
          <p:cNvSpPr txBox="1"/>
          <p:nvPr/>
        </p:nvSpPr>
        <p:spPr>
          <a:xfrm>
            <a:off x="594360" y="5532120"/>
            <a:ext cx="10972800" cy="384048"/>
          </a:xfrm>
          <a:prstGeom prst="rect">
            <a:avLst/>
          </a:prstGeom>
          <a:noFill/>
        </p:spPr>
        <p:txBody>
          <a:bodyPr wrap="square" anchor="ctr">
            <a:spAutoFit/>
          </a:bodyPr>
          <a:lstStyle/>
          <a:p>
            <a:pPr algn="ctr"/>
            <a:r>
              <a:rPr sz="1600" b="1">
                <a:solidFill>
                  <a:srgbClr val="0A304C"/>
                </a:solidFill>
                <a:latin typeface="Aptos"/>
              </a:rPr>
              <a:t>Core comparison: 5 individual models + 3 ensemble configurations = 8 predictive configurations.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1064240" cy="228600"/>
          </a:xfrm>
          <a:prstGeom prst="rect">
            <a:avLst/>
          </a:prstGeom>
          <a:noFill/>
        </p:spPr>
        <p:txBody>
          <a:bodyPr wrap="square" anchor="ctr">
            <a:spAutoFit/>
          </a:bodyPr>
          <a:lstStyle/>
          <a:p>
            <a:pPr algn="l"/>
            <a:r>
              <a:rPr sz="1000" b="1">
                <a:solidFill>
                  <a:srgbClr val="117E8F"/>
                </a:solidFill>
                <a:latin typeface="Aptos"/>
              </a:rPr>
              <a:t>TWO DIFFERENT AI QUESTIONS</a:t>
            </a:r>
          </a:p>
        </p:txBody>
      </p:sp>
      <p:sp>
        <p:nvSpPr>
          <p:cNvPr id="3" name="TextBox 2"/>
          <p:cNvSpPr txBox="1"/>
          <p:nvPr/>
        </p:nvSpPr>
        <p:spPr>
          <a:xfrm>
            <a:off x="502920" y="438912"/>
            <a:ext cx="11064240" cy="502920"/>
          </a:xfrm>
          <a:prstGeom prst="rect">
            <a:avLst/>
          </a:prstGeom>
          <a:noFill/>
        </p:spPr>
        <p:txBody>
          <a:bodyPr wrap="square" anchor="ctr">
            <a:spAutoFit/>
          </a:bodyPr>
          <a:lstStyle/>
          <a:p>
            <a:pPr algn="l"/>
            <a:r>
              <a:rPr sz="2500" b="1">
                <a:solidFill>
                  <a:srgbClr val="0A304C"/>
                </a:solidFill>
                <a:latin typeface="Aptos"/>
              </a:rPr>
              <a:t>Current-state classification vs future progression</a:t>
            </a:r>
          </a:p>
        </p:txBody>
      </p:sp>
      <p:sp>
        <p:nvSpPr>
          <p:cNvPr id="4" name="TextBox 3"/>
          <p:cNvSpPr txBox="1"/>
          <p:nvPr/>
        </p:nvSpPr>
        <p:spPr>
          <a:xfrm>
            <a:off x="502920" y="941832"/>
            <a:ext cx="10972800" cy="347472"/>
          </a:xfrm>
          <a:prstGeom prst="rect">
            <a:avLst/>
          </a:prstGeom>
          <a:noFill/>
        </p:spPr>
        <p:txBody>
          <a:bodyPr wrap="square" anchor="ctr">
            <a:spAutoFit/>
          </a:bodyPr>
          <a:lstStyle/>
          <a:p>
            <a:pPr algn="l"/>
            <a:r>
              <a:rPr sz="1200" b="0">
                <a:solidFill>
                  <a:srgbClr val="5C6C77"/>
                </a:solidFill>
                <a:latin typeface="Aptos"/>
              </a:rPr>
              <a:t>The project separates recognition of the current disease state from prospective prediction of what happens next.</a:t>
            </a:r>
          </a:p>
        </p:txBody>
      </p:sp>
      <p:sp>
        <p:nvSpPr>
          <p:cNvPr id="5" name="TextBox 4"/>
          <p:cNvSpPr txBox="1"/>
          <p:nvPr/>
        </p:nvSpPr>
        <p:spPr>
          <a:xfrm>
            <a:off x="502920" y="6510528"/>
            <a:ext cx="8961120" cy="182880"/>
          </a:xfrm>
          <a:prstGeom prst="rect">
            <a:avLst/>
          </a:prstGeom>
          <a:noFill/>
        </p:spPr>
        <p:txBody>
          <a:bodyPr wrap="square" anchor="ctr">
            <a:spAutoFit/>
          </a:bodyPr>
          <a:lstStyle/>
          <a:p>
            <a:pPr algn="l"/>
            <a:r>
              <a:rPr sz="900" b="0">
                <a:solidFill>
                  <a:srgbClr val="5C6C77"/>
                </a:solidFill>
                <a:latin typeface="Aptos"/>
              </a:rPr>
              <a:t>NeuroFusion-AI  •  ADNI  •  Multimodal ML  •  Longitudinal Prediction</a:t>
            </a:r>
          </a:p>
        </p:txBody>
      </p:sp>
      <p:sp>
        <p:nvSpPr>
          <p:cNvPr id="6" name="TextBox 5"/>
          <p:cNvSpPr txBox="1"/>
          <p:nvPr/>
        </p:nvSpPr>
        <p:spPr>
          <a:xfrm>
            <a:off x="10241280" y="6492240"/>
            <a:ext cx="1417320" cy="201168"/>
          </a:xfrm>
          <a:prstGeom prst="rect">
            <a:avLst/>
          </a:prstGeom>
          <a:noFill/>
        </p:spPr>
        <p:txBody>
          <a:bodyPr wrap="square" anchor="ctr">
            <a:spAutoFit/>
          </a:bodyPr>
          <a:lstStyle/>
          <a:p>
            <a:pPr algn="r"/>
            <a:r>
              <a:rPr sz="900" b="1">
                <a:solidFill>
                  <a:srgbClr val="0A304C"/>
                </a:solidFill>
                <a:latin typeface="Aptos"/>
              </a:rPr>
              <a:t>MASTER’S PROJECT</a:t>
            </a:r>
          </a:p>
        </p:txBody>
      </p:sp>
      <p:sp>
        <p:nvSpPr>
          <p:cNvPr id="7" name="Rounded Rectangle 6"/>
          <p:cNvSpPr/>
          <p:nvPr/>
        </p:nvSpPr>
        <p:spPr>
          <a:xfrm>
            <a:off x="594360" y="1417320"/>
            <a:ext cx="5257800" cy="4251960"/>
          </a:xfrm>
          <a:prstGeom prst="roundRect">
            <a:avLst/>
          </a:prstGeom>
          <a:solidFill>
            <a:srgbClr val="F4F7F9"/>
          </a:solidFill>
          <a:ln>
            <a:solidFill>
              <a:srgbClr val="D2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63640" y="1417320"/>
            <a:ext cx="5303520" cy="4251960"/>
          </a:xfrm>
          <a:prstGeom prst="roundRect">
            <a:avLst/>
          </a:prstGeom>
          <a:solidFill>
            <a:srgbClr val="F4F7F9"/>
          </a:solidFill>
          <a:ln>
            <a:solidFill>
              <a:srgbClr val="D2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41248" y="1645920"/>
            <a:ext cx="1143000" cy="384048"/>
          </a:xfrm>
          <a:prstGeom prst="roundRect">
            <a:avLst/>
          </a:prstGeom>
          <a:solidFill>
            <a:srgbClr val="117E8F"/>
          </a:solidFill>
          <a:ln>
            <a:solidFill>
              <a:srgbClr val="117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1664208"/>
            <a:ext cx="1143000" cy="310896"/>
          </a:xfrm>
          <a:prstGeom prst="rect">
            <a:avLst/>
          </a:prstGeom>
          <a:noFill/>
        </p:spPr>
        <p:txBody>
          <a:bodyPr wrap="square" anchor="ctr">
            <a:spAutoFit/>
          </a:bodyPr>
          <a:lstStyle/>
          <a:p>
            <a:pPr algn="ctr"/>
            <a:r>
              <a:rPr sz="1200" b="1">
                <a:solidFill>
                  <a:srgbClr val="FFFFFF"/>
                </a:solidFill>
                <a:latin typeface="Aptos"/>
              </a:rPr>
              <a:t>TASK A</a:t>
            </a:r>
          </a:p>
        </p:txBody>
      </p:sp>
      <p:sp>
        <p:nvSpPr>
          <p:cNvPr id="11" name="TextBox 10"/>
          <p:cNvSpPr txBox="1"/>
          <p:nvPr/>
        </p:nvSpPr>
        <p:spPr>
          <a:xfrm>
            <a:off x="2176272" y="1618488"/>
            <a:ext cx="3246120" cy="411480"/>
          </a:xfrm>
          <a:prstGeom prst="rect">
            <a:avLst/>
          </a:prstGeom>
          <a:noFill/>
        </p:spPr>
        <p:txBody>
          <a:bodyPr wrap="square" anchor="ctr">
            <a:spAutoFit/>
          </a:bodyPr>
          <a:lstStyle/>
          <a:p>
            <a:pPr algn="l"/>
            <a:r>
              <a:rPr sz="1700" b="1">
                <a:solidFill>
                  <a:srgbClr val="0A304C"/>
                </a:solidFill>
                <a:latin typeface="Aptos"/>
              </a:rPr>
              <a:t>CN / MCI / AD classification</a:t>
            </a:r>
          </a:p>
        </p:txBody>
      </p:sp>
      <p:sp>
        <p:nvSpPr>
          <p:cNvPr id="12" name="TextBox 11"/>
          <p:cNvSpPr txBox="1"/>
          <p:nvPr/>
        </p:nvSpPr>
        <p:spPr>
          <a:xfrm>
            <a:off x="868680" y="2240280"/>
            <a:ext cx="4617720" cy="530352"/>
          </a:xfrm>
          <a:prstGeom prst="rect">
            <a:avLst/>
          </a:prstGeom>
          <a:noFill/>
        </p:spPr>
        <p:txBody>
          <a:bodyPr wrap="square" anchor="ctr">
            <a:spAutoFit/>
          </a:bodyPr>
          <a:lstStyle/>
          <a:p>
            <a:pPr algn="l"/>
            <a:r>
              <a:rPr sz="1400" b="1">
                <a:solidFill>
                  <a:srgbClr val="23303A"/>
                </a:solidFill>
                <a:latin typeface="Aptos"/>
              </a:rPr>
              <a:t>Question: “What is the participant’s current disease state?”</a:t>
            </a:r>
          </a:p>
        </p:txBody>
      </p:sp>
      <p:sp>
        <p:nvSpPr>
          <p:cNvPr id="13" name="TextBox 12"/>
          <p:cNvSpPr txBox="1"/>
          <p:nvPr/>
        </p:nvSpPr>
        <p:spPr>
          <a:xfrm>
            <a:off x="868680" y="2953512"/>
            <a:ext cx="4617720" cy="502920"/>
          </a:xfrm>
          <a:prstGeom prst="rect">
            <a:avLst/>
          </a:prstGeom>
          <a:noFill/>
        </p:spPr>
        <p:txBody>
          <a:bodyPr wrap="square" anchor="ctr">
            <a:spAutoFit/>
          </a:bodyPr>
          <a:lstStyle/>
          <a:p>
            <a:pPr algn="ctr"/>
            <a:r>
              <a:rPr sz="2100" b="1">
                <a:solidFill>
                  <a:srgbClr val="117E8F"/>
                </a:solidFill>
                <a:latin typeface="Aptos"/>
              </a:rPr>
              <a:t>Xₜ  →  { CN, MCI, AD }</a:t>
            </a:r>
          </a:p>
        </p:txBody>
      </p:sp>
      <p:sp>
        <p:nvSpPr>
          <p:cNvPr id="14" name="TextBox 13"/>
          <p:cNvSpPr txBox="1"/>
          <p:nvPr/>
        </p:nvSpPr>
        <p:spPr>
          <a:xfrm>
            <a:off x="868680" y="3749039"/>
            <a:ext cx="4617720" cy="731520"/>
          </a:xfrm>
          <a:prstGeom prst="rect">
            <a:avLst/>
          </a:prstGeom>
          <a:noFill/>
        </p:spPr>
        <p:txBody>
          <a:bodyPr wrap="square" anchor="ctr">
            <a:spAutoFit/>
          </a:bodyPr>
          <a:lstStyle/>
          <a:p>
            <a:pPr algn="l"/>
            <a:r>
              <a:rPr sz="1300" b="0">
                <a:solidFill>
                  <a:srgbClr val="23303A"/>
                </a:solidFill>
                <a:latin typeface="Aptos"/>
              </a:rPr>
              <a:t>Input: measurements available at a defined visit t.
Output: three-class probability distribution.</a:t>
            </a:r>
          </a:p>
        </p:txBody>
      </p:sp>
      <p:sp>
        <p:nvSpPr>
          <p:cNvPr id="15" name="TextBox 14"/>
          <p:cNvSpPr txBox="1"/>
          <p:nvPr/>
        </p:nvSpPr>
        <p:spPr>
          <a:xfrm>
            <a:off x="868680" y="4709160"/>
            <a:ext cx="4617720" cy="475488"/>
          </a:xfrm>
          <a:prstGeom prst="rect">
            <a:avLst/>
          </a:prstGeom>
          <a:noFill/>
        </p:spPr>
        <p:txBody>
          <a:bodyPr wrap="square" anchor="ctr">
            <a:spAutoFit/>
          </a:bodyPr>
          <a:lstStyle/>
          <a:p>
            <a:pPr algn="l"/>
            <a:r>
              <a:rPr sz="1200" b="1">
                <a:solidFill>
                  <a:srgbClr val="0A304C"/>
                </a:solidFill>
                <a:latin typeface="Aptos"/>
              </a:rPr>
              <a:t>Evaluation: Macro-F1 • class sensitivity • one-vs-rest AUROC • calibration</a:t>
            </a:r>
          </a:p>
        </p:txBody>
      </p:sp>
      <p:sp>
        <p:nvSpPr>
          <p:cNvPr id="16" name="Rounded Rectangle 15"/>
          <p:cNvSpPr/>
          <p:nvPr/>
        </p:nvSpPr>
        <p:spPr>
          <a:xfrm>
            <a:off x="6510528" y="1645920"/>
            <a:ext cx="1143000" cy="384048"/>
          </a:xfrm>
          <a:prstGeom prst="roundRect">
            <a:avLst/>
          </a:prstGeom>
          <a:solidFill>
            <a:srgbClr val="6F4EA0"/>
          </a:solidFill>
          <a:ln>
            <a:solidFill>
              <a:srgbClr val="6F4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10528" y="1664208"/>
            <a:ext cx="1143000" cy="310896"/>
          </a:xfrm>
          <a:prstGeom prst="rect">
            <a:avLst/>
          </a:prstGeom>
          <a:noFill/>
        </p:spPr>
        <p:txBody>
          <a:bodyPr wrap="square" anchor="ctr">
            <a:spAutoFit/>
          </a:bodyPr>
          <a:lstStyle/>
          <a:p>
            <a:pPr algn="ctr"/>
            <a:r>
              <a:rPr sz="1200" b="1">
                <a:solidFill>
                  <a:srgbClr val="FFFFFF"/>
                </a:solidFill>
                <a:latin typeface="Aptos"/>
              </a:rPr>
              <a:t>TASK B</a:t>
            </a:r>
          </a:p>
        </p:txBody>
      </p:sp>
      <p:sp>
        <p:nvSpPr>
          <p:cNvPr id="18" name="TextBox 17"/>
          <p:cNvSpPr txBox="1"/>
          <p:nvPr/>
        </p:nvSpPr>
        <p:spPr>
          <a:xfrm>
            <a:off x="7845552" y="1618488"/>
            <a:ext cx="3337560" cy="411480"/>
          </a:xfrm>
          <a:prstGeom prst="rect">
            <a:avLst/>
          </a:prstGeom>
          <a:noFill/>
        </p:spPr>
        <p:txBody>
          <a:bodyPr wrap="square" anchor="ctr">
            <a:spAutoFit/>
          </a:bodyPr>
          <a:lstStyle/>
          <a:p>
            <a:pPr algn="l"/>
            <a:r>
              <a:rPr sz="1700" b="1">
                <a:solidFill>
                  <a:srgbClr val="0A304C"/>
                </a:solidFill>
                <a:latin typeface="Aptos"/>
              </a:rPr>
              <a:t>MCI → AD progression</a:t>
            </a:r>
          </a:p>
        </p:txBody>
      </p:sp>
      <p:sp>
        <p:nvSpPr>
          <p:cNvPr id="19" name="TextBox 18"/>
          <p:cNvSpPr txBox="1"/>
          <p:nvPr/>
        </p:nvSpPr>
        <p:spPr>
          <a:xfrm>
            <a:off x="6537960" y="2240280"/>
            <a:ext cx="4617720" cy="530352"/>
          </a:xfrm>
          <a:prstGeom prst="rect">
            <a:avLst/>
          </a:prstGeom>
          <a:noFill/>
        </p:spPr>
        <p:txBody>
          <a:bodyPr wrap="square" anchor="ctr">
            <a:spAutoFit/>
          </a:bodyPr>
          <a:lstStyle/>
          <a:p>
            <a:pPr algn="l"/>
            <a:r>
              <a:rPr sz="1400" b="1">
                <a:solidFill>
                  <a:srgbClr val="23303A"/>
                </a:solidFill>
                <a:latin typeface="Aptos"/>
              </a:rPr>
              <a:t>Question: “Will a participant with MCI progress to AD within a future horizon?”</a:t>
            </a:r>
          </a:p>
        </p:txBody>
      </p:sp>
      <p:sp>
        <p:nvSpPr>
          <p:cNvPr id="20" name="TextBox 19"/>
          <p:cNvSpPr txBox="1"/>
          <p:nvPr/>
        </p:nvSpPr>
        <p:spPr>
          <a:xfrm>
            <a:off x="6537960" y="2953512"/>
            <a:ext cx="4617720" cy="566928"/>
          </a:xfrm>
          <a:prstGeom prst="rect">
            <a:avLst/>
          </a:prstGeom>
          <a:noFill/>
        </p:spPr>
        <p:txBody>
          <a:bodyPr wrap="square" anchor="ctr">
            <a:spAutoFit/>
          </a:bodyPr>
          <a:lstStyle/>
          <a:p>
            <a:pPr algn="ctr"/>
            <a:r>
              <a:rPr sz="1700" b="1">
                <a:solidFill>
                  <a:srgbClr val="6F4EA0"/>
                </a:solidFill>
                <a:latin typeface="Aptos"/>
              </a:rPr>
              <a:t>Xₜ≤t₀  →  P(MCI → AD within H months)</a:t>
            </a:r>
          </a:p>
        </p:txBody>
      </p:sp>
      <p:sp>
        <p:nvSpPr>
          <p:cNvPr id="21" name="TextBox 20"/>
          <p:cNvSpPr txBox="1"/>
          <p:nvPr/>
        </p:nvSpPr>
        <p:spPr>
          <a:xfrm>
            <a:off x="6537960" y="3749039"/>
            <a:ext cx="4617720" cy="731520"/>
          </a:xfrm>
          <a:prstGeom prst="rect">
            <a:avLst/>
          </a:prstGeom>
          <a:noFill/>
        </p:spPr>
        <p:txBody>
          <a:bodyPr wrap="square" anchor="ctr">
            <a:spAutoFit/>
          </a:bodyPr>
          <a:lstStyle/>
          <a:p>
            <a:pPr algn="l"/>
            <a:r>
              <a:rPr sz="1300" b="0">
                <a:solidFill>
                  <a:srgbClr val="23303A"/>
                </a:solidFill>
                <a:latin typeface="Aptos"/>
              </a:rPr>
              <a:t>Feature window: information at or before index t₀.
Outcome window: conversion strictly after t₀.</a:t>
            </a:r>
          </a:p>
        </p:txBody>
      </p:sp>
      <p:sp>
        <p:nvSpPr>
          <p:cNvPr id="22" name="TextBox 21"/>
          <p:cNvSpPr txBox="1"/>
          <p:nvPr/>
        </p:nvSpPr>
        <p:spPr>
          <a:xfrm>
            <a:off x="6537960" y="4709160"/>
            <a:ext cx="4617720" cy="475488"/>
          </a:xfrm>
          <a:prstGeom prst="rect">
            <a:avLst/>
          </a:prstGeom>
          <a:noFill/>
        </p:spPr>
        <p:txBody>
          <a:bodyPr wrap="square" anchor="ctr">
            <a:spAutoFit/>
          </a:bodyPr>
          <a:lstStyle/>
          <a:p>
            <a:pPr algn="l"/>
            <a:r>
              <a:rPr sz="1200" b="1">
                <a:solidFill>
                  <a:srgbClr val="0A304C"/>
                </a:solidFill>
                <a:latin typeface="Aptos"/>
              </a:rPr>
              <a:t>Candidate H: 12 / 24 / 36 months • selected after follow-up and class-count analysis</a:t>
            </a:r>
          </a:p>
        </p:txBody>
      </p:sp>
      <p:sp>
        <p:nvSpPr>
          <p:cNvPr id="23" name="TextBox 22"/>
          <p:cNvSpPr txBox="1"/>
          <p:nvPr/>
        </p:nvSpPr>
        <p:spPr>
          <a:xfrm>
            <a:off x="594360" y="5879592"/>
            <a:ext cx="10972800" cy="310896"/>
          </a:xfrm>
          <a:prstGeom prst="rect">
            <a:avLst/>
          </a:prstGeom>
          <a:noFill/>
        </p:spPr>
        <p:txBody>
          <a:bodyPr wrap="square" anchor="ctr">
            <a:spAutoFit/>
          </a:bodyPr>
          <a:lstStyle/>
          <a:p>
            <a:pPr algn="ctr"/>
            <a:r>
              <a:rPr sz="1300" b="1">
                <a:solidFill>
                  <a:srgbClr val="C24B44"/>
                </a:solidFill>
                <a:latin typeface="Aptos"/>
              </a:rPr>
              <a:t>Task B is longitudinal and prospective; Task A describes the participant’s state at the current visit.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3558"/>
        </a:solidFill>
        <a:effectLst/>
      </p:bgPr>
    </p:bg>
    <p:spTree>
      <p:nvGrpSpPr>
        <p:cNvPr id="1" name=""/>
        <p:cNvGrpSpPr/>
        <p:nvPr/>
      </p:nvGrpSpPr>
      <p:grpSpPr>
        <a:xfrm>
          <a:off x="0" y="0"/>
          <a:ext cx="0" cy="0"/>
          <a:chOff x="0" y="0"/>
          <a:chExt cx="0" cy="0"/>
        </a:xfrm>
      </p:grpSpPr>
      <p:sp>
        <p:nvSpPr>
          <p:cNvPr id="59" name="Text 0"/>
          <p:cNvSpPr/>
          <p:nvPr/>
        </p:nvSpPr>
        <p:spPr>
          <a:xfrm>
            <a:off x="640080" y="1005840"/>
            <a:ext cx="10969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400" b="1" u="none" strike="noStrike">
                <a:solidFill>
                  <a:srgbClr val="19A7A0"/>
                </a:solidFill>
                <a:effectLst/>
                <a:uFillTx/>
                <a:latin typeface="Aptos"/>
              </a:rPr>
              <a:t>01</a:t>
            </a:r>
            <a:endParaRPr lang="en-US" sz="4400" b="0" u="none" strike="noStrike">
              <a:solidFill>
                <a:srgbClr val="FFFFFF"/>
              </a:solidFill>
              <a:effectLst/>
              <a:uFillTx/>
              <a:latin typeface="Arial"/>
            </a:endParaRPr>
          </a:p>
        </p:txBody>
      </p:sp>
      <p:sp>
        <p:nvSpPr>
          <p:cNvPr id="60" name="Text 1"/>
          <p:cNvSpPr/>
          <p:nvPr/>
        </p:nvSpPr>
        <p:spPr>
          <a:xfrm>
            <a:off x="640080" y="1874520"/>
            <a:ext cx="105152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u="none" strike="noStrike">
                <a:solidFill>
                  <a:srgbClr val="FFFFFF"/>
                </a:solidFill>
                <a:effectLst/>
                <a:uFillTx/>
                <a:latin typeface="Aptos"/>
              </a:rPr>
              <a:t>Scientific problem</a:t>
            </a:r>
            <a:endParaRPr lang="en-US" sz="3400" b="0" u="none" strike="noStrike">
              <a:solidFill>
                <a:srgbClr val="FFFFFF"/>
              </a:solidFill>
              <a:effectLst/>
              <a:uFillTx/>
              <a:latin typeface="Arial"/>
            </a:endParaRPr>
          </a:p>
        </p:txBody>
      </p:sp>
      <p:sp>
        <p:nvSpPr>
          <p:cNvPr id="61" name="Text 2"/>
          <p:cNvSpPr/>
          <p:nvPr/>
        </p:nvSpPr>
        <p:spPr>
          <a:xfrm>
            <a:off x="658440" y="2743200"/>
            <a:ext cx="98751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u="none" strike="noStrike">
                <a:solidFill>
                  <a:srgbClr val="DCE7EF"/>
                </a:solidFill>
                <a:effectLst/>
                <a:uFillTx/>
                <a:latin typeface="Aptos"/>
              </a:rPr>
              <a:t>Alzheimer’s disease is heterogeneous and longitudinal. The project asks whether combining complementary evidence improves disease-state modelling and progression forecasting while remaining reliable and interpretable.</a:t>
            </a:r>
            <a:endParaRPr lang="en-US" sz="2000" b="0" u="none" strike="noStrike">
              <a:solidFill>
                <a:srgbClr val="FFFFFF"/>
              </a:solidFill>
              <a:effectLst/>
              <a:uFillTx/>
              <a:latin typeface="Arial"/>
            </a:endParaRPr>
          </a:p>
        </p:txBody>
      </p:sp>
      <p:sp>
        <p:nvSpPr>
          <p:cNvPr id="62" name="PlaceHolder 1"/>
          <p:cNvSpPr>
            <a:spLocks noGrp="1"/>
          </p:cNvSpPr>
          <p:nvPr>
            <p:ph type="sldNum" idx="7"/>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7</a:t>
            </a:r>
            <a:endParaRPr lang="en-US" sz="800" b="0" u="none" strike="noStrike">
              <a:solidFill>
                <a:srgbClr val="FFFFFF"/>
              </a:solidFill>
              <a:effectLst/>
              <a:uFillTx/>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 0"/>
          <p:cNvSpPr/>
          <p:nvPr/>
        </p:nvSpPr>
        <p:spPr>
          <a:xfrm>
            <a:off x="567000" y="384120"/>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11">
                <a:solidFill>
                  <a:srgbClr val="0F8B8D"/>
                </a:solidFill>
                <a:effectLst/>
                <a:uFillTx/>
                <a:latin typeface="Aptos"/>
              </a:rPr>
              <a:t>RESEARCH DESIGN</a:t>
            </a:r>
            <a:endParaRPr lang="en-US" sz="1000" b="0" u="none" strike="noStrike">
              <a:solidFill>
                <a:srgbClr val="000000"/>
              </a:solidFill>
              <a:effectLst/>
              <a:uFillTx/>
              <a:latin typeface="Arial"/>
            </a:endParaRPr>
          </a:p>
        </p:txBody>
      </p:sp>
      <p:sp>
        <p:nvSpPr>
          <p:cNvPr id="64"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Central research question</a:t>
            </a:r>
            <a:endParaRPr lang="en-US" sz="2800" b="0" u="none" strike="noStrike">
              <a:solidFill>
                <a:srgbClr val="000000"/>
              </a:solidFill>
              <a:effectLst/>
              <a:uFillTx/>
              <a:latin typeface="Arial"/>
            </a:endParaRPr>
          </a:p>
        </p:txBody>
      </p:sp>
      <p:sp>
        <p:nvSpPr>
          <p:cNvPr id="65" name="Shape 2"/>
          <p:cNvSpPr/>
          <p:nvPr/>
        </p:nvSpPr>
        <p:spPr>
          <a:xfrm>
            <a:off x="914400" y="1417320"/>
            <a:ext cx="10332360" cy="1325880"/>
          </a:xfrm>
          <a:prstGeom prst="roundRect">
            <a:avLst>
              <a:gd name="adj" fmla="val 16667"/>
            </a:avLst>
          </a:prstGeom>
          <a:solidFill>
            <a:srgbClr val="E7F3F3"/>
          </a:solidFill>
          <a:ln w="1905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6" name="Text 3"/>
          <p:cNvSpPr/>
          <p:nvPr/>
        </p:nvSpPr>
        <p:spPr>
          <a:xfrm>
            <a:off x="1234440" y="1719000"/>
            <a:ext cx="96922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dirty="0">
                <a:solidFill>
                  <a:srgbClr val="0B3558"/>
                </a:solidFill>
                <a:effectLst/>
                <a:uFillTx/>
                <a:latin typeface="Aptos"/>
              </a:rPr>
              <a:t>Can multimodal machine learning that integrates heterogeneous and longitudinal ADNI information improve CN/MCI/AD classification and MCI→AD progression prediction while remaining calibrated, interpretable and robust to missing modalities?</a:t>
            </a:r>
            <a:endParaRPr lang="en-US" sz="2000" b="0" u="none" strike="noStrike" dirty="0">
              <a:solidFill>
                <a:srgbClr val="000000"/>
              </a:solidFill>
              <a:effectLst/>
              <a:uFillTx/>
              <a:latin typeface="Arial"/>
            </a:endParaRPr>
          </a:p>
        </p:txBody>
      </p:sp>
      <p:sp>
        <p:nvSpPr>
          <p:cNvPr id="67" name="Shape 4"/>
          <p:cNvSpPr/>
          <p:nvPr/>
        </p:nvSpPr>
        <p:spPr>
          <a:xfrm>
            <a:off x="777240" y="3017520"/>
            <a:ext cx="2605680" cy="1919880"/>
          </a:xfrm>
          <a:prstGeom prst="roundRect">
            <a:avLst>
              <a:gd name="adj" fmla="val 2857"/>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8" name="Shape 5"/>
          <p:cNvSpPr/>
          <p:nvPr/>
        </p:nvSpPr>
        <p:spPr>
          <a:xfrm>
            <a:off x="777240" y="3017520"/>
            <a:ext cx="72720" cy="191988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9" name="Text 6"/>
          <p:cNvSpPr/>
          <p:nvPr/>
        </p:nvSpPr>
        <p:spPr>
          <a:xfrm>
            <a:off x="960120" y="3163680"/>
            <a:ext cx="2285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F8B8D"/>
                </a:solidFill>
                <a:effectLst/>
                <a:uFillTx/>
                <a:latin typeface="Aptos"/>
              </a:rPr>
              <a:t>H1 • Fusion</a:t>
            </a:r>
            <a:endParaRPr lang="en-US" sz="1500" b="0" u="none" strike="noStrike">
              <a:solidFill>
                <a:srgbClr val="000000"/>
              </a:solidFill>
              <a:effectLst/>
              <a:uFillTx/>
              <a:latin typeface="Arial"/>
            </a:endParaRPr>
          </a:p>
        </p:txBody>
      </p:sp>
      <p:sp>
        <p:nvSpPr>
          <p:cNvPr id="70" name="Text 7"/>
          <p:cNvSpPr/>
          <p:nvPr/>
        </p:nvSpPr>
        <p:spPr>
          <a:xfrm>
            <a:off x="960120" y="3547800"/>
            <a:ext cx="225828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Multimodal models should be compared against the best single-modality baseline.</a:t>
            </a:r>
            <a:endParaRPr lang="en-US" sz="1250" b="0" u="none" strike="noStrike">
              <a:solidFill>
                <a:srgbClr val="000000"/>
              </a:solidFill>
              <a:effectLst/>
              <a:uFillTx/>
              <a:latin typeface="Arial"/>
            </a:endParaRPr>
          </a:p>
        </p:txBody>
      </p:sp>
      <p:sp>
        <p:nvSpPr>
          <p:cNvPr id="71" name="Shape 8"/>
          <p:cNvSpPr/>
          <p:nvPr/>
        </p:nvSpPr>
        <p:spPr>
          <a:xfrm>
            <a:off x="3611880" y="3017520"/>
            <a:ext cx="2605680" cy="1919880"/>
          </a:xfrm>
          <a:prstGeom prst="roundRect">
            <a:avLst>
              <a:gd name="adj" fmla="val 2857"/>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2" name="Shape 9"/>
          <p:cNvSpPr/>
          <p:nvPr/>
        </p:nvSpPr>
        <p:spPr>
          <a:xfrm>
            <a:off x="3611880" y="3017520"/>
            <a:ext cx="72720" cy="1919880"/>
          </a:xfrm>
          <a:prstGeom prst="rect">
            <a:avLst/>
          </a:prstGeom>
          <a:solidFill>
            <a:srgbClr val="D99A22"/>
          </a:solidFill>
          <a:ln w="12700">
            <a:solidFill>
              <a:srgbClr val="D99A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 name="Text 10"/>
          <p:cNvSpPr/>
          <p:nvPr/>
        </p:nvSpPr>
        <p:spPr>
          <a:xfrm>
            <a:off x="3794760" y="3163680"/>
            <a:ext cx="2285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D99A22"/>
                </a:solidFill>
                <a:effectLst/>
                <a:uFillTx/>
                <a:latin typeface="Aptos"/>
              </a:rPr>
              <a:t>H2 • Time</a:t>
            </a:r>
            <a:endParaRPr lang="en-US" sz="1500" b="0" u="none" strike="noStrike">
              <a:solidFill>
                <a:srgbClr val="000000"/>
              </a:solidFill>
              <a:effectLst/>
              <a:uFillTx/>
              <a:latin typeface="Arial"/>
            </a:endParaRPr>
          </a:p>
        </p:txBody>
      </p:sp>
      <p:sp>
        <p:nvSpPr>
          <p:cNvPr id="74" name="Text 11"/>
          <p:cNvSpPr/>
          <p:nvPr/>
        </p:nvSpPr>
        <p:spPr>
          <a:xfrm>
            <a:off x="3794760" y="3547800"/>
            <a:ext cx="225828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Longitudinal representations should be tested against baseline-only representations.</a:t>
            </a:r>
            <a:endParaRPr lang="en-US" sz="1250" b="0" u="none" strike="noStrike">
              <a:solidFill>
                <a:srgbClr val="000000"/>
              </a:solidFill>
              <a:effectLst/>
              <a:uFillTx/>
              <a:latin typeface="Arial"/>
            </a:endParaRPr>
          </a:p>
        </p:txBody>
      </p:sp>
      <p:sp>
        <p:nvSpPr>
          <p:cNvPr id="75" name="Shape 12"/>
          <p:cNvSpPr/>
          <p:nvPr/>
        </p:nvSpPr>
        <p:spPr>
          <a:xfrm>
            <a:off x="6446520" y="3017520"/>
            <a:ext cx="2605680" cy="1919880"/>
          </a:xfrm>
          <a:prstGeom prst="roundRect">
            <a:avLst>
              <a:gd name="adj" fmla="val 2857"/>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 name="Shape 13"/>
          <p:cNvSpPr/>
          <p:nvPr/>
        </p:nvSpPr>
        <p:spPr>
          <a:xfrm>
            <a:off x="6446520" y="3017520"/>
            <a:ext cx="72720" cy="191988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 name="Text 14"/>
          <p:cNvSpPr/>
          <p:nvPr/>
        </p:nvSpPr>
        <p:spPr>
          <a:xfrm>
            <a:off x="6629400" y="3163680"/>
            <a:ext cx="2285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7357B4"/>
                </a:solidFill>
                <a:effectLst/>
                <a:uFillTx/>
                <a:latin typeface="Aptos"/>
              </a:rPr>
              <a:t>H3 • Architecture</a:t>
            </a:r>
            <a:endParaRPr lang="en-US" sz="1500" b="0" u="none" strike="noStrike">
              <a:solidFill>
                <a:srgbClr val="000000"/>
              </a:solidFill>
              <a:effectLst/>
              <a:uFillTx/>
              <a:latin typeface="Arial"/>
            </a:endParaRPr>
          </a:p>
        </p:txBody>
      </p:sp>
      <p:sp>
        <p:nvSpPr>
          <p:cNvPr id="78" name="Text 15"/>
          <p:cNvSpPr/>
          <p:nvPr/>
        </p:nvSpPr>
        <p:spPr>
          <a:xfrm>
            <a:off x="6629400" y="3547800"/>
            <a:ext cx="225828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Early, late and learned hybrid fusion should be compared experimentally.</a:t>
            </a:r>
            <a:endParaRPr lang="en-US" sz="1250" b="0" u="none" strike="noStrike">
              <a:solidFill>
                <a:srgbClr val="000000"/>
              </a:solidFill>
              <a:effectLst/>
              <a:uFillTx/>
              <a:latin typeface="Arial"/>
            </a:endParaRPr>
          </a:p>
        </p:txBody>
      </p:sp>
      <p:sp>
        <p:nvSpPr>
          <p:cNvPr id="79" name="Shape 16"/>
          <p:cNvSpPr/>
          <p:nvPr/>
        </p:nvSpPr>
        <p:spPr>
          <a:xfrm>
            <a:off x="9281160" y="3017520"/>
            <a:ext cx="2102760" cy="1919880"/>
          </a:xfrm>
          <a:prstGeom prst="roundRect">
            <a:avLst>
              <a:gd name="adj" fmla="val 2857"/>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 name="Shape 17"/>
          <p:cNvSpPr/>
          <p:nvPr/>
        </p:nvSpPr>
        <p:spPr>
          <a:xfrm>
            <a:off x="9281160" y="3017520"/>
            <a:ext cx="72720" cy="1919880"/>
          </a:xfrm>
          <a:prstGeom prst="rect">
            <a:avLst/>
          </a:prstGeom>
          <a:solidFill>
            <a:srgbClr val="2E8B68"/>
          </a:solidFill>
          <a:ln w="12700">
            <a:solidFill>
              <a:srgbClr val="2E8B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1" name="Text 18"/>
          <p:cNvSpPr/>
          <p:nvPr/>
        </p:nvSpPr>
        <p:spPr>
          <a:xfrm>
            <a:off x="9464040" y="3163680"/>
            <a:ext cx="1782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E8B68"/>
                </a:solidFill>
                <a:effectLst/>
                <a:uFillTx/>
                <a:latin typeface="Aptos"/>
              </a:rPr>
              <a:t>H4 • Robustness</a:t>
            </a:r>
            <a:endParaRPr lang="en-US" sz="1500" b="0" u="none" strike="noStrike">
              <a:solidFill>
                <a:srgbClr val="000000"/>
              </a:solidFill>
              <a:effectLst/>
              <a:uFillTx/>
              <a:latin typeface="Arial"/>
            </a:endParaRPr>
          </a:p>
        </p:txBody>
      </p:sp>
      <p:sp>
        <p:nvSpPr>
          <p:cNvPr id="82" name="Text 19"/>
          <p:cNvSpPr/>
          <p:nvPr/>
        </p:nvSpPr>
        <p:spPr>
          <a:xfrm>
            <a:off x="9464040" y="3547800"/>
            <a:ext cx="175536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Missing-modality handling and uncertainty should be explicitly evaluated.</a:t>
            </a:r>
            <a:endParaRPr lang="en-US" sz="1250" b="0" u="none" strike="noStrike">
              <a:solidFill>
                <a:srgbClr val="000000"/>
              </a:solidFill>
              <a:effectLst/>
              <a:uFillTx/>
              <a:latin typeface="Arial"/>
            </a:endParaRPr>
          </a:p>
        </p:txBody>
      </p:sp>
      <p:sp>
        <p:nvSpPr>
          <p:cNvPr id="83" name="PlaceHolder 1"/>
          <p:cNvSpPr>
            <a:spLocks noGrp="1"/>
          </p:cNvSpPr>
          <p:nvPr>
            <p:ph type="sldNum" idx="8"/>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8</a:t>
            </a:r>
            <a:endParaRPr lang="en-US" sz="800" b="0" u="none" strike="noStrike">
              <a:solidFill>
                <a:srgbClr val="000000"/>
              </a:solidFill>
              <a:effectLst/>
              <a:uFillTx/>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 0"/>
          <p:cNvSpPr/>
          <p:nvPr/>
        </p:nvSpPr>
        <p:spPr>
          <a:xfrm>
            <a:off x="567000" y="384120"/>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11">
                <a:solidFill>
                  <a:srgbClr val="0F8B8D"/>
                </a:solidFill>
                <a:effectLst/>
                <a:uFillTx/>
                <a:latin typeface="Aptos"/>
              </a:rPr>
              <a:t>SCIENTIFIC TASKS</a:t>
            </a:r>
            <a:endParaRPr lang="en-US" sz="1000" b="0" u="none" strike="noStrike">
              <a:solidFill>
                <a:srgbClr val="000000"/>
              </a:solidFill>
              <a:effectLst/>
              <a:uFillTx/>
              <a:latin typeface="Arial"/>
            </a:endParaRPr>
          </a:p>
        </p:txBody>
      </p:sp>
      <p:sp>
        <p:nvSpPr>
          <p:cNvPr id="85"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Two primary prediction tasks</a:t>
            </a:r>
            <a:endParaRPr lang="en-US" sz="2800" b="0" u="none" strike="noStrike">
              <a:solidFill>
                <a:srgbClr val="000000"/>
              </a:solidFill>
              <a:effectLst/>
              <a:uFillTx/>
              <a:latin typeface="Arial"/>
            </a:endParaRPr>
          </a:p>
        </p:txBody>
      </p:sp>
      <p:sp>
        <p:nvSpPr>
          <p:cNvPr id="86" name="Shape 2"/>
          <p:cNvSpPr/>
          <p:nvPr/>
        </p:nvSpPr>
        <p:spPr>
          <a:xfrm>
            <a:off x="822960" y="1463040"/>
            <a:ext cx="5074560" cy="4297320"/>
          </a:xfrm>
          <a:prstGeom prst="roundRect">
            <a:avLst>
              <a:gd name="adj" fmla="val 1277"/>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7" name="Shape 3"/>
          <p:cNvSpPr/>
          <p:nvPr/>
        </p:nvSpPr>
        <p:spPr>
          <a:xfrm>
            <a:off x="822960" y="1463040"/>
            <a:ext cx="72720" cy="429732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8" name="Text 4"/>
          <p:cNvSpPr/>
          <p:nvPr/>
        </p:nvSpPr>
        <p:spPr>
          <a:xfrm>
            <a:off x="1005840" y="1609200"/>
            <a:ext cx="47545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F8B8D"/>
                </a:solidFill>
                <a:effectLst/>
                <a:uFillTx/>
                <a:latin typeface="Aptos"/>
              </a:rPr>
              <a:t>Task A — Disease-state classification</a:t>
            </a:r>
            <a:endParaRPr lang="en-US" sz="1500" b="0" u="none" strike="noStrike">
              <a:solidFill>
                <a:srgbClr val="000000"/>
              </a:solidFill>
              <a:effectLst/>
              <a:uFillTx/>
              <a:latin typeface="Arial"/>
            </a:endParaRPr>
          </a:p>
        </p:txBody>
      </p:sp>
      <p:sp>
        <p:nvSpPr>
          <p:cNvPr id="89" name="Text 5"/>
          <p:cNvSpPr/>
          <p:nvPr/>
        </p:nvSpPr>
        <p:spPr>
          <a:xfrm>
            <a:off x="1005840" y="1993320"/>
            <a:ext cx="4727160" cy="365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Input: information available for a participant at a defined visit.</a:t>
            </a:r>
            <a:endParaRPr lang="en-US" sz="1250" b="0" u="none" strike="noStrike">
              <a:solidFill>
                <a:srgbClr val="000000"/>
              </a:solidFill>
              <a:effectLst/>
              <a:uFillTx/>
              <a:latin typeface="Arial"/>
            </a:endParaRPr>
          </a:p>
          <a:p>
            <a:pPr defTabSz="914400">
              <a:lnSpc>
                <a:spcPct val="100000"/>
              </a:lnSpc>
              <a:tabLst>
                <a:tab pos="0" algn="l"/>
              </a:tabLst>
            </a:pP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203040"/>
                </a:solidFill>
                <a:effectLst/>
                <a:uFillTx/>
                <a:latin typeface="Aptos"/>
              </a:rPr>
              <a:t>Output: probability distribution over CN, MCI and AD.</a:t>
            </a:r>
            <a:endParaRPr lang="en-US" sz="1250" b="0" u="none" strike="noStrike">
              <a:solidFill>
                <a:srgbClr val="000000"/>
              </a:solidFill>
              <a:effectLst/>
              <a:uFillTx/>
              <a:latin typeface="Arial"/>
            </a:endParaRPr>
          </a:p>
          <a:p>
            <a:pPr defTabSz="914400">
              <a:lnSpc>
                <a:spcPct val="100000"/>
              </a:lnSpc>
              <a:tabLst>
                <a:tab pos="0" algn="l"/>
              </a:tabLst>
            </a:pP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203040"/>
                </a:solidFill>
                <a:effectLst/>
                <a:uFillTx/>
                <a:latin typeface="Aptos"/>
              </a:rPr>
              <a:t>Baselines: multinomial logistic regression, SVM, Random Forest, XGBoost/LightGBM, MLP.</a:t>
            </a:r>
            <a:endParaRPr lang="en-US" sz="1250" b="0" u="none" strike="noStrike">
              <a:solidFill>
                <a:srgbClr val="000000"/>
              </a:solidFill>
              <a:effectLst/>
              <a:uFillTx/>
              <a:latin typeface="Arial"/>
            </a:endParaRPr>
          </a:p>
          <a:p>
            <a:pPr defTabSz="914400">
              <a:lnSpc>
                <a:spcPct val="100000"/>
              </a:lnSpc>
              <a:tabLst>
                <a:tab pos="0" algn="l"/>
              </a:tabLst>
            </a:pP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203040"/>
                </a:solidFill>
                <a:effectLst/>
                <a:uFillTx/>
                <a:latin typeface="Aptos"/>
              </a:rPr>
              <a:t>Key metrics: Macro-F1, class sensitivity, one-vs-rest AUROC, calibration.</a:t>
            </a:r>
            <a:endParaRPr lang="en-US" sz="1250" b="0" u="none" strike="noStrike">
              <a:solidFill>
                <a:srgbClr val="000000"/>
              </a:solidFill>
              <a:effectLst/>
              <a:uFillTx/>
              <a:latin typeface="Arial"/>
            </a:endParaRPr>
          </a:p>
        </p:txBody>
      </p:sp>
      <p:sp>
        <p:nvSpPr>
          <p:cNvPr id="90" name="Shape 6"/>
          <p:cNvSpPr/>
          <p:nvPr/>
        </p:nvSpPr>
        <p:spPr>
          <a:xfrm>
            <a:off x="6309360" y="1463040"/>
            <a:ext cx="5074560" cy="4297320"/>
          </a:xfrm>
          <a:prstGeom prst="roundRect">
            <a:avLst>
              <a:gd name="adj" fmla="val 1277"/>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 name="Shape 7"/>
          <p:cNvSpPr/>
          <p:nvPr/>
        </p:nvSpPr>
        <p:spPr>
          <a:xfrm>
            <a:off x="6309360" y="1463040"/>
            <a:ext cx="72720" cy="429732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2" name="Text 8"/>
          <p:cNvSpPr/>
          <p:nvPr/>
        </p:nvSpPr>
        <p:spPr>
          <a:xfrm>
            <a:off x="6492240" y="1609200"/>
            <a:ext cx="47545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7357B4"/>
                </a:solidFill>
                <a:effectLst/>
                <a:uFillTx/>
                <a:latin typeface="Aptos"/>
              </a:rPr>
              <a:t>Task B — MCI→AD progression</a:t>
            </a:r>
            <a:endParaRPr lang="en-US" sz="1500" b="0" u="none" strike="noStrike">
              <a:solidFill>
                <a:srgbClr val="000000"/>
              </a:solidFill>
              <a:effectLst/>
              <a:uFillTx/>
              <a:latin typeface="Arial"/>
            </a:endParaRPr>
          </a:p>
        </p:txBody>
      </p:sp>
      <p:sp>
        <p:nvSpPr>
          <p:cNvPr id="93" name="Text 9"/>
          <p:cNvSpPr/>
          <p:nvPr/>
        </p:nvSpPr>
        <p:spPr>
          <a:xfrm>
            <a:off x="6492240" y="1993320"/>
            <a:ext cx="4727160" cy="365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Cohort: participants with MCI at index time t₀.</a:t>
            </a:r>
            <a:endParaRPr lang="en-US" sz="1250" b="0" u="none" strike="noStrike">
              <a:solidFill>
                <a:srgbClr val="000000"/>
              </a:solidFill>
              <a:effectLst/>
              <a:uFillTx/>
              <a:latin typeface="Arial"/>
            </a:endParaRPr>
          </a:p>
          <a:p>
            <a:pPr defTabSz="914400">
              <a:lnSpc>
                <a:spcPct val="100000"/>
              </a:lnSpc>
              <a:tabLst>
                <a:tab pos="0" algn="l"/>
              </a:tabLst>
            </a:pP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203040"/>
                </a:solidFill>
                <a:effectLst/>
                <a:uFillTx/>
                <a:latin typeface="Aptos"/>
              </a:rPr>
              <a:t>Output: probability of future conversion after t₀.</a:t>
            </a:r>
            <a:endParaRPr lang="en-US" sz="1250" b="0" u="none" strike="noStrike">
              <a:solidFill>
                <a:srgbClr val="000000"/>
              </a:solidFill>
              <a:effectLst/>
              <a:uFillTx/>
              <a:latin typeface="Arial"/>
            </a:endParaRPr>
          </a:p>
          <a:p>
            <a:pPr defTabSz="914400">
              <a:lnSpc>
                <a:spcPct val="100000"/>
              </a:lnSpc>
              <a:tabLst>
                <a:tab pos="0" algn="l"/>
              </a:tabLst>
            </a:pP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203040"/>
                </a:solidFill>
                <a:effectLst/>
                <a:uFillTx/>
                <a:latin typeface="Aptos"/>
              </a:rPr>
              <a:t>Candidate horizons: 12, 24 and 36 months, selected after coverage analysis.</a:t>
            </a:r>
            <a:endParaRPr lang="en-US" sz="1250" b="0" u="none" strike="noStrike">
              <a:solidFill>
                <a:srgbClr val="000000"/>
              </a:solidFill>
              <a:effectLst/>
              <a:uFillTx/>
              <a:latin typeface="Arial"/>
            </a:endParaRPr>
          </a:p>
          <a:p>
            <a:pPr defTabSz="914400">
              <a:lnSpc>
                <a:spcPct val="100000"/>
              </a:lnSpc>
              <a:tabLst>
                <a:tab pos="0" algn="l"/>
              </a:tabLst>
            </a:pP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203040"/>
                </a:solidFill>
                <a:effectLst/>
                <a:uFillTx/>
                <a:latin typeface="Aptos"/>
              </a:rPr>
              <a:t>Key metrics: AUROC, AUPRC, sensitivity, specificity, Brier score and calibration.</a:t>
            </a:r>
            <a:endParaRPr lang="en-US" sz="1250" b="0" u="none" strike="noStrike">
              <a:solidFill>
                <a:srgbClr val="000000"/>
              </a:solidFill>
              <a:effectLst/>
              <a:uFillTx/>
              <a:latin typeface="Arial"/>
            </a:endParaRPr>
          </a:p>
        </p:txBody>
      </p:sp>
      <p:sp>
        <p:nvSpPr>
          <p:cNvPr id="94" name="PlaceHolder 1"/>
          <p:cNvSpPr>
            <a:spLocks noGrp="1"/>
          </p:cNvSpPr>
          <p:nvPr>
            <p:ph type="sldNum" idx="9"/>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9</a:t>
            </a:r>
            <a:endParaRPr lang="en-US" sz="800" b="0" u="none" strike="noStrike">
              <a:solidFill>
                <a:srgbClr val="000000"/>
              </a:solidFill>
              <a:effectLst/>
              <a:uFillTx/>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5029200" cy="320040"/>
          </a:xfrm>
          <a:prstGeom prst="rect">
            <a:avLst/>
          </a:prstGeom>
          <a:noFill/>
        </p:spPr>
        <p:txBody>
          <a:bodyPr wrap="square" anchor="t">
            <a:spAutoFit/>
          </a:bodyPr>
          <a:lstStyle/>
          <a:p>
            <a:pPr algn="l"/>
            <a:r>
              <a:rPr sz="1100" b="1">
                <a:solidFill>
                  <a:srgbClr val="0A9194"/>
                </a:solidFill>
                <a:latin typeface="Aptos"/>
              </a:rPr>
              <a:t>TASK A — CURRENT STATE</a:t>
            </a:r>
          </a:p>
        </p:txBody>
      </p:sp>
      <p:sp>
        <p:nvSpPr>
          <p:cNvPr id="3" name="TextBox 2"/>
          <p:cNvSpPr txBox="1"/>
          <p:nvPr/>
        </p:nvSpPr>
        <p:spPr>
          <a:xfrm>
            <a:off x="566928" y="749808"/>
            <a:ext cx="10972800" cy="594360"/>
          </a:xfrm>
          <a:prstGeom prst="rect">
            <a:avLst/>
          </a:prstGeom>
          <a:noFill/>
        </p:spPr>
        <p:txBody>
          <a:bodyPr wrap="square" anchor="t">
            <a:spAutoFit/>
          </a:bodyPr>
          <a:lstStyle/>
          <a:p>
            <a:pPr algn="l"/>
            <a:r>
              <a:rPr sz="2800" b="1">
                <a:solidFill>
                  <a:srgbClr val="0C385C"/>
                </a:solidFill>
                <a:latin typeface="Aptos"/>
              </a:rPr>
              <a:t>CN / MCI / AD classification — what exactly is predicted?</a:t>
            </a:r>
          </a:p>
        </p:txBody>
      </p:sp>
      <p:sp>
        <p:nvSpPr>
          <p:cNvPr id="4" name="Rounded Rectangle 3"/>
          <p:cNvSpPr/>
          <p:nvPr/>
        </p:nvSpPr>
        <p:spPr>
          <a:xfrm>
            <a:off x="658368" y="1481328"/>
            <a:ext cx="5257800" cy="4480560"/>
          </a:xfrm>
          <a:prstGeom prst="round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82296" cy="4480560"/>
          </a:xfrm>
          <a:prstGeom prst="rect">
            <a:avLst/>
          </a:prstGeom>
          <a:solidFill>
            <a:srgbClr val="0A9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719072"/>
            <a:ext cx="3383280" cy="320040"/>
          </a:xfrm>
          <a:prstGeom prst="rect">
            <a:avLst/>
          </a:prstGeom>
          <a:noFill/>
        </p:spPr>
        <p:txBody>
          <a:bodyPr wrap="square" anchor="t">
            <a:spAutoFit/>
          </a:bodyPr>
          <a:lstStyle/>
          <a:p>
            <a:pPr algn="l"/>
            <a:r>
              <a:rPr sz="1700" b="1">
                <a:solidFill>
                  <a:srgbClr val="0A9194"/>
                </a:solidFill>
                <a:latin typeface="Aptos"/>
              </a:rPr>
              <a:t>Question being answered</a:t>
            </a:r>
          </a:p>
        </p:txBody>
      </p:sp>
      <p:sp>
        <p:nvSpPr>
          <p:cNvPr id="7" name="TextBox 6"/>
          <p:cNvSpPr txBox="1"/>
          <p:nvPr/>
        </p:nvSpPr>
        <p:spPr>
          <a:xfrm>
            <a:off x="868680" y="2084831"/>
            <a:ext cx="4617720" cy="822960"/>
          </a:xfrm>
          <a:prstGeom prst="rect">
            <a:avLst/>
          </a:prstGeom>
          <a:noFill/>
        </p:spPr>
        <p:txBody>
          <a:bodyPr wrap="square" anchor="t">
            <a:spAutoFit/>
          </a:bodyPr>
          <a:lstStyle/>
          <a:p>
            <a:pPr algn="l"/>
            <a:r>
              <a:rPr sz="1700" b="0">
                <a:solidFill>
                  <a:srgbClr val="263648"/>
                </a:solidFill>
                <a:latin typeface="Aptos"/>
              </a:rPr>
              <a:t>“Given the information available for this participant at this visit, which current diagnostic state is most consistent with the data?”</a:t>
            </a:r>
          </a:p>
        </p:txBody>
      </p:sp>
      <p:sp>
        <p:nvSpPr>
          <p:cNvPr id="8" name="TextBox 7"/>
          <p:cNvSpPr txBox="1"/>
          <p:nvPr/>
        </p:nvSpPr>
        <p:spPr>
          <a:xfrm>
            <a:off x="868680" y="3063240"/>
            <a:ext cx="2194560" cy="274320"/>
          </a:xfrm>
          <a:prstGeom prst="rect">
            <a:avLst/>
          </a:prstGeom>
          <a:noFill/>
        </p:spPr>
        <p:txBody>
          <a:bodyPr wrap="square" anchor="t">
            <a:spAutoFit/>
          </a:bodyPr>
          <a:lstStyle/>
          <a:p>
            <a:pPr algn="l"/>
            <a:r>
              <a:rPr sz="1600" b="1">
                <a:solidFill>
                  <a:srgbClr val="0C385C"/>
                </a:solidFill>
                <a:latin typeface="Aptos"/>
              </a:rPr>
              <a:t>Three classes</a:t>
            </a:r>
          </a:p>
        </p:txBody>
      </p:sp>
      <p:sp>
        <p:nvSpPr>
          <p:cNvPr id="9" name="TextBox 8"/>
          <p:cNvSpPr txBox="1"/>
          <p:nvPr/>
        </p:nvSpPr>
        <p:spPr>
          <a:xfrm>
            <a:off x="868680" y="3401568"/>
            <a:ext cx="4389120" cy="960120"/>
          </a:xfrm>
          <a:prstGeom prst="rect">
            <a:avLst/>
          </a:prstGeom>
          <a:noFill/>
        </p:spPr>
        <p:txBody>
          <a:bodyPr wrap="square" anchor="t">
            <a:spAutoFit/>
          </a:bodyPr>
          <a:lstStyle/>
          <a:p>
            <a:pPr algn="l"/>
            <a:r>
              <a:rPr sz="1700" b="0">
                <a:solidFill>
                  <a:srgbClr val="263648"/>
                </a:solidFill>
                <a:latin typeface="Aptos"/>
              </a:rPr>
              <a:t>CN  = Cognitively Normal
MCI = Mild Cognitive Impairment
AD  = Alzheimer’s Disease</a:t>
            </a:r>
          </a:p>
        </p:txBody>
      </p:sp>
      <p:sp>
        <p:nvSpPr>
          <p:cNvPr id="10" name="TextBox 9"/>
          <p:cNvSpPr txBox="1"/>
          <p:nvPr/>
        </p:nvSpPr>
        <p:spPr>
          <a:xfrm>
            <a:off x="868680" y="4590288"/>
            <a:ext cx="4617720" cy="822960"/>
          </a:xfrm>
          <a:prstGeom prst="rect">
            <a:avLst/>
          </a:prstGeom>
          <a:noFill/>
        </p:spPr>
        <p:txBody>
          <a:bodyPr wrap="square" anchor="t">
            <a:spAutoFit/>
          </a:bodyPr>
          <a:lstStyle/>
          <a:p>
            <a:pPr algn="l"/>
            <a:r>
              <a:rPr sz="1550" b="0">
                <a:solidFill>
                  <a:srgbClr val="263648"/>
                </a:solidFill>
                <a:latin typeface="Aptos"/>
              </a:rPr>
              <a:t>Input X may combine clinical, cognitive, MRI, PET, biofluid and genetic features from the same permitted time point.</a:t>
            </a:r>
          </a:p>
        </p:txBody>
      </p:sp>
      <p:sp>
        <p:nvSpPr>
          <p:cNvPr id="11" name="Rounded Rectangle 10"/>
          <p:cNvSpPr/>
          <p:nvPr/>
        </p:nvSpPr>
        <p:spPr>
          <a:xfrm>
            <a:off x="6144768" y="1481328"/>
            <a:ext cx="5394960" cy="4480560"/>
          </a:xfrm>
          <a:prstGeom prst="round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44768" y="1481328"/>
            <a:ext cx="82296" cy="4480560"/>
          </a:xfrm>
          <a:prstGeom prst="rect">
            <a:avLst/>
          </a:prstGeom>
          <a:solidFill>
            <a:srgbClr val="704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82512" y="1719072"/>
            <a:ext cx="4480560" cy="320040"/>
          </a:xfrm>
          <a:prstGeom prst="rect">
            <a:avLst/>
          </a:prstGeom>
          <a:noFill/>
        </p:spPr>
        <p:txBody>
          <a:bodyPr wrap="square" anchor="t">
            <a:spAutoFit/>
          </a:bodyPr>
          <a:lstStyle/>
          <a:p>
            <a:pPr algn="l"/>
            <a:r>
              <a:rPr sz="1700" b="1">
                <a:solidFill>
                  <a:srgbClr val="704EB8"/>
                </a:solidFill>
                <a:latin typeface="Aptos"/>
              </a:rPr>
              <a:t>Model output: a probability distribution</a:t>
            </a:r>
          </a:p>
        </p:txBody>
      </p:sp>
      <p:sp>
        <p:nvSpPr>
          <p:cNvPr id="14" name="TextBox 13"/>
          <p:cNvSpPr txBox="1"/>
          <p:nvPr/>
        </p:nvSpPr>
        <p:spPr>
          <a:xfrm>
            <a:off x="6419088" y="2240280"/>
            <a:ext cx="4663440" cy="411480"/>
          </a:xfrm>
          <a:prstGeom prst="rect">
            <a:avLst/>
          </a:prstGeom>
          <a:noFill/>
        </p:spPr>
        <p:txBody>
          <a:bodyPr wrap="square" anchor="t">
            <a:spAutoFit/>
          </a:bodyPr>
          <a:lstStyle/>
          <a:p>
            <a:pPr algn="ctr"/>
            <a:r>
              <a:rPr sz="2200" b="1">
                <a:solidFill>
                  <a:srgbClr val="0C385C"/>
                </a:solidFill>
                <a:latin typeface="Aptos"/>
              </a:rPr>
              <a:t>P(CN | X) ,   P(MCI | X) ,   P(AD | X)</a:t>
            </a:r>
          </a:p>
        </p:txBody>
      </p:sp>
      <p:sp>
        <p:nvSpPr>
          <p:cNvPr id="15" name="TextBox 14"/>
          <p:cNvSpPr txBox="1"/>
          <p:nvPr/>
        </p:nvSpPr>
        <p:spPr>
          <a:xfrm>
            <a:off x="6419088" y="2724912"/>
            <a:ext cx="4663440" cy="320040"/>
          </a:xfrm>
          <a:prstGeom prst="rect">
            <a:avLst/>
          </a:prstGeom>
          <a:noFill/>
        </p:spPr>
        <p:txBody>
          <a:bodyPr wrap="square" anchor="t">
            <a:spAutoFit/>
          </a:bodyPr>
          <a:lstStyle/>
          <a:p>
            <a:pPr algn="ctr"/>
            <a:r>
              <a:rPr sz="1600" b="0">
                <a:solidFill>
                  <a:srgbClr val="263648"/>
                </a:solidFill>
                <a:latin typeface="Aptos"/>
              </a:rPr>
              <a:t>P(CN|X) + P(MCI|X) + P(AD|X) = 1</a:t>
            </a:r>
          </a:p>
        </p:txBody>
      </p:sp>
      <p:sp>
        <p:nvSpPr>
          <p:cNvPr id="16" name="TextBox 15"/>
          <p:cNvSpPr txBox="1"/>
          <p:nvPr/>
        </p:nvSpPr>
        <p:spPr>
          <a:xfrm>
            <a:off x="6400800" y="3218688"/>
            <a:ext cx="1097280" cy="274320"/>
          </a:xfrm>
          <a:prstGeom prst="rect">
            <a:avLst/>
          </a:prstGeom>
          <a:noFill/>
        </p:spPr>
        <p:txBody>
          <a:bodyPr wrap="square" anchor="t">
            <a:spAutoFit/>
          </a:bodyPr>
          <a:lstStyle/>
          <a:p>
            <a:pPr algn="l"/>
            <a:r>
              <a:rPr sz="1600" b="1">
                <a:solidFill>
                  <a:srgbClr val="0C385C"/>
                </a:solidFill>
                <a:latin typeface="Aptos"/>
              </a:rPr>
              <a:t>Example</a:t>
            </a:r>
          </a:p>
        </p:txBody>
      </p:sp>
      <p:sp>
        <p:nvSpPr>
          <p:cNvPr id="17" name="TextBox 16"/>
          <p:cNvSpPr txBox="1"/>
          <p:nvPr/>
        </p:nvSpPr>
        <p:spPr>
          <a:xfrm>
            <a:off x="6400800" y="3584448"/>
            <a:ext cx="4572000" cy="365760"/>
          </a:xfrm>
          <a:prstGeom prst="rect">
            <a:avLst/>
          </a:prstGeom>
          <a:noFill/>
        </p:spPr>
        <p:txBody>
          <a:bodyPr wrap="square" anchor="t">
            <a:spAutoFit/>
          </a:bodyPr>
          <a:lstStyle/>
          <a:p>
            <a:pPr algn="ctr"/>
            <a:r>
              <a:rPr sz="1800" b="1">
                <a:solidFill>
                  <a:srgbClr val="263648"/>
                </a:solidFill>
                <a:latin typeface="Aptos"/>
              </a:rPr>
              <a:t>CN = 0.08     MCI = 0.76     AD = 0.16</a:t>
            </a:r>
          </a:p>
        </p:txBody>
      </p:sp>
      <p:sp>
        <p:nvSpPr>
          <p:cNvPr id="18" name="TextBox 17"/>
          <p:cNvSpPr txBox="1"/>
          <p:nvPr/>
        </p:nvSpPr>
        <p:spPr>
          <a:xfrm>
            <a:off x="6400800" y="4096512"/>
            <a:ext cx="4572000" cy="457200"/>
          </a:xfrm>
          <a:prstGeom prst="rect">
            <a:avLst/>
          </a:prstGeom>
          <a:noFill/>
        </p:spPr>
        <p:txBody>
          <a:bodyPr wrap="square" anchor="t">
            <a:spAutoFit/>
          </a:bodyPr>
          <a:lstStyle/>
          <a:p>
            <a:pPr algn="ctr"/>
            <a:r>
              <a:rPr sz="1600" b="1" dirty="0">
                <a:solidFill>
                  <a:srgbClr val="0A9194"/>
                </a:solidFill>
                <a:latin typeface="Aptos"/>
              </a:rPr>
              <a:t>Predicted class = </a:t>
            </a:r>
            <a:r>
              <a:rPr sz="1600" b="1" dirty="0" err="1">
                <a:solidFill>
                  <a:srgbClr val="0A9194"/>
                </a:solidFill>
                <a:latin typeface="Aptos"/>
              </a:rPr>
              <a:t>arg</a:t>
            </a:r>
            <a:r>
              <a:rPr sz="1600" b="1" dirty="0">
                <a:solidFill>
                  <a:srgbClr val="0A9194"/>
                </a:solidFill>
                <a:latin typeface="Aptos"/>
              </a:rPr>
              <a:t> max {0.08, 0.76, 0.16} = MCI</a:t>
            </a:r>
          </a:p>
        </p:txBody>
      </p:sp>
      <p:sp>
        <p:nvSpPr>
          <p:cNvPr id="19" name="TextBox 18"/>
          <p:cNvSpPr txBox="1"/>
          <p:nvPr/>
        </p:nvSpPr>
        <p:spPr>
          <a:xfrm>
            <a:off x="6400800" y="4736592"/>
            <a:ext cx="4572000" cy="868680"/>
          </a:xfrm>
          <a:prstGeom prst="rect">
            <a:avLst/>
          </a:prstGeom>
          <a:noFill/>
        </p:spPr>
        <p:txBody>
          <a:bodyPr wrap="square" anchor="t">
            <a:spAutoFit/>
          </a:bodyPr>
          <a:lstStyle/>
          <a:p>
            <a:pPr algn="l"/>
            <a:r>
              <a:rPr sz="1550" b="0">
                <a:solidFill>
                  <a:srgbClr val="263648"/>
                </a:solidFill>
                <a:latin typeface="Aptos"/>
              </a:rPr>
              <a:t>Why keep probabilities? They enable calibration, uncertainty analysis and ensemble combination; a hard label alone loses this information.</a:t>
            </a:r>
          </a:p>
        </p:txBody>
      </p:sp>
      <p:sp>
        <p:nvSpPr>
          <p:cNvPr id="20" name="TextBox 19"/>
          <p:cNvSpPr txBox="1"/>
          <p:nvPr/>
        </p:nvSpPr>
        <p:spPr>
          <a:xfrm>
            <a:off x="502920" y="6510528"/>
            <a:ext cx="6583680" cy="228600"/>
          </a:xfrm>
          <a:prstGeom prst="rect">
            <a:avLst/>
          </a:prstGeom>
          <a:noFill/>
        </p:spPr>
        <p:txBody>
          <a:bodyPr wrap="square" anchor="t">
            <a:spAutoFit/>
          </a:bodyPr>
          <a:lstStyle/>
          <a:p>
            <a:pPr algn="l"/>
            <a:r>
              <a:rPr sz="850" b="0">
                <a:solidFill>
                  <a:srgbClr val="607488"/>
                </a:solidFill>
                <a:latin typeface="Aptos"/>
              </a:rPr>
              <a:t>NeuroFusion-AI  •  ADNI  •  Multimodal ML  •  Longitudinal Prediction</a:t>
            </a:r>
          </a:p>
        </p:txBody>
      </p:sp>
      <p:sp>
        <p:nvSpPr>
          <p:cNvPr id="21" name="TextBox 20"/>
          <p:cNvSpPr txBox="1"/>
          <p:nvPr/>
        </p:nvSpPr>
        <p:spPr>
          <a:xfrm>
            <a:off x="10716768" y="6510528"/>
            <a:ext cx="1097280" cy="228600"/>
          </a:xfrm>
          <a:prstGeom prst="rect">
            <a:avLst/>
          </a:prstGeom>
          <a:noFill/>
        </p:spPr>
        <p:txBody>
          <a:bodyPr wrap="square" anchor="t">
            <a:spAutoFit/>
          </a:bodyPr>
          <a:lstStyle/>
          <a:p>
            <a:pPr algn="r"/>
            <a:r>
              <a:rPr sz="850" b="0">
                <a:solidFill>
                  <a:srgbClr val="607488"/>
                </a:solidFill>
                <a:latin typeface="Aptos"/>
              </a:rPr>
              <a:t>MASTER’S PROJECT</a:t>
            </a:r>
          </a:p>
        </p:txBody>
      </p:sp>
      <p:sp>
        <p:nvSpPr>
          <p:cNvPr id="22" name="TextBox 21"/>
          <p:cNvSpPr txBox="1"/>
          <p:nvPr/>
        </p:nvSpPr>
        <p:spPr>
          <a:xfrm>
            <a:off x="11905488" y="6510528"/>
            <a:ext cx="164592" cy="228600"/>
          </a:xfrm>
          <a:prstGeom prst="rect">
            <a:avLst/>
          </a:prstGeom>
          <a:noFill/>
        </p:spPr>
        <p:txBody>
          <a:bodyPr wrap="square" anchor="t">
            <a:spAutoFit/>
          </a:bodyPr>
          <a:lstStyle/>
          <a:p>
            <a:pPr algn="r"/>
            <a:r>
              <a:rPr sz="850">
                <a:solidFill>
                  <a:srgbClr val="607488"/>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5029200" cy="320040"/>
          </a:xfrm>
          <a:prstGeom prst="rect">
            <a:avLst/>
          </a:prstGeom>
          <a:noFill/>
        </p:spPr>
        <p:txBody>
          <a:bodyPr wrap="square" anchor="t">
            <a:spAutoFit/>
          </a:bodyPr>
          <a:lstStyle/>
          <a:p>
            <a:pPr algn="l"/>
            <a:r>
              <a:rPr sz="1100" b="1">
                <a:solidFill>
                  <a:srgbClr val="0A9194"/>
                </a:solidFill>
                <a:latin typeface="Aptos"/>
              </a:rPr>
              <a:t>TASK B — FUTURE STATE</a:t>
            </a:r>
          </a:p>
        </p:txBody>
      </p:sp>
      <p:sp>
        <p:nvSpPr>
          <p:cNvPr id="3" name="TextBox 2"/>
          <p:cNvSpPr txBox="1"/>
          <p:nvPr/>
        </p:nvSpPr>
        <p:spPr>
          <a:xfrm>
            <a:off x="566928" y="749808"/>
            <a:ext cx="10972800" cy="594360"/>
          </a:xfrm>
          <a:prstGeom prst="rect">
            <a:avLst/>
          </a:prstGeom>
          <a:noFill/>
        </p:spPr>
        <p:txBody>
          <a:bodyPr wrap="square" anchor="t">
            <a:spAutoFit/>
          </a:bodyPr>
          <a:lstStyle/>
          <a:p>
            <a:pPr algn="l"/>
            <a:r>
              <a:rPr sz="2800" b="1">
                <a:solidFill>
                  <a:srgbClr val="0C385C"/>
                </a:solidFill>
                <a:latin typeface="Aptos"/>
              </a:rPr>
              <a:t>MCI → AD progression — predicting what happens next</a:t>
            </a:r>
          </a:p>
        </p:txBody>
      </p:sp>
      <p:sp>
        <p:nvSpPr>
          <p:cNvPr id="4" name="Rounded Rectangle 3"/>
          <p:cNvSpPr/>
          <p:nvPr/>
        </p:nvSpPr>
        <p:spPr>
          <a:xfrm>
            <a:off x="658368" y="1481328"/>
            <a:ext cx="4800600" cy="4480560"/>
          </a:xfrm>
          <a:prstGeom prst="round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81328"/>
            <a:ext cx="82296" cy="4480560"/>
          </a:xfrm>
          <a:prstGeom prst="rect">
            <a:avLst/>
          </a:prstGeom>
          <a:solidFill>
            <a:srgbClr val="704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737360"/>
            <a:ext cx="3474720" cy="320040"/>
          </a:xfrm>
          <a:prstGeom prst="rect">
            <a:avLst/>
          </a:prstGeom>
          <a:noFill/>
        </p:spPr>
        <p:txBody>
          <a:bodyPr wrap="square" anchor="t">
            <a:spAutoFit/>
          </a:bodyPr>
          <a:lstStyle/>
          <a:p>
            <a:pPr algn="l"/>
            <a:r>
              <a:rPr sz="1700" b="1">
                <a:solidFill>
                  <a:srgbClr val="704EB8"/>
                </a:solidFill>
                <a:latin typeface="Aptos"/>
              </a:rPr>
              <a:t>Who enters this experiment?</a:t>
            </a:r>
          </a:p>
        </p:txBody>
      </p:sp>
      <p:sp>
        <p:nvSpPr>
          <p:cNvPr id="7" name="TextBox 6"/>
          <p:cNvSpPr txBox="1"/>
          <p:nvPr/>
        </p:nvSpPr>
        <p:spPr>
          <a:xfrm>
            <a:off x="896112" y="2103120"/>
            <a:ext cx="4069080" cy="548640"/>
          </a:xfrm>
          <a:prstGeom prst="rect">
            <a:avLst/>
          </a:prstGeom>
          <a:noFill/>
        </p:spPr>
        <p:txBody>
          <a:bodyPr wrap="square" anchor="t">
            <a:spAutoFit/>
          </a:bodyPr>
          <a:lstStyle/>
          <a:p>
            <a:pPr algn="l"/>
            <a:r>
              <a:rPr sz="1700" b="0">
                <a:solidFill>
                  <a:srgbClr val="263648"/>
                </a:solidFill>
                <a:latin typeface="Aptos"/>
              </a:rPr>
              <a:t>Only participants who have MCI at the index time t₀.</a:t>
            </a:r>
          </a:p>
        </p:txBody>
      </p:sp>
      <p:sp>
        <p:nvSpPr>
          <p:cNvPr id="8" name="TextBox 7"/>
          <p:cNvSpPr txBox="1"/>
          <p:nvPr/>
        </p:nvSpPr>
        <p:spPr>
          <a:xfrm>
            <a:off x="896112" y="2761488"/>
            <a:ext cx="2377440" cy="274320"/>
          </a:xfrm>
          <a:prstGeom prst="rect">
            <a:avLst/>
          </a:prstGeom>
          <a:noFill/>
        </p:spPr>
        <p:txBody>
          <a:bodyPr wrap="square" anchor="t">
            <a:spAutoFit/>
          </a:bodyPr>
          <a:lstStyle/>
          <a:p>
            <a:pPr algn="l"/>
            <a:r>
              <a:rPr sz="1600" b="1">
                <a:solidFill>
                  <a:srgbClr val="0C385C"/>
                </a:solidFill>
                <a:latin typeface="Aptos"/>
              </a:rPr>
              <a:t>Prediction question</a:t>
            </a:r>
          </a:p>
        </p:txBody>
      </p:sp>
      <p:sp>
        <p:nvSpPr>
          <p:cNvPr id="9" name="TextBox 8"/>
          <p:cNvSpPr txBox="1"/>
          <p:nvPr/>
        </p:nvSpPr>
        <p:spPr>
          <a:xfrm>
            <a:off x="896112" y="3108960"/>
            <a:ext cx="4069080" cy="822960"/>
          </a:xfrm>
          <a:prstGeom prst="rect">
            <a:avLst/>
          </a:prstGeom>
          <a:noFill/>
        </p:spPr>
        <p:txBody>
          <a:bodyPr wrap="square" anchor="t">
            <a:spAutoFit/>
          </a:bodyPr>
          <a:lstStyle/>
          <a:p>
            <a:pPr algn="l"/>
            <a:r>
              <a:rPr sz="1700" b="0">
                <a:solidFill>
                  <a:srgbClr val="263648"/>
                </a:solidFill>
                <a:latin typeface="Aptos"/>
              </a:rPr>
              <a:t>“What is the probability that this participant will convert from MCI to AD within a future horizon H?”</a:t>
            </a:r>
          </a:p>
        </p:txBody>
      </p:sp>
      <p:sp>
        <p:nvSpPr>
          <p:cNvPr id="10" name="TextBox 9"/>
          <p:cNvSpPr txBox="1"/>
          <p:nvPr/>
        </p:nvSpPr>
        <p:spPr>
          <a:xfrm>
            <a:off x="896112" y="4160520"/>
            <a:ext cx="1828800" cy="274320"/>
          </a:xfrm>
          <a:prstGeom prst="rect">
            <a:avLst/>
          </a:prstGeom>
          <a:noFill/>
        </p:spPr>
        <p:txBody>
          <a:bodyPr wrap="square" anchor="t">
            <a:spAutoFit/>
          </a:bodyPr>
          <a:lstStyle/>
          <a:p>
            <a:pPr algn="l"/>
            <a:r>
              <a:rPr sz="1600" b="1">
                <a:solidFill>
                  <a:srgbClr val="0C385C"/>
                </a:solidFill>
                <a:latin typeface="Aptos"/>
              </a:rPr>
              <a:t>Formal form</a:t>
            </a:r>
          </a:p>
        </p:txBody>
      </p:sp>
      <p:sp>
        <p:nvSpPr>
          <p:cNvPr id="11" name="TextBox 10"/>
          <p:cNvSpPr txBox="1"/>
          <p:nvPr/>
        </p:nvSpPr>
        <p:spPr>
          <a:xfrm>
            <a:off x="896112" y="4526280"/>
            <a:ext cx="4069080" cy="457200"/>
          </a:xfrm>
          <a:prstGeom prst="rect">
            <a:avLst/>
          </a:prstGeom>
          <a:noFill/>
        </p:spPr>
        <p:txBody>
          <a:bodyPr wrap="square" anchor="t">
            <a:spAutoFit/>
          </a:bodyPr>
          <a:lstStyle/>
          <a:p>
            <a:pPr algn="ctr"/>
            <a:r>
              <a:rPr sz="1900" b="1">
                <a:solidFill>
                  <a:srgbClr val="0C385C"/>
                </a:solidFill>
                <a:latin typeface="Aptos"/>
              </a:rPr>
              <a:t>P(MCI → AD within H months | X≤t₀)</a:t>
            </a:r>
          </a:p>
        </p:txBody>
      </p:sp>
      <p:sp>
        <p:nvSpPr>
          <p:cNvPr id="12" name="TextBox 11"/>
          <p:cNvSpPr txBox="1"/>
          <p:nvPr/>
        </p:nvSpPr>
        <p:spPr>
          <a:xfrm>
            <a:off x="896112" y="5166360"/>
            <a:ext cx="4069080" cy="594360"/>
          </a:xfrm>
          <a:prstGeom prst="rect">
            <a:avLst/>
          </a:prstGeom>
          <a:noFill/>
        </p:spPr>
        <p:txBody>
          <a:bodyPr wrap="square" anchor="t">
            <a:spAutoFit/>
          </a:bodyPr>
          <a:lstStyle/>
          <a:p>
            <a:pPr algn="l"/>
            <a:r>
              <a:rPr sz="1450" b="0">
                <a:solidFill>
                  <a:srgbClr val="263648"/>
                </a:solidFill>
                <a:latin typeface="Aptos"/>
              </a:rPr>
              <a:t>Candidate H: 12, 24 or 36 months — chosen only after checking follow-up coverage and event counts.</a:t>
            </a:r>
          </a:p>
        </p:txBody>
      </p:sp>
      <p:sp>
        <p:nvSpPr>
          <p:cNvPr id="13" name="TextBox 12"/>
          <p:cNvSpPr txBox="1"/>
          <p:nvPr/>
        </p:nvSpPr>
        <p:spPr>
          <a:xfrm>
            <a:off x="5806440" y="1737360"/>
            <a:ext cx="4023360" cy="320040"/>
          </a:xfrm>
          <a:prstGeom prst="rect">
            <a:avLst/>
          </a:prstGeom>
          <a:noFill/>
        </p:spPr>
        <p:txBody>
          <a:bodyPr wrap="square" anchor="t">
            <a:spAutoFit/>
          </a:bodyPr>
          <a:lstStyle/>
          <a:p>
            <a:pPr algn="l"/>
            <a:r>
              <a:rPr sz="1700" b="1">
                <a:solidFill>
                  <a:srgbClr val="0A9194"/>
                </a:solidFill>
                <a:latin typeface="Aptos"/>
              </a:rPr>
              <a:t>Leakage-safe temporal logic</a:t>
            </a:r>
          </a:p>
        </p:txBody>
      </p:sp>
      <p:sp>
        <p:nvSpPr>
          <p:cNvPr id="14" name="Rectangle 13"/>
          <p:cNvSpPr/>
          <p:nvPr/>
        </p:nvSpPr>
        <p:spPr>
          <a:xfrm>
            <a:off x="5989320" y="2944368"/>
            <a:ext cx="4983480" cy="32004"/>
          </a:xfrm>
          <a:prstGeom prst="rect">
            <a:avLst/>
          </a:prstGeom>
          <a:solidFill>
            <a:srgbClr val="0C3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80760" y="2743200"/>
            <a:ext cx="22860" cy="420624"/>
          </a:xfrm>
          <a:prstGeom prst="rect">
            <a:avLst/>
          </a:prstGeom>
          <a:solidFill>
            <a:srgbClr val="0A9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60720" y="3218688"/>
            <a:ext cx="685800" cy="274320"/>
          </a:xfrm>
          <a:prstGeom prst="rect">
            <a:avLst/>
          </a:prstGeom>
          <a:noFill/>
        </p:spPr>
        <p:txBody>
          <a:bodyPr wrap="square" anchor="t">
            <a:spAutoFit/>
          </a:bodyPr>
          <a:lstStyle/>
          <a:p>
            <a:pPr algn="ctr"/>
            <a:r>
              <a:rPr sz="1100" b="0">
                <a:solidFill>
                  <a:srgbClr val="263648"/>
                </a:solidFill>
                <a:latin typeface="Aptos"/>
              </a:rPr>
              <a:t>Baseline</a:t>
            </a:r>
          </a:p>
        </p:txBody>
      </p:sp>
      <p:sp>
        <p:nvSpPr>
          <p:cNvPr id="17" name="Rectangle 16"/>
          <p:cNvSpPr/>
          <p:nvPr/>
        </p:nvSpPr>
        <p:spPr>
          <a:xfrm>
            <a:off x="7086600" y="2743200"/>
            <a:ext cx="22860" cy="420624"/>
          </a:xfrm>
          <a:prstGeom prst="rect">
            <a:avLst/>
          </a:prstGeom>
          <a:solidFill>
            <a:srgbClr val="0A9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0" y="3218688"/>
            <a:ext cx="685800" cy="274320"/>
          </a:xfrm>
          <a:prstGeom prst="rect">
            <a:avLst/>
          </a:prstGeom>
          <a:noFill/>
        </p:spPr>
        <p:txBody>
          <a:bodyPr wrap="square" anchor="t">
            <a:spAutoFit/>
          </a:bodyPr>
          <a:lstStyle/>
          <a:p>
            <a:pPr algn="ctr"/>
            <a:r>
              <a:rPr sz="1100" b="0">
                <a:solidFill>
                  <a:srgbClr val="263648"/>
                </a:solidFill>
                <a:latin typeface="Aptos"/>
              </a:rPr>
              <a:t>6 m</a:t>
            </a:r>
          </a:p>
        </p:txBody>
      </p:sp>
      <p:sp>
        <p:nvSpPr>
          <p:cNvPr id="19" name="Rectangle 18"/>
          <p:cNvSpPr/>
          <p:nvPr/>
        </p:nvSpPr>
        <p:spPr>
          <a:xfrm>
            <a:off x="8046720" y="2743200"/>
            <a:ext cx="22860" cy="420624"/>
          </a:xfrm>
          <a:prstGeom prst="rect">
            <a:avLst/>
          </a:prstGeom>
          <a:solidFill>
            <a:srgbClr val="0A9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26680" y="3218688"/>
            <a:ext cx="685800" cy="274320"/>
          </a:xfrm>
          <a:prstGeom prst="rect">
            <a:avLst/>
          </a:prstGeom>
          <a:noFill/>
        </p:spPr>
        <p:txBody>
          <a:bodyPr wrap="square" anchor="t">
            <a:spAutoFit/>
          </a:bodyPr>
          <a:lstStyle/>
          <a:p>
            <a:pPr algn="ctr"/>
            <a:r>
              <a:rPr sz="1100" b="0">
                <a:solidFill>
                  <a:srgbClr val="263648"/>
                </a:solidFill>
                <a:latin typeface="Aptos"/>
              </a:rPr>
              <a:t>12 m</a:t>
            </a:r>
          </a:p>
        </p:txBody>
      </p:sp>
      <p:sp>
        <p:nvSpPr>
          <p:cNvPr id="21" name="Rectangle 20"/>
          <p:cNvSpPr/>
          <p:nvPr/>
        </p:nvSpPr>
        <p:spPr>
          <a:xfrm>
            <a:off x="9006840" y="2743200"/>
            <a:ext cx="22860" cy="420624"/>
          </a:xfrm>
          <a:prstGeom prst="rect">
            <a:avLst/>
          </a:prstGeom>
          <a:solidFill>
            <a:srgbClr val="D09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0" y="3218688"/>
            <a:ext cx="685800" cy="274320"/>
          </a:xfrm>
          <a:prstGeom prst="rect">
            <a:avLst/>
          </a:prstGeom>
          <a:noFill/>
        </p:spPr>
        <p:txBody>
          <a:bodyPr wrap="square" anchor="t">
            <a:spAutoFit/>
          </a:bodyPr>
          <a:lstStyle/>
          <a:p>
            <a:pPr algn="ctr"/>
            <a:r>
              <a:rPr sz="1100" b="1">
                <a:solidFill>
                  <a:srgbClr val="263648"/>
                </a:solidFill>
                <a:latin typeface="Aptos"/>
              </a:rPr>
              <a:t>t₀</a:t>
            </a:r>
          </a:p>
        </p:txBody>
      </p:sp>
      <p:sp>
        <p:nvSpPr>
          <p:cNvPr id="23" name="Rectangle 22"/>
          <p:cNvSpPr/>
          <p:nvPr/>
        </p:nvSpPr>
        <p:spPr>
          <a:xfrm>
            <a:off x="9921240" y="2743200"/>
            <a:ext cx="22860" cy="420624"/>
          </a:xfrm>
          <a:prstGeom prst="rect">
            <a:avLst/>
          </a:prstGeom>
          <a:solidFill>
            <a:srgbClr val="0A9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01200" y="3218688"/>
            <a:ext cx="685800" cy="274320"/>
          </a:xfrm>
          <a:prstGeom prst="rect">
            <a:avLst/>
          </a:prstGeom>
          <a:noFill/>
        </p:spPr>
        <p:txBody>
          <a:bodyPr wrap="square" anchor="t">
            <a:spAutoFit/>
          </a:bodyPr>
          <a:lstStyle/>
          <a:p>
            <a:pPr algn="ctr"/>
            <a:r>
              <a:rPr sz="1100" b="0">
                <a:solidFill>
                  <a:srgbClr val="263648"/>
                </a:solidFill>
                <a:latin typeface="Aptos"/>
              </a:rPr>
              <a:t>24 m</a:t>
            </a:r>
          </a:p>
        </p:txBody>
      </p:sp>
      <p:sp>
        <p:nvSpPr>
          <p:cNvPr id="25" name="Rectangle 24"/>
          <p:cNvSpPr/>
          <p:nvPr/>
        </p:nvSpPr>
        <p:spPr>
          <a:xfrm>
            <a:off x="10835640" y="2743200"/>
            <a:ext cx="22860" cy="420624"/>
          </a:xfrm>
          <a:prstGeom prst="rect">
            <a:avLst/>
          </a:prstGeom>
          <a:solidFill>
            <a:srgbClr val="0A9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515600" y="3218688"/>
            <a:ext cx="685800" cy="274320"/>
          </a:xfrm>
          <a:prstGeom prst="rect">
            <a:avLst/>
          </a:prstGeom>
          <a:noFill/>
        </p:spPr>
        <p:txBody>
          <a:bodyPr wrap="square" anchor="t">
            <a:spAutoFit/>
          </a:bodyPr>
          <a:lstStyle/>
          <a:p>
            <a:pPr algn="ctr"/>
            <a:r>
              <a:rPr sz="1100" b="0">
                <a:solidFill>
                  <a:srgbClr val="263648"/>
                </a:solidFill>
                <a:latin typeface="Aptos"/>
              </a:rPr>
              <a:t>36 m</a:t>
            </a:r>
          </a:p>
        </p:txBody>
      </p:sp>
      <p:sp>
        <p:nvSpPr>
          <p:cNvPr id="27" name="TextBox 26"/>
          <p:cNvSpPr txBox="1"/>
          <p:nvPr/>
        </p:nvSpPr>
        <p:spPr>
          <a:xfrm>
            <a:off x="5989320" y="2121408"/>
            <a:ext cx="2926080" cy="502920"/>
          </a:xfrm>
          <a:prstGeom prst="rect">
            <a:avLst/>
          </a:prstGeom>
          <a:noFill/>
        </p:spPr>
        <p:txBody>
          <a:bodyPr wrap="square" anchor="t">
            <a:spAutoFit/>
          </a:bodyPr>
          <a:lstStyle/>
          <a:p>
            <a:pPr algn="ctr"/>
            <a:r>
              <a:rPr sz="1350" b="1">
                <a:solidFill>
                  <a:srgbClr val="0A9194"/>
                </a:solidFill>
                <a:latin typeface="Aptos"/>
              </a:rPr>
              <a:t>FEATURE WINDOW
Only data available at or before t₀</a:t>
            </a:r>
          </a:p>
        </p:txBody>
      </p:sp>
      <p:sp>
        <p:nvSpPr>
          <p:cNvPr id="28" name="TextBox 27"/>
          <p:cNvSpPr txBox="1"/>
          <p:nvPr/>
        </p:nvSpPr>
        <p:spPr>
          <a:xfrm>
            <a:off x="9052560" y="2121408"/>
            <a:ext cx="2011680" cy="502920"/>
          </a:xfrm>
          <a:prstGeom prst="rect">
            <a:avLst/>
          </a:prstGeom>
          <a:noFill/>
        </p:spPr>
        <p:txBody>
          <a:bodyPr wrap="square" anchor="t">
            <a:spAutoFit/>
          </a:bodyPr>
          <a:lstStyle/>
          <a:p>
            <a:pPr algn="ctr"/>
            <a:r>
              <a:rPr sz="1350" b="1">
                <a:solidFill>
                  <a:srgbClr val="704EB8"/>
                </a:solidFill>
                <a:latin typeface="Aptos"/>
              </a:rPr>
              <a:t>OUTCOME WINDOW
Observe conversion after t₀</a:t>
            </a:r>
          </a:p>
        </p:txBody>
      </p:sp>
      <p:sp>
        <p:nvSpPr>
          <p:cNvPr id="29" name="TextBox 28"/>
          <p:cNvSpPr txBox="1"/>
          <p:nvPr/>
        </p:nvSpPr>
        <p:spPr>
          <a:xfrm>
            <a:off x="5897880" y="3886200"/>
            <a:ext cx="5257800" cy="594360"/>
          </a:xfrm>
          <a:prstGeom prst="rect">
            <a:avLst/>
          </a:prstGeom>
          <a:noFill/>
        </p:spPr>
        <p:txBody>
          <a:bodyPr wrap="square" anchor="t">
            <a:spAutoFit/>
          </a:bodyPr>
          <a:lstStyle/>
          <a:p>
            <a:pPr algn="ctr"/>
            <a:r>
              <a:rPr sz="1600" b="1">
                <a:solidFill>
                  <a:srgbClr val="263648"/>
                </a:solidFill>
                <a:latin typeface="Aptos"/>
              </a:rPr>
              <a:t>Critical rule: the model must never use measurements collected after t₀ to predict an outcome after t₀.</a:t>
            </a:r>
          </a:p>
        </p:txBody>
      </p:sp>
      <p:sp>
        <p:nvSpPr>
          <p:cNvPr id="30" name="TextBox 29"/>
          <p:cNvSpPr txBox="1"/>
          <p:nvPr/>
        </p:nvSpPr>
        <p:spPr>
          <a:xfrm>
            <a:off x="5897880" y="4663440"/>
            <a:ext cx="5257800" cy="960120"/>
          </a:xfrm>
          <a:prstGeom prst="rect">
            <a:avLst/>
          </a:prstGeom>
          <a:noFill/>
        </p:spPr>
        <p:txBody>
          <a:bodyPr wrap="square" anchor="t">
            <a:spAutoFit/>
          </a:bodyPr>
          <a:lstStyle/>
          <a:p>
            <a:pPr algn="l"/>
            <a:r>
              <a:rPr sz="1550" b="0">
                <a:solidFill>
                  <a:srgbClr val="263648"/>
                </a:solidFill>
                <a:latin typeface="Aptos"/>
              </a:rPr>
              <a:t>Example: if the 36-month model outputs 0.72, the estimated probability of MCI→AD conversion within 36 months is 72% — subject to calibration and uncertainty.</a:t>
            </a:r>
          </a:p>
        </p:txBody>
      </p:sp>
      <p:sp>
        <p:nvSpPr>
          <p:cNvPr id="31" name="TextBox 30"/>
          <p:cNvSpPr txBox="1"/>
          <p:nvPr/>
        </p:nvSpPr>
        <p:spPr>
          <a:xfrm>
            <a:off x="502920" y="6510528"/>
            <a:ext cx="6583680" cy="228600"/>
          </a:xfrm>
          <a:prstGeom prst="rect">
            <a:avLst/>
          </a:prstGeom>
          <a:noFill/>
        </p:spPr>
        <p:txBody>
          <a:bodyPr wrap="square" anchor="t">
            <a:spAutoFit/>
          </a:bodyPr>
          <a:lstStyle/>
          <a:p>
            <a:pPr algn="l"/>
            <a:r>
              <a:rPr sz="850" b="0">
                <a:solidFill>
                  <a:srgbClr val="607488"/>
                </a:solidFill>
                <a:latin typeface="Aptos"/>
              </a:rPr>
              <a:t>NeuroFusion-AI  •  ADNI  •  Multimodal ML  •  Longitudinal Prediction</a:t>
            </a:r>
          </a:p>
        </p:txBody>
      </p:sp>
      <p:sp>
        <p:nvSpPr>
          <p:cNvPr id="32" name="TextBox 31"/>
          <p:cNvSpPr txBox="1"/>
          <p:nvPr/>
        </p:nvSpPr>
        <p:spPr>
          <a:xfrm>
            <a:off x="10716768" y="6510528"/>
            <a:ext cx="1097280" cy="228600"/>
          </a:xfrm>
          <a:prstGeom prst="rect">
            <a:avLst/>
          </a:prstGeom>
          <a:noFill/>
        </p:spPr>
        <p:txBody>
          <a:bodyPr wrap="square" anchor="t">
            <a:spAutoFit/>
          </a:bodyPr>
          <a:lstStyle/>
          <a:p>
            <a:pPr algn="r"/>
            <a:r>
              <a:rPr sz="850" b="0">
                <a:solidFill>
                  <a:srgbClr val="607488"/>
                </a:solidFill>
                <a:latin typeface="Aptos"/>
              </a:rPr>
              <a:t>MASTER’S PROJECT</a:t>
            </a:r>
          </a:p>
        </p:txBody>
      </p:sp>
      <p:sp>
        <p:nvSpPr>
          <p:cNvPr id="33" name="TextBox 32"/>
          <p:cNvSpPr txBox="1"/>
          <p:nvPr/>
        </p:nvSpPr>
        <p:spPr>
          <a:xfrm>
            <a:off x="11905488" y="6510528"/>
            <a:ext cx="164592" cy="228600"/>
          </a:xfrm>
          <a:prstGeom prst="rect">
            <a:avLst/>
          </a:prstGeom>
          <a:noFill/>
        </p:spPr>
        <p:txBody>
          <a:bodyPr wrap="square" anchor="t">
            <a:spAutoFit/>
          </a:bodyPr>
          <a:lstStyle/>
          <a:p>
            <a:pPr algn="r"/>
            <a:r>
              <a:rPr sz="850">
                <a:solidFill>
                  <a:srgbClr val="607488"/>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5029200" cy="320040"/>
          </a:xfrm>
          <a:prstGeom prst="rect">
            <a:avLst/>
          </a:prstGeom>
          <a:noFill/>
        </p:spPr>
        <p:txBody>
          <a:bodyPr wrap="square" anchor="t">
            <a:spAutoFit/>
          </a:bodyPr>
          <a:lstStyle/>
          <a:p>
            <a:pPr algn="l"/>
            <a:r>
              <a:rPr sz="1100" b="1">
                <a:solidFill>
                  <a:srgbClr val="0A9194"/>
                </a:solidFill>
                <a:latin typeface="Aptos"/>
              </a:rPr>
              <a:t>HOW THE TASKS FIT TOGETHER</a:t>
            </a:r>
          </a:p>
        </p:txBody>
      </p:sp>
      <p:sp>
        <p:nvSpPr>
          <p:cNvPr id="3" name="TextBox 2"/>
          <p:cNvSpPr txBox="1"/>
          <p:nvPr/>
        </p:nvSpPr>
        <p:spPr>
          <a:xfrm>
            <a:off x="566928" y="749808"/>
            <a:ext cx="10972800" cy="594360"/>
          </a:xfrm>
          <a:prstGeom prst="rect">
            <a:avLst/>
          </a:prstGeom>
          <a:noFill/>
        </p:spPr>
        <p:txBody>
          <a:bodyPr wrap="square" anchor="t">
            <a:spAutoFit/>
          </a:bodyPr>
          <a:lstStyle/>
          <a:p>
            <a:pPr algn="l"/>
            <a:r>
              <a:rPr sz="2800" b="1">
                <a:solidFill>
                  <a:srgbClr val="0C385C"/>
                </a:solidFill>
                <a:latin typeface="Aptos"/>
              </a:rPr>
              <a:t>Current-state recognition vs future-risk forecasting</a:t>
            </a:r>
          </a:p>
        </p:txBody>
      </p:sp>
      <p:sp>
        <p:nvSpPr>
          <p:cNvPr id="4" name="Rounded Rectangle 3"/>
          <p:cNvSpPr/>
          <p:nvPr/>
        </p:nvSpPr>
        <p:spPr>
          <a:xfrm>
            <a:off x="658368" y="1463040"/>
            <a:ext cx="5257800" cy="3246120"/>
          </a:xfrm>
          <a:prstGeom prst="round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463040"/>
            <a:ext cx="82296" cy="3246120"/>
          </a:xfrm>
          <a:prstGeom prst="rect">
            <a:avLst/>
          </a:prstGeom>
          <a:solidFill>
            <a:srgbClr val="0A9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719072"/>
            <a:ext cx="4389120" cy="320040"/>
          </a:xfrm>
          <a:prstGeom prst="rect">
            <a:avLst/>
          </a:prstGeom>
          <a:noFill/>
        </p:spPr>
        <p:txBody>
          <a:bodyPr wrap="square" anchor="t">
            <a:spAutoFit/>
          </a:bodyPr>
          <a:lstStyle/>
          <a:p>
            <a:pPr algn="l"/>
            <a:r>
              <a:rPr sz="1800" b="1">
                <a:solidFill>
                  <a:srgbClr val="0A9194"/>
                </a:solidFill>
                <a:latin typeface="Aptos"/>
              </a:rPr>
              <a:t>TASK A — CN / MCI / AD</a:t>
            </a:r>
          </a:p>
        </p:txBody>
      </p:sp>
      <p:sp>
        <p:nvSpPr>
          <p:cNvPr id="7" name="TextBox 6"/>
          <p:cNvSpPr txBox="1"/>
          <p:nvPr/>
        </p:nvSpPr>
        <p:spPr>
          <a:xfrm>
            <a:off x="896112" y="2176272"/>
            <a:ext cx="4434840" cy="1965960"/>
          </a:xfrm>
          <a:prstGeom prst="rect">
            <a:avLst/>
          </a:prstGeom>
          <a:noFill/>
        </p:spPr>
        <p:txBody>
          <a:bodyPr wrap="square" anchor="t">
            <a:spAutoFit/>
          </a:bodyPr>
          <a:lstStyle/>
          <a:p>
            <a:pPr algn="l"/>
            <a:r>
              <a:rPr sz="1650" b="0">
                <a:solidFill>
                  <a:srgbClr val="263648"/>
                </a:solidFill>
                <a:latin typeface="Aptos"/>
              </a:rPr>
              <a:t>Type: 3-class classification
Population: eligible ADNI participants
Time: defined visit
Output: P(CN), P(MCI), P(AD)
Purpose: model the participant’s current disease state</a:t>
            </a:r>
          </a:p>
        </p:txBody>
      </p:sp>
      <p:sp>
        <p:nvSpPr>
          <p:cNvPr id="8" name="Rounded Rectangle 7"/>
          <p:cNvSpPr/>
          <p:nvPr/>
        </p:nvSpPr>
        <p:spPr>
          <a:xfrm>
            <a:off x="6144768" y="1463040"/>
            <a:ext cx="5394960" cy="3246120"/>
          </a:xfrm>
          <a:prstGeom prst="round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44768" y="1463040"/>
            <a:ext cx="82296" cy="3246120"/>
          </a:xfrm>
          <a:prstGeom prst="rect">
            <a:avLst/>
          </a:prstGeom>
          <a:solidFill>
            <a:srgbClr val="704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82512" y="1719072"/>
            <a:ext cx="4389120" cy="320040"/>
          </a:xfrm>
          <a:prstGeom prst="rect">
            <a:avLst/>
          </a:prstGeom>
          <a:noFill/>
        </p:spPr>
        <p:txBody>
          <a:bodyPr wrap="square" anchor="t">
            <a:spAutoFit/>
          </a:bodyPr>
          <a:lstStyle/>
          <a:p>
            <a:pPr algn="l"/>
            <a:r>
              <a:rPr sz="1800" b="1">
                <a:solidFill>
                  <a:srgbClr val="704EB8"/>
                </a:solidFill>
                <a:latin typeface="Aptos"/>
              </a:rPr>
              <a:t>TASK B — MCI → AD</a:t>
            </a:r>
          </a:p>
        </p:txBody>
      </p:sp>
      <p:sp>
        <p:nvSpPr>
          <p:cNvPr id="11" name="TextBox 10"/>
          <p:cNvSpPr txBox="1"/>
          <p:nvPr/>
        </p:nvSpPr>
        <p:spPr>
          <a:xfrm>
            <a:off x="6382512" y="2176272"/>
            <a:ext cx="4480560" cy="1965960"/>
          </a:xfrm>
          <a:prstGeom prst="rect">
            <a:avLst/>
          </a:prstGeom>
          <a:noFill/>
        </p:spPr>
        <p:txBody>
          <a:bodyPr wrap="square" anchor="t">
            <a:spAutoFit/>
          </a:bodyPr>
          <a:lstStyle/>
          <a:p>
            <a:pPr algn="l"/>
            <a:r>
              <a:rPr sz="1650" b="0">
                <a:solidFill>
                  <a:srgbClr val="263648"/>
                </a:solidFill>
                <a:latin typeface="Aptos"/>
              </a:rPr>
              <a:t>Type: future-event prediction
Population: MCI participants at t₀
Time: horizon H after t₀
Output: P(conversion within H)
Purpose: forecast longitudinal progression</a:t>
            </a:r>
          </a:p>
        </p:txBody>
      </p:sp>
      <p:sp>
        <p:nvSpPr>
          <p:cNvPr id="12" name="TextBox 11"/>
          <p:cNvSpPr txBox="1"/>
          <p:nvPr/>
        </p:nvSpPr>
        <p:spPr>
          <a:xfrm>
            <a:off x="749808" y="4983480"/>
            <a:ext cx="2834640" cy="292608"/>
          </a:xfrm>
          <a:prstGeom prst="rect">
            <a:avLst/>
          </a:prstGeom>
          <a:noFill/>
        </p:spPr>
        <p:txBody>
          <a:bodyPr wrap="square" anchor="t">
            <a:spAutoFit/>
          </a:bodyPr>
          <a:lstStyle/>
          <a:p>
            <a:pPr algn="l"/>
            <a:r>
              <a:rPr sz="1600" b="1">
                <a:solidFill>
                  <a:srgbClr val="0C385C"/>
                </a:solidFill>
                <a:latin typeface="Aptos"/>
              </a:rPr>
              <a:t>Key evaluation acronyms</a:t>
            </a:r>
          </a:p>
        </p:txBody>
      </p:sp>
      <p:sp>
        <p:nvSpPr>
          <p:cNvPr id="13" name="TextBox 12"/>
          <p:cNvSpPr txBox="1"/>
          <p:nvPr/>
        </p:nvSpPr>
        <p:spPr>
          <a:xfrm>
            <a:off x="749808" y="5358384"/>
            <a:ext cx="3611880" cy="548640"/>
          </a:xfrm>
          <a:prstGeom prst="rect">
            <a:avLst/>
          </a:prstGeom>
          <a:noFill/>
        </p:spPr>
        <p:txBody>
          <a:bodyPr wrap="square" anchor="t">
            <a:spAutoFit/>
          </a:bodyPr>
          <a:lstStyle/>
          <a:p>
            <a:pPr algn="l"/>
            <a:r>
              <a:rPr sz="1350" b="0">
                <a:solidFill>
                  <a:srgbClr val="263648"/>
                </a:solidFill>
                <a:latin typeface="Aptos"/>
              </a:rPr>
              <a:t>Macro-F1 — average F1 across CN/MCI/AD, giving each class equal importance.</a:t>
            </a:r>
          </a:p>
        </p:txBody>
      </p:sp>
      <p:sp>
        <p:nvSpPr>
          <p:cNvPr id="14" name="TextBox 13"/>
          <p:cNvSpPr txBox="1"/>
          <p:nvPr/>
        </p:nvSpPr>
        <p:spPr>
          <a:xfrm>
            <a:off x="4224528" y="5358384"/>
            <a:ext cx="3703320" cy="594360"/>
          </a:xfrm>
          <a:prstGeom prst="rect">
            <a:avLst/>
          </a:prstGeom>
          <a:noFill/>
        </p:spPr>
        <p:txBody>
          <a:bodyPr wrap="square" anchor="t">
            <a:spAutoFit/>
          </a:bodyPr>
          <a:lstStyle/>
          <a:p>
            <a:pPr algn="l"/>
            <a:r>
              <a:rPr sz="1350" b="0">
                <a:solidFill>
                  <a:srgbClr val="263648"/>
                </a:solidFill>
                <a:latin typeface="Aptos"/>
              </a:rPr>
              <a:t>AUROC — Area Under the Receiver Operating Characteristic curve; measures discrimination across thresholds.</a:t>
            </a:r>
          </a:p>
        </p:txBody>
      </p:sp>
      <p:sp>
        <p:nvSpPr>
          <p:cNvPr id="15" name="TextBox 14"/>
          <p:cNvSpPr txBox="1"/>
          <p:nvPr/>
        </p:nvSpPr>
        <p:spPr>
          <a:xfrm>
            <a:off x="7845552" y="5358384"/>
            <a:ext cx="3703320" cy="594360"/>
          </a:xfrm>
          <a:prstGeom prst="rect">
            <a:avLst/>
          </a:prstGeom>
          <a:noFill/>
        </p:spPr>
        <p:txBody>
          <a:bodyPr wrap="square" anchor="t">
            <a:spAutoFit/>
          </a:bodyPr>
          <a:lstStyle/>
          <a:p>
            <a:pPr algn="l"/>
            <a:r>
              <a:rPr sz="1350" b="0">
                <a:solidFill>
                  <a:srgbClr val="263648"/>
                </a:solidFill>
                <a:latin typeface="Aptos"/>
              </a:rPr>
              <a:t>AUPRC — Area Under the Precision–Recall Curve; especially informative when progression events are imbalanced.</a:t>
            </a:r>
          </a:p>
        </p:txBody>
      </p:sp>
      <p:sp>
        <p:nvSpPr>
          <p:cNvPr id="16" name="TextBox 15"/>
          <p:cNvSpPr txBox="1"/>
          <p:nvPr/>
        </p:nvSpPr>
        <p:spPr>
          <a:xfrm>
            <a:off x="749808" y="5989320"/>
            <a:ext cx="10789920" cy="438912"/>
          </a:xfrm>
          <a:prstGeom prst="rect">
            <a:avLst/>
          </a:prstGeom>
          <a:noFill/>
        </p:spPr>
        <p:txBody>
          <a:bodyPr wrap="square" anchor="t">
            <a:spAutoFit/>
          </a:bodyPr>
          <a:lstStyle/>
          <a:p>
            <a:pPr algn="l"/>
            <a:r>
              <a:rPr sz="1320" b="0">
                <a:solidFill>
                  <a:srgbClr val="263648"/>
                </a:solidFill>
                <a:latin typeface="Aptos"/>
              </a:rPr>
              <a:t>Brier score — mean squared error of predicted probabilities; lower is better. Calibration asks whether predicted risks match observed frequencies.</a:t>
            </a:r>
          </a:p>
        </p:txBody>
      </p:sp>
      <p:sp>
        <p:nvSpPr>
          <p:cNvPr id="17" name="TextBox 16"/>
          <p:cNvSpPr txBox="1"/>
          <p:nvPr/>
        </p:nvSpPr>
        <p:spPr>
          <a:xfrm>
            <a:off x="502920" y="6510528"/>
            <a:ext cx="6583680" cy="228600"/>
          </a:xfrm>
          <a:prstGeom prst="rect">
            <a:avLst/>
          </a:prstGeom>
          <a:noFill/>
        </p:spPr>
        <p:txBody>
          <a:bodyPr wrap="square" anchor="t">
            <a:spAutoFit/>
          </a:bodyPr>
          <a:lstStyle/>
          <a:p>
            <a:pPr algn="l"/>
            <a:r>
              <a:rPr sz="850" b="0">
                <a:solidFill>
                  <a:srgbClr val="607488"/>
                </a:solidFill>
                <a:latin typeface="Aptos"/>
              </a:rPr>
              <a:t>NeuroFusion-AI  •  ADNI  •  Multimodal ML  •  Longitudinal Prediction</a:t>
            </a:r>
          </a:p>
        </p:txBody>
      </p:sp>
      <p:sp>
        <p:nvSpPr>
          <p:cNvPr id="18" name="TextBox 17"/>
          <p:cNvSpPr txBox="1"/>
          <p:nvPr/>
        </p:nvSpPr>
        <p:spPr>
          <a:xfrm>
            <a:off x="10716768" y="6510528"/>
            <a:ext cx="1097280" cy="228600"/>
          </a:xfrm>
          <a:prstGeom prst="rect">
            <a:avLst/>
          </a:prstGeom>
          <a:noFill/>
        </p:spPr>
        <p:txBody>
          <a:bodyPr wrap="square" anchor="t">
            <a:spAutoFit/>
          </a:bodyPr>
          <a:lstStyle/>
          <a:p>
            <a:pPr algn="r"/>
            <a:r>
              <a:rPr sz="850" b="0">
                <a:solidFill>
                  <a:srgbClr val="607488"/>
                </a:solidFill>
                <a:latin typeface="Aptos"/>
              </a:rPr>
              <a:t>MASTER’S PROJECT</a:t>
            </a:r>
          </a:p>
        </p:txBody>
      </p:sp>
      <p:sp>
        <p:nvSpPr>
          <p:cNvPr id="19" name="TextBox 18"/>
          <p:cNvSpPr txBox="1"/>
          <p:nvPr/>
        </p:nvSpPr>
        <p:spPr>
          <a:xfrm>
            <a:off x="11905488" y="6510528"/>
            <a:ext cx="164592" cy="228600"/>
          </a:xfrm>
          <a:prstGeom prst="rect">
            <a:avLst/>
          </a:prstGeom>
          <a:noFill/>
        </p:spPr>
        <p:txBody>
          <a:bodyPr wrap="square" anchor="t">
            <a:spAutoFit/>
          </a:bodyPr>
          <a:lstStyle/>
          <a:p>
            <a:pPr algn="r"/>
            <a:r>
              <a:rPr sz="850">
                <a:solidFill>
                  <a:srgbClr val="607488"/>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3558"/>
        </a:solidFill>
        <a:effectLst/>
      </p:bgPr>
    </p:bg>
    <p:spTree>
      <p:nvGrpSpPr>
        <p:cNvPr id="1" name=""/>
        <p:cNvGrpSpPr/>
        <p:nvPr/>
      </p:nvGrpSpPr>
      <p:grpSpPr>
        <a:xfrm>
          <a:off x="0" y="0"/>
          <a:ext cx="0" cy="0"/>
          <a:chOff x="0" y="0"/>
          <a:chExt cx="0" cy="0"/>
        </a:xfrm>
      </p:grpSpPr>
      <p:sp>
        <p:nvSpPr>
          <p:cNvPr id="95" name="Text 0"/>
          <p:cNvSpPr/>
          <p:nvPr/>
        </p:nvSpPr>
        <p:spPr>
          <a:xfrm>
            <a:off x="640080" y="1005840"/>
            <a:ext cx="10969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400" b="1" u="none" strike="noStrike">
                <a:solidFill>
                  <a:srgbClr val="19A7A0"/>
                </a:solidFill>
                <a:effectLst/>
                <a:uFillTx/>
                <a:latin typeface="Aptos"/>
              </a:rPr>
              <a:t>02</a:t>
            </a:r>
            <a:endParaRPr lang="en-US" sz="4400" b="0" u="none" strike="noStrike">
              <a:solidFill>
                <a:srgbClr val="FFFFFF"/>
              </a:solidFill>
              <a:effectLst/>
              <a:uFillTx/>
              <a:latin typeface="Arial"/>
            </a:endParaRPr>
          </a:p>
        </p:txBody>
      </p:sp>
      <p:sp>
        <p:nvSpPr>
          <p:cNvPr id="96" name="Text 1"/>
          <p:cNvSpPr/>
          <p:nvPr/>
        </p:nvSpPr>
        <p:spPr>
          <a:xfrm>
            <a:off x="640080" y="1874520"/>
            <a:ext cx="105152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u="none" strike="noStrike">
                <a:solidFill>
                  <a:srgbClr val="FFFFFF"/>
                </a:solidFill>
                <a:effectLst/>
                <a:uFillTx/>
                <a:latin typeface="Aptos"/>
              </a:rPr>
              <a:t>ADNI data foundation</a:t>
            </a:r>
            <a:endParaRPr lang="en-US" sz="3400" b="0" u="none" strike="noStrike">
              <a:solidFill>
                <a:srgbClr val="FFFFFF"/>
              </a:solidFill>
              <a:effectLst/>
              <a:uFillTx/>
              <a:latin typeface="Arial"/>
            </a:endParaRPr>
          </a:p>
        </p:txBody>
      </p:sp>
      <p:sp>
        <p:nvSpPr>
          <p:cNvPr id="97" name="Text 2"/>
          <p:cNvSpPr/>
          <p:nvPr/>
        </p:nvSpPr>
        <p:spPr>
          <a:xfrm>
            <a:off x="658440" y="2743200"/>
            <a:ext cx="98751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u="none" strike="noStrike" dirty="0">
                <a:solidFill>
                  <a:srgbClr val="DCE7EF"/>
                </a:solidFill>
                <a:effectLst/>
                <a:uFillTx/>
                <a:latin typeface="Aptos"/>
              </a:rPr>
              <a:t>We must first understand the dataset, access rules, identifiers, phases, visits, modality coverage and data dictionaries before training any model.</a:t>
            </a:r>
            <a:endParaRPr lang="en-US" sz="2000" b="0" u="none" strike="noStrike" dirty="0">
              <a:solidFill>
                <a:srgbClr val="FFFFFF"/>
              </a:solidFill>
              <a:effectLst/>
              <a:uFillTx/>
              <a:latin typeface="Arial"/>
            </a:endParaRPr>
          </a:p>
        </p:txBody>
      </p:sp>
      <p:sp>
        <p:nvSpPr>
          <p:cNvPr id="98" name="PlaceHolder 1"/>
          <p:cNvSpPr>
            <a:spLocks noGrp="1"/>
          </p:cNvSpPr>
          <p:nvPr>
            <p:ph type="sldNum" idx="10"/>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13</a:t>
            </a:r>
            <a:endParaRPr lang="en-US" sz="800" b="0" u="none" strike="noStrike">
              <a:solidFill>
                <a:srgbClr val="FFFFFF"/>
              </a:solidFill>
              <a:effectLst/>
              <a:uFillTx/>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p:cNvSpPr>
          <p:nvPr>
            <p:ph type="sldNum" idx="11"/>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14</a:t>
            </a:r>
            <a:endParaRPr lang="en-US" sz="800" b="0" u="none" strike="noStrike">
              <a:solidFill>
                <a:srgbClr val="000000"/>
              </a:solidFill>
              <a:effectLst/>
              <a:uFillTx/>
              <a:latin typeface="Times New Roman"/>
            </a:endParaRPr>
          </a:p>
        </p:txBody>
      </p:sp>
      <p:sp>
        <p:nvSpPr>
          <p:cNvPr id="126" name="TextBox 125"/>
          <p:cNvSpPr txBox="1"/>
          <p:nvPr/>
        </p:nvSpPr>
        <p:spPr>
          <a:xfrm>
            <a:off x="566928" y="347472"/>
            <a:ext cx="2926080" cy="274320"/>
          </a:xfrm>
          <a:prstGeom prst="rect">
            <a:avLst/>
          </a:prstGeom>
          <a:noFill/>
        </p:spPr>
        <p:txBody>
          <a:bodyPr wrap="square">
            <a:spAutoFit/>
          </a:bodyPr>
          <a:lstStyle/>
          <a:p>
            <a:pPr algn="l"/>
            <a:r>
              <a:rPr sz="1100" b="1">
                <a:solidFill>
                  <a:srgbClr val="0A9194"/>
                </a:solidFill>
                <a:latin typeface="Aptos"/>
              </a:rPr>
              <a:t>CORE DATA MODEL</a:t>
            </a:r>
          </a:p>
        </p:txBody>
      </p:sp>
      <p:sp>
        <p:nvSpPr>
          <p:cNvPr id="127" name="TextBox 126"/>
          <p:cNvSpPr txBox="1"/>
          <p:nvPr/>
        </p:nvSpPr>
        <p:spPr>
          <a:xfrm>
            <a:off x="566928" y="694944"/>
            <a:ext cx="10789920" cy="502920"/>
          </a:xfrm>
          <a:prstGeom prst="rect">
            <a:avLst/>
          </a:prstGeom>
          <a:noFill/>
        </p:spPr>
        <p:txBody>
          <a:bodyPr wrap="square">
            <a:spAutoFit/>
          </a:bodyPr>
          <a:lstStyle/>
          <a:p>
            <a:pPr algn="l"/>
            <a:r>
              <a:rPr sz="2700" b="1">
                <a:solidFill>
                  <a:srgbClr val="0C385C"/>
                </a:solidFill>
                <a:latin typeface="Aptos"/>
              </a:rPr>
              <a:t>Build a participant × visit longitudinal table</a:t>
            </a:r>
          </a:p>
        </p:txBody>
      </p:sp>
      <p:sp>
        <p:nvSpPr>
          <p:cNvPr id="128" name="TextBox 127"/>
          <p:cNvSpPr txBox="1"/>
          <p:nvPr/>
        </p:nvSpPr>
        <p:spPr>
          <a:xfrm>
            <a:off x="566928" y="1225296"/>
            <a:ext cx="10972800" cy="502920"/>
          </a:xfrm>
          <a:prstGeom prst="rect">
            <a:avLst/>
          </a:prstGeom>
          <a:noFill/>
        </p:spPr>
        <p:txBody>
          <a:bodyPr wrap="square">
            <a:spAutoFit/>
          </a:bodyPr>
          <a:lstStyle/>
          <a:p>
            <a:pPr algn="l"/>
            <a:r>
              <a:rPr sz="1350" b="0">
                <a:solidFill>
                  <a:srgbClr val="263648"/>
                </a:solidFill>
                <a:latin typeface="Aptos"/>
              </a:rPr>
              <a:t>Each row represents one participant at one visit. The fields below identify the person, the visit/time point, the diagnostic state, cognitive scores and available biomarker/imaging information.</a:t>
            </a:r>
          </a:p>
        </p:txBody>
      </p:sp>
      <p:sp>
        <p:nvSpPr>
          <p:cNvPr id="129" name="Rounded Rectangle 128"/>
          <p:cNvSpPr/>
          <p:nvPr/>
        </p:nvSpPr>
        <p:spPr>
          <a:xfrm>
            <a:off x="566928" y="1856231"/>
            <a:ext cx="6537960" cy="1993392"/>
          </a:xfrm>
          <a:prstGeom prst="round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566928" y="1856231"/>
            <a:ext cx="73152" cy="1993392"/>
          </a:xfrm>
          <a:prstGeom prst="rect">
            <a:avLst/>
          </a:prstGeom>
          <a:solidFill>
            <a:srgbClr val="0A9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768096" y="2039112"/>
            <a:ext cx="2011680" cy="256032"/>
          </a:xfrm>
          <a:prstGeom prst="rect">
            <a:avLst/>
          </a:prstGeom>
          <a:noFill/>
        </p:spPr>
        <p:txBody>
          <a:bodyPr wrap="square">
            <a:spAutoFit/>
          </a:bodyPr>
          <a:lstStyle/>
          <a:p>
            <a:pPr algn="l"/>
            <a:r>
              <a:rPr sz="1400" b="1">
                <a:solidFill>
                  <a:srgbClr val="0A9194"/>
                </a:solidFill>
                <a:latin typeface="Aptos"/>
              </a:rPr>
              <a:t>EXAMPLE RECORD</a:t>
            </a:r>
          </a:p>
        </p:txBody>
      </p:sp>
      <p:sp>
        <p:nvSpPr>
          <p:cNvPr id="132" name="TextBox 131"/>
          <p:cNvSpPr txBox="1"/>
          <p:nvPr/>
        </p:nvSpPr>
        <p:spPr>
          <a:xfrm>
            <a:off x="768096" y="2487168"/>
            <a:ext cx="502920" cy="274320"/>
          </a:xfrm>
          <a:prstGeom prst="rect">
            <a:avLst/>
          </a:prstGeom>
          <a:noFill/>
        </p:spPr>
        <p:txBody>
          <a:bodyPr wrap="square">
            <a:spAutoFit/>
          </a:bodyPr>
          <a:lstStyle/>
          <a:p>
            <a:pPr algn="ctr"/>
            <a:r>
              <a:rPr sz="1050" b="1">
                <a:solidFill>
                  <a:srgbClr val="0C385C"/>
                </a:solidFill>
                <a:latin typeface="Aptos"/>
              </a:rPr>
              <a:t>RID</a:t>
            </a:r>
          </a:p>
        </p:txBody>
      </p:sp>
      <p:sp>
        <p:nvSpPr>
          <p:cNvPr id="133" name="TextBox 132"/>
          <p:cNvSpPr txBox="1"/>
          <p:nvPr/>
        </p:nvSpPr>
        <p:spPr>
          <a:xfrm>
            <a:off x="1271016" y="2487168"/>
            <a:ext cx="658368" cy="274320"/>
          </a:xfrm>
          <a:prstGeom prst="rect">
            <a:avLst/>
          </a:prstGeom>
          <a:noFill/>
        </p:spPr>
        <p:txBody>
          <a:bodyPr wrap="square">
            <a:spAutoFit/>
          </a:bodyPr>
          <a:lstStyle/>
          <a:p>
            <a:pPr algn="ctr"/>
            <a:r>
              <a:rPr sz="1050" b="1">
                <a:solidFill>
                  <a:srgbClr val="0C385C"/>
                </a:solidFill>
                <a:latin typeface="Aptos"/>
              </a:rPr>
              <a:t>VISCODE</a:t>
            </a:r>
          </a:p>
        </p:txBody>
      </p:sp>
      <p:sp>
        <p:nvSpPr>
          <p:cNvPr id="134" name="TextBox 133"/>
          <p:cNvSpPr txBox="1"/>
          <p:nvPr/>
        </p:nvSpPr>
        <p:spPr>
          <a:xfrm>
            <a:off x="1929384" y="2487168"/>
            <a:ext cx="822960" cy="274320"/>
          </a:xfrm>
          <a:prstGeom prst="rect">
            <a:avLst/>
          </a:prstGeom>
          <a:noFill/>
        </p:spPr>
        <p:txBody>
          <a:bodyPr wrap="square">
            <a:spAutoFit/>
          </a:bodyPr>
          <a:lstStyle/>
          <a:p>
            <a:pPr algn="ctr"/>
            <a:r>
              <a:rPr sz="1050" b="1">
                <a:solidFill>
                  <a:srgbClr val="0C385C"/>
                </a:solidFill>
                <a:latin typeface="Aptos"/>
              </a:rPr>
              <a:t>EXAMDATE</a:t>
            </a:r>
          </a:p>
        </p:txBody>
      </p:sp>
      <p:sp>
        <p:nvSpPr>
          <p:cNvPr id="135" name="TextBox 134"/>
          <p:cNvSpPr txBox="1"/>
          <p:nvPr/>
        </p:nvSpPr>
        <p:spPr>
          <a:xfrm>
            <a:off x="2752344" y="2487168"/>
            <a:ext cx="502920" cy="274320"/>
          </a:xfrm>
          <a:prstGeom prst="rect">
            <a:avLst/>
          </a:prstGeom>
          <a:noFill/>
        </p:spPr>
        <p:txBody>
          <a:bodyPr wrap="square">
            <a:spAutoFit/>
          </a:bodyPr>
          <a:lstStyle/>
          <a:p>
            <a:pPr algn="ctr"/>
            <a:r>
              <a:rPr sz="1050" b="1">
                <a:solidFill>
                  <a:srgbClr val="0C385C"/>
                </a:solidFill>
                <a:latin typeface="Aptos"/>
              </a:rPr>
              <a:t>DX</a:t>
            </a:r>
          </a:p>
        </p:txBody>
      </p:sp>
      <p:sp>
        <p:nvSpPr>
          <p:cNvPr id="136" name="TextBox 135"/>
          <p:cNvSpPr txBox="1"/>
          <p:nvPr/>
        </p:nvSpPr>
        <p:spPr>
          <a:xfrm>
            <a:off x="3255264" y="2487168"/>
            <a:ext cx="530352" cy="274320"/>
          </a:xfrm>
          <a:prstGeom prst="rect">
            <a:avLst/>
          </a:prstGeom>
          <a:noFill/>
        </p:spPr>
        <p:txBody>
          <a:bodyPr wrap="square">
            <a:spAutoFit/>
          </a:bodyPr>
          <a:lstStyle/>
          <a:p>
            <a:pPr algn="ctr"/>
            <a:r>
              <a:rPr sz="1050" b="1">
                <a:solidFill>
                  <a:srgbClr val="0C385C"/>
                </a:solidFill>
                <a:latin typeface="Aptos"/>
              </a:rPr>
              <a:t>MMSE</a:t>
            </a:r>
          </a:p>
        </p:txBody>
      </p:sp>
      <p:sp>
        <p:nvSpPr>
          <p:cNvPr id="137" name="TextBox 136"/>
          <p:cNvSpPr txBox="1"/>
          <p:nvPr/>
        </p:nvSpPr>
        <p:spPr>
          <a:xfrm>
            <a:off x="3785616" y="2487168"/>
            <a:ext cx="640080" cy="274320"/>
          </a:xfrm>
          <a:prstGeom prst="rect">
            <a:avLst/>
          </a:prstGeom>
          <a:noFill/>
        </p:spPr>
        <p:txBody>
          <a:bodyPr wrap="square">
            <a:spAutoFit/>
          </a:bodyPr>
          <a:lstStyle/>
          <a:p>
            <a:pPr algn="ctr"/>
            <a:r>
              <a:rPr sz="1050" b="1">
                <a:solidFill>
                  <a:srgbClr val="0C385C"/>
                </a:solidFill>
                <a:latin typeface="Aptos"/>
              </a:rPr>
              <a:t>ADAS13</a:t>
            </a:r>
          </a:p>
        </p:txBody>
      </p:sp>
      <p:sp>
        <p:nvSpPr>
          <p:cNvPr id="138" name="TextBox 137"/>
          <p:cNvSpPr txBox="1"/>
          <p:nvPr/>
        </p:nvSpPr>
        <p:spPr>
          <a:xfrm>
            <a:off x="4425696" y="2487168"/>
            <a:ext cx="566928" cy="274320"/>
          </a:xfrm>
          <a:prstGeom prst="rect">
            <a:avLst/>
          </a:prstGeom>
          <a:noFill/>
        </p:spPr>
        <p:txBody>
          <a:bodyPr wrap="square">
            <a:spAutoFit/>
          </a:bodyPr>
          <a:lstStyle/>
          <a:p>
            <a:pPr algn="ctr"/>
            <a:r>
              <a:rPr sz="1050" b="1">
                <a:solidFill>
                  <a:srgbClr val="0C385C"/>
                </a:solidFill>
                <a:latin typeface="Aptos"/>
              </a:rPr>
              <a:t>CDRSB</a:t>
            </a:r>
          </a:p>
        </p:txBody>
      </p:sp>
      <p:sp>
        <p:nvSpPr>
          <p:cNvPr id="139" name="TextBox 138"/>
          <p:cNvSpPr txBox="1"/>
          <p:nvPr/>
        </p:nvSpPr>
        <p:spPr>
          <a:xfrm>
            <a:off x="4992624" y="2487168"/>
            <a:ext cx="438912" cy="274320"/>
          </a:xfrm>
          <a:prstGeom prst="rect">
            <a:avLst/>
          </a:prstGeom>
          <a:noFill/>
        </p:spPr>
        <p:txBody>
          <a:bodyPr wrap="square">
            <a:spAutoFit/>
          </a:bodyPr>
          <a:lstStyle/>
          <a:p>
            <a:pPr algn="ctr"/>
            <a:r>
              <a:rPr sz="1050" b="1">
                <a:solidFill>
                  <a:srgbClr val="0C385C"/>
                </a:solidFill>
                <a:latin typeface="Aptos"/>
              </a:rPr>
              <a:t>MRI</a:t>
            </a:r>
          </a:p>
        </p:txBody>
      </p:sp>
      <p:sp>
        <p:nvSpPr>
          <p:cNvPr id="140" name="TextBox 139"/>
          <p:cNvSpPr txBox="1"/>
          <p:nvPr/>
        </p:nvSpPr>
        <p:spPr>
          <a:xfrm>
            <a:off x="5431536" y="2487168"/>
            <a:ext cx="438912" cy="274320"/>
          </a:xfrm>
          <a:prstGeom prst="rect">
            <a:avLst/>
          </a:prstGeom>
          <a:noFill/>
        </p:spPr>
        <p:txBody>
          <a:bodyPr wrap="square">
            <a:spAutoFit/>
          </a:bodyPr>
          <a:lstStyle/>
          <a:p>
            <a:pPr algn="ctr"/>
            <a:r>
              <a:rPr sz="1050" b="1">
                <a:solidFill>
                  <a:srgbClr val="0C385C"/>
                </a:solidFill>
                <a:latin typeface="Aptos"/>
              </a:rPr>
              <a:t>PET</a:t>
            </a:r>
          </a:p>
        </p:txBody>
      </p:sp>
      <p:sp>
        <p:nvSpPr>
          <p:cNvPr id="141" name="TextBox 140"/>
          <p:cNvSpPr txBox="1"/>
          <p:nvPr/>
        </p:nvSpPr>
        <p:spPr>
          <a:xfrm>
            <a:off x="5870448" y="2487168"/>
            <a:ext cx="438912" cy="274320"/>
          </a:xfrm>
          <a:prstGeom prst="rect">
            <a:avLst/>
          </a:prstGeom>
          <a:noFill/>
        </p:spPr>
        <p:txBody>
          <a:bodyPr wrap="square">
            <a:spAutoFit/>
          </a:bodyPr>
          <a:lstStyle/>
          <a:p>
            <a:pPr algn="ctr"/>
            <a:r>
              <a:rPr sz="1050" b="1">
                <a:solidFill>
                  <a:srgbClr val="0C385C"/>
                </a:solidFill>
                <a:latin typeface="Aptos"/>
              </a:rPr>
              <a:t>CSF</a:t>
            </a:r>
          </a:p>
        </p:txBody>
      </p:sp>
      <p:sp>
        <p:nvSpPr>
          <p:cNvPr id="142" name="TextBox 141"/>
          <p:cNvSpPr txBox="1"/>
          <p:nvPr/>
        </p:nvSpPr>
        <p:spPr>
          <a:xfrm>
            <a:off x="6309360" y="2487168"/>
            <a:ext cx="658368" cy="274320"/>
          </a:xfrm>
          <a:prstGeom prst="rect">
            <a:avLst/>
          </a:prstGeom>
          <a:noFill/>
        </p:spPr>
        <p:txBody>
          <a:bodyPr wrap="square">
            <a:spAutoFit/>
          </a:bodyPr>
          <a:lstStyle/>
          <a:p>
            <a:pPr algn="ctr"/>
            <a:r>
              <a:rPr sz="1050" b="1">
                <a:solidFill>
                  <a:srgbClr val="0C385C"/>
                </a:solidFill>
                <a:latin typeface="Aptos"/>
              </a:rPr>
              <a:t>APOE</a:t>
            </a:r>
          </a:p>
        </p:txBody>
      </p:sp>
      <p:sp>
        <p:nvSpPr>
          <p:cNvPr id="143" name="TextBox 142"/>
          <p:cNvSpPr txBox="1"/>
          <p:nvPr/>
        </p:nvSpPr>
        <p:spPr>
          <a:xfrm>
            <a:off x="768096" y="2907792"/>
            <a:ext cx="502920" cy="274320"/>
          </a:xfrm>
          <a:prstGeom prst="rect">
            <a:avLst/>
          </a:prstGeom>
          <a:noFill/>
        </p:spPr>
        <p:txBody>
          <a:bodyPr wrap="square">
            <a:spAutoFit/>
          </a:bodyPr>
          <a:lstStyle/>
          <a:p>
            <a:pPr algn="ctr"/>
            <a:r>
              <a:rPr sz="1100" b="0">
                <a:solidFill>
                  <a:srgbClr val="263648"/>
                </a:solidFill>
                <a:latin typeface="Aptos"/>
              </a:rPr>
              <a:t>001</a:t>
            </a:r>
          </a:p>
        </p:txBody>
      </p:sp>
      <p:sp>
        <p:nvSpPr>
          <p:cNvPr id="144" name="TextBox 143"/>
          <p:cNvSpPr txBox="1"/>
          <p:nvPr/>
        </p:nvSpPr>
        <p:spPr>
          <a:xfrm>
            <a:off x="1271016" y="2907792"/>
            <a:ext cx="658368" cy="274320"/>
          </a:xfrm>
          <a:prstGeom prst="rect">
            <a:avLst/>
          </a:prstGeom>
          <a:noFill/>
        </p:spPr>
        <p:txBody>
          <a:bodyPr wrap="square">
            <a:spAutoFit/>
          </a:bodyPr>
          <a:lstStyle/>
          <a:p>
            <a:pPr algn="ctr"/>
            <a:r>
              <a:rPr sz="1100" b="0">
                <a:solidFill>
                  <a:srgbClr val="263648"/>
                </a:solidFill>
                <a:latin typeface="Aptos"/>
              </a:rPr>
              <a:t>m24</a:t>
            </a:r>
          </a:p>
        </p:txBody>
      </p:sp>
      <p:sp>
        <p:nvSpPr>
          <p:cNvPr id="145" name="TextBox 144"/>
          <p:cNvSpPr txBox="1"/>
          <p:nvPr/>
        </p:nvSpPr>
        <p:spPr>
          <a:xfrm>
            <a:off x="1929384" y="2907792"/>
            <a:ext cx="822960" cy="274320"/>
          </a:xfrm>
          <a:prstGeom prst="rect">
            <a:avLst/>
          </a:prstGeom>
          <a:noFill/>
        </p:spPr>
        <p:txBody>
          <a:bodyPr wrap="square">
            <a:spAutoFit/>
          </a:bodyPr>
          <a:lstStyle/>
          <a:p>
            <a:pPr algn="ctr"/>
            <a:r>
              <a:rPr sz="1100" b="0">
                <a:solidFill>
                  <a:srgbClr val="263648"/>
                </a:solidFill>
                <a:latin typeface="Aptos"/>
              </a:rPr>
              <a:t>2026-…</a:t>
            </a:r>
          </a:p>
        </p:txBody>
      </p:sp>
      <p:sp>
        <p:nvSpPr>
          <p:cNvPr id="146" name="TextBox 145"/>
          <p:cNvSpPr txBox="1"/>
          <p:nvPr/>
        </p:nvSpPr>
        <p:spPr>
          <a:xfrm>
            <a:off x="2752344" y="2907792"/>
            <a:ext cx="502920" cy="274320"/>
          </a:xfrm>
          <a:prstGeom prst="rect">
            <a:avLst/>
          </a:prstGeom>
          <a:noFill/>
        </p:spPr>
        <p:txBody>
          <a:bodyPr wrap="square">
            <a:spAutoFit/>
          </a:bodyPr>
          <a:lstStyle/>
          <a:p>
            <a:pPr algn="ctr"/>
            <a:r>
              <a:rPr sz="1100" b="0">
                <a:solidFill>
                  <a:srgbClr val="263648"/>
                </a:solidFill>
                <a:latin typeface="Aptos"/>
              </a:rPr>
              <a:t>MCI</a:t>
            </a:r>
          </a:p>
        </p:txBody>
      </p:sp>
      <p:sp>
        <p:nvSpPr>
          <p:cNvPr id="147" name="TextBox 146"/>
          <p:cNvSpPr txBox="1"/>
          <p:nvPr/>
        </p:nvSpPr>
        <p:spPr>
          <a:xfrm>
            <a:off x="3255264" y="2907792"/>
            <a:ext cx="530352" cy="274320"/>
          </a:xfrm>
          <a:prstGeom prst="rect">
            <a:avLst/>
          </a:prstGeom>
          <a:noFill/>
        </p:spPr>
        <p:txBody>
          <a:bodyPr wrap="square">
            <a:spAutoFit/>
          </a:bodyPr>
          <a:lstStyle/>
          <a:p>
            <a:pPr algn="ctr"/>
            <a:r>
              <a:rPr sz="1100" b="0">
                <a:solidFill>
                  <a:srgbClr val="263648"/>
                </a:solidFill>
                <a:latin typeface="Aptos"/>
              </a:rPr>
              <a:t>24</a:t>
            </a:r>
          </a:p>
        </p:txBody>
      </p:sp>
      <p:sp>
        <p:nvSpPr>
          <p:cNvPr id="148" name="TextBox 147"/>
          <p:cNvSpPr txBox="1"/>
          <p:nvPr/>
        </p:nvSpPr>
        <p:spPr>
          <a:xfrm>
            <a:off x="3785616" y="2907792"/>
            <a:ext cx="640080" cy="274320"/>
          </a:xfrm>
          <a:prstGeom prst="rect">
            <a:avLst/>
          </a:prstGeom>
          <a:noFill/>
        </p:spPr>
        <p:txBody>
          <a:bodyPr wrap="square">
            <a:spAutoFit/>
          </a:bodyPr>
          <a:lstStyle/>
          <a:p>
            <a:pPr algn="ctr"/>
            <a:r>
              <a:rPr sz="1100" b="0">
                <a:solidFill>
                  <a:srgbClr val="263648"/>
                </a:solidFill>
                <a:latin typeface="Aptos"/>
              </a:rPr>
              <a:t>19</a:t>
            </a:r>
          </a:p>
        </p:txBody>
      </p:sp>
      <p:sp>
        <p:nvSpPr>
          <p:cNvPr id="149" name="TextBox 148"/>
          <p:cNvSpPr txBox="1"/>
          <p:nvPr/>
        </p:nvSpPr>
        <p:spPr>
          <a:xfrm>
            <a:off x="4425696" y="2907792"/>
            <a:ext cx="566928" cy="274320"/>
          </a:xfrm>
          <a:prstGeom prst="rect">
            <a:avLst/>
          </a:prstGeom>
          <a:noFill/>
        </p:spPr>
        <p:txBody>
          <a:bodyPr wrap="square">
            <a:spAutoFit/>
          </a:bodyPr>
          <a:lstStyle/>
          <a:p>
            <a:pPr algn="ctr"/>
            <a:r>
              <a:rPr sz="1100" b="0">
                <a:solidFill>
                  <a:srgbClr val="263648"/>
                </a:solidFill>
                <a:latin typeface="Aptos"/>
              </a:rPr>
              <a:t>3.0</a:t>
            </a:r>
          </a:p>
        </p:txBody>
      </p:sp>
      <p:sp>
        <p:nvSpPr>
          <p:cNvPr id="150" name="TextBox 149"/>
          <p:cNvSpPr txBox="1"/>
          <p:nvPr/>
        </p:nvSpPr>
        <p:spPr>
          <a:xfrm>
            <a:off x="4992624" y="2907792"/>
            <a:ext cx="438912" cy="274320"/>
          </a:xfrm>
          <a:prstGeom prst="rect">
            <a:avLst/>
          </a:prstGeom>
          <a:noFill/>
        </p:spPr>
        <p:txBody>
          <a:bodyPr wrap="square">
            <a:spAutoFit/>
          </a:bodyPr>
          <a:lstStyle/>
          <a:p>
            <a:pPr algn="ctr"/>
            <a:r>
              <a:rPr sz="1100" b="0">
                <a:solidFill>
                  <a:srgbClr val="263648"/>
                </a:solidFill>
                <a:latin typeface="Aptos"/>
              </a:rPr>
              <a:t>✓</a:t>
            </a:r>
          </a:p>
        </p:txBody>
      </p:sp>
      <p:sp>
        <p:nvSpPr>
          <p:cNvPr id="151" name="TextBox 150"/>
          <p:cNvSpPr txBox="1"/>
          <p:nvPr/>
        </p:nvSpPr>
        <p:spPr>
          <a:xfrm>
            <a:off x="5431536" y="2907792"/>
            <a:ext cx="438912" cy="274320"/>
          </a:xfrm>
          <a:prstGeom prst="rect">
            <a:avLst/>
          </a:prstGeom>
          <a:noFill/>
        </p:spPr>
        <p:txBody>
          <a:bodyPr wrap="square">
            <a:spAutoFit/>
          </a:bodyPr>
          <a:lstStyle/>
          <a:p>
            <a:pPr algn="ctr"/>
            <a:r>
              <a:rPr sz="1100" b="0">
                <a:solidFill>
                  <a:srgbClr val="263648"/>
                </a:solidFill>
                <a:latin typeface="Aptos"/>
              </a:rPr>
              <a:t>✓</a:t>
            </a:r>
          </a:p>
        </p:txBody>
      </p:sp>
      <p:sp>
        <p:nvSpPr>
          <p:cNvPr id="152" name="TextBox 151"/>
          <p:cNvSpPr txBox="1"/>
          <p:nvPr/>
        </p:nvSpPr>
        <p:spPr>
          <a:xfrm>
            <a:off x="5870448" y="2907792"/>
            <a:ext cx="438912" cy="274320"/>
          </a:xfrm>
          <a:prstGeom prst="rect">
            <a:avLst/>
          </a:prstGeom>
          <a:noFill/>
        </p:spPr>
        <p:txBody>
          <a:bodyPr wrap="square">
            <a:spAutoFit/>
          </a:bodyPr>
          <a:lstStyle/>
          <a:p>
            <a:pPr algn="ctr"/>
            <a:r>
              <a:rPr sz="1100" b="0">
                <a:solidFill>
                  <a:srgbClr val="263648"/>
                </a:solidFill>
                <a:latin typeface="Aptos"/>
              </a:rPr>
              <a:t>✓</a:t>
            </a:r>
          </a:p>
        </p:txBody>
      </p:sp>
      <p:sp>
        <p:nvSpPr>
          <p:cNvPr id="153" name="TextBox 152"/>
          <p:cNvSpPr txBox="1"/>
          <p:nvPr/>
        </p:nvSpPr>
        <p:spPr>
          <a:xfrm>
            <a:off x="6309360" y="2907792"/>
            <a:ext cx="658368" cy="274320"/>
          </a:xfrm>
          <a:prstGeom prst="rect">
            <a:avLst/>
          </a:prstGeom>
          <a:noFill/>
        </p:spPr>
        <p:txBody>
          <a:bodyPr wrap="square">
            <a:spAutoFit/>
          </a:bodyPr>
          <a:lstStyle/>
          <a:p>
            <a:pPr algn="ctr"/>
            <a:r>
              <a:rPr sz="1100" b="0">
                <a:solidFill>
                  <a:srgbClr val="263648"/>
                </a:solidFill>
                <a:latin typeface="Aptos"/>
              </a:rPr>
              <a:t>0/1/2</a:t>
            </a:r>
          </a:p>
        </p:txBody>
      </p:sp>
      <p:sp>
        <p:nvSpPr>
          <p:cNvPr id="154" name="TextBox 153"/>
          <p:cNvSpPr txBox="1"/>
          <p:nvPr/>
        </p:nvSpPr>
        <p:spPr>
          <a:xfrm>
            <a:off x="768096" y="3364992"/>
            <a:ext cx="5897880" cy="320040"/>
          </a:xfrm>
          <a:prstGeom prst="rect">
            <a:avLst/>
          </a:prstGeom>
          <a:noFill/>
        </p:spPr>
        <p:txBody>
          <a:bodyPr wrap="square">
            <a:spAutoFit/>
          </a:bodyPr>
          <a:lstStyle/>
          <a:p>
            <a:pPr algn="l"/>
            <a:r>
              <a:rPr sz="1150" b="0">
                <a:solidFill>
                  <a:srgbClr val="607488"/>
                </a:solidFill>
                <a:latin typeface="Aptos"/>
              </a:rPr>
              <a:t>The ✓ symbols indicate that the corresponding modality/measurement is available at that visit.</a:t>
            </a:r>
          </a:p>
        </p:txBody>
      </p:sp>
      <p:sp>
        <p:nvSpPr>
          <p:cNvPr id="155" name="Rounded Rectangle 154"/>
          <p:cNvSpPr/>
          <p:nvPr/>
        </p:nvSpPr>
        <p:spPr>
          <a:xfrm>
            <a:off x="7296912" y="1856231"/>
            <a:ext cx="4315968" cy="1993392"/>
          </a:xfrm>
          <a:prstGeom prst="round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ectangle 155"/>
          <p:cNvSpPr/>
          <p:nvPr/>
        </p:nvSpPr>
        <p:spPr>
          <a:xfrm>
            <a:off x="7296912" y="1856231"/>
            <a:ext cx="73152" cy="1993392"/>
          </a:xfrm>
          <a:prstGeom prst="rect">
            <a:avLst/>
          </a:prstGeom>
          <a:solidFill>
            <a:srgbClr val="704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p:cNvSpPr txBox="1"/>
          <p:nvPr/>
        </p:nvSpPr>
        <p:spPr>
          <a:xfrm>
            <a:off x="7516368" y="2039112"/>
            <a:ext cx="3474720" cy="256032"/>
          </a:xfrm>
          <a:prstGeom prst="rect">
            <a:avLst/>
          </a:prstGeom>
          <a:noFill/>
        </p:spPr>
        <p:txBody>
          <a:bodyPr wrap="square">
            <a:spAutoFit/>
          </a:bodyPr>
          <a:lstStyle/>
          <a:p>
            <a:pPr algn="l"/>
            <a:r>
              <a:rPr sz="1400" b="1">
                <a:solidFill>
                  <a:srgbClr val="704EB8"/>
                </a:solidFill>
                <a:latin typeface="Aptos"/>
              </a:rPr>
              <a:t>IDENTIFIERS &amp; DIAGNOSIS</a:t>
            </a:r>
          </a:p>
        </p:txBody>
      </p:sp>
      <p:sp>
        <p:nvSpPr>
          <p:cNvPr id="158" name="TextBox 157"/>
          <p:cNvSpPr txBox="1"/>
          <p:nvPr/>
        </p:nvSpPr>
        <p:spPr>
          <a:xfrm>
            <a:off x="7516368" y="2450592"/>
            <a:ext cx="3703320" cy="1143000"/>
          </a:xfrm>
          <a:prstGeom prst="rect">
            <a:avLst/>
          </a:prstGeom>
          <a:noFill/>
        </p:spPr>
        <p:txBody>
          <a:bodyPr wrap="square">
            <a:spAutoFit/>
          </a:bodyPr>
          <a:lstStyle/>
          <a:p>
            <a:pPr algn="l"/>
            <a:r>
              <a:rPr sz="1250" b="0">
                <a:solidFill>
                  <a:srgbClr val="263648"/>
                </a:solidFill>
                <a:latin typeface="Aptos"/>
              </a:rPr>
              <a:t>RID — Research/participant identifier used to link records.
VISCODE — Visit code, e.g. bl = baseline, m12 = month 12.
EXAMDATE — Date of the examination/assessment.
DX — Diagnosis: CN, MCI or AD.</a:t>
            </a:r>
          </a:p>
        </p:txBody>
      </p:sp>
      <p:sp>
        <p:nvSpPr>
          <p:cNvPr id="159" name="Rounded Rectangle 158"/>
          <p:cNvSpPr/>
          <p:nvPr/>
        </p:nvSpPr>
        <p:spPr>
          <a:xfrm>
            <a:off x="566928" y="4041648"/>
            <a:ext cx="5532120" cy="2057400"/>
          </a:xfrm>
          <a:prstGeom prst="round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ectangle 159"/>
          <p:cNvSpPr/>
          <p:nvPr/>
        </p:nvSpPr>
        <p:spPr>
          <a:xfrm>
            <a:off x="566928" y="4041648"/>
            <a:ext cx="73152" cy="2057400"/>
          </a:xfrm>
          <a:prstGeom prst="rect">
            <a:avLst/>
          </a:prstGeom>
          <a:solidFill>
            <a:srgbClr val="0A9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p:cNvSpPr txBox="1"/>
          <p:nvPr/>
        </p:nvSpPr>
        <p:spPr>
          <a:xfrm>
            <a:off x="768096" y="4224528"/>
            <a:ext cx="4297680" cy="256032"/>
          </a:xfrm>
          <a:prstGeom prst="rect">
            <a:avLst/>
          </a:prstGeom>
          <a:noFill/>
        </p:spPr>
        <p:txBody>
          <a:bodyPr wrap="square">
            <a:spAutoFit/>
          </a:bodyPr>
          <a:lstStyle/>
          <a:p>
            <a:pPr algn="l"/>
            <a:r>
              <a:rPr sz="1400" b="1">
                <a:solidFill>
                  <a:srgbClr val="0A9194"/>
                </a:solidFill>
                <a:latin typeface="Aptos"/>
              </a:rPr>
              <a:t>COGNITIVE / CLINICAL MEASURES</a:t>
            </a:r>
          </a:p>
        </p:txBody>
      </p:sp>
      <p:sp>
        <p:nvSpPr>
          <p:cNvPr id="162" name="TextBox 161"/>
          <p:cNvSpPr txBox="1"/>
          <p:nvPr/>
        </p:nvSpPr>
        <p:spPr>
          <a:xfrm>
            <a:off x="768096" y="4590288"/>
            <a:ext cx="4983480" cy="1298448"/>
          </a:xfrm>
          <a:prstGeom prst="rect">
            <a:avLst/>
          </a:prstGeom>
          <a:noFill/>
        </p:spPr>
        <p:txBody>
          <a:bodyPr wrap="square">
            <a:spAutoFit/>
          </a:bodyPr>
          <a:lstStyle/>
          <a:p>
            <a:pPr algn="l"/>
            <a:r>
              <a:rPr sz="1170" b="0">
                <a:solidFill>
                  <a:srgbClr val="263648"/>
                </a:solidFill>
                <a:latin typeface="Aptos"/>
              </a:rPr>
              <a:t>MMSE — Mini-Mental State Examination: brief global cognitive screening score.
ADAS13 — 13-item Alzheimer’s Disease Assessment Scale–Cognitive Subscale: measures cognitive impairment; higher scores generally indicate greater impairment.
CDRSB — Clinical Dementia Rating–Sum of Boxes: summarizes impairment across cognitive and functional domains; higher values indicate greater severity.</a:t>
            </a:r>
          </a:p>
        </p:txBody>
      </p:sp>
      <p:sp>
        <p:nvSpPr>
          <p:cNvPr id="163" name="Rounded Rectangle 162"/>
          <p:cNvSpPr/>
          <p:nvPr/>
        </p:nvSpPr>
        <p:spPr>
          <a:xfrm>
            <a:off x="6291072" y="4041648"/>
            <a:ext cx="5321808" cy="2057400"/>
          </a:xfrm>
          <a:prstGeom prst="round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ectangle 163"/>
          <p:cNvSpPr/>
          <p:nvPr/>
        </p:nvSpPr>
        <p:spPr>
          <a:xfrm>
            <a:off x="6291072" y="4041648"/>
            <a:ext cx="73152" cy="2057400"/>
          </a:xfrm>
          <a:prstGeom prst="rect">
            <a:avLst/>
          </a:prstGeom>
          <a:solidFill>
            <a:srgbClr val="704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TextBox 164"/>
          <p:cNvSpPr txBox="1"/>
          <p:nvPr/>
        </p:nvSpPr>
        <p:spPr>
          <a:xfrm>
            <a:off x="6492240" y="4224528"/>
            <a:ext cx="4389120" cy="256032"/>
          </a:xfrm>
          <a:prstGeom prst="rect">
            <a:avLst/>
          </a:prstGeom>
          <a:noFill/>
        </p:spPr>
        <p:txBody>
          <a:bodyPr wrap="square">
            <a:spAutoFit/>
          </a:bodyPr>
          <a:lstStyle/>
          <a:p>
            <a:pPr algn="l"/>
            <a:r>
              <a:rPr sz="1400" b="1">
                <a:solidFill>
                  <a:srgbClr val="704EB8"/>
                </a:solidFill>
                <a:latin typeface="Aptos"/>
              </a:rPr>
              <a:t>IMAGING, BIOMARKERS &amp; GENETICS</a:t>
            </a:r>
          </a:p>
        </p:txBody>
      </p:sp>
      <p:sp>
        <p:nvSpPr>
          <p:cNvPr id="166" name="TextBox 165"/>
          <p:cNvSpPr txBox="1"/>
          <p:nvPr/>
        </p:nvSpPr>
        <p:spPr>
          <a:xfrm>
            <a:off x="6492240" y="4590288"/>
            <a:ext cx="4709160" cy="1353312"/>
          </a:xfrm>
          <a:prstGeom prst="rect">
            <a:avLst/>
          </a:prstGeom>
          <a:noFill/>
        </p:spPr>
        <p:txBody>
          <a:bodyPr wrap="square">
            <a:spAutoFit/>
          </a:bodyPr>
          <a:lstStyle/>
          <a:p>
            <a:pPr algn="l"/>
            <a:r>
              <a:rPr sz="1140" b="0">
                <a:solidFill>
                  <a:srgbClr val="263648"/>
                </a:solidFill>
                <a:latin typeface="Aptos"/>
              </a:rPr>
              <a:t>MRI — Magnetic Resonance Imaging: structural brain imaging; the core project uses processed numerical brain-region measures.
PET — Positron Emission Tomography: molecular/functional imaging, including FDG, amyloid or tau PET where available.
CSF — Cerebrospinal Fluid: fluid biomarkers related to Alzheimer’s pathology.
APOE — Apolipoprotein E genotype; ε4 is an established genetic risk factor. Encode the exact variable definition used by the selected ADNI release.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extBox 1"/>
          <p:cNvSpPr/>
          <p:nvPr/>
        </p:nvSpPr>
        <p:spPr>
          <a:xfrm>
            <a:off x="502920" y="255960"/>
            <a:ext cx="1115532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100" b="1" u="none" strike="noStrike">
                <a:solidFill>
                  <a:srgbClr val="008197"/>
                </a:solidFill>
                <a:effectLst/>
                <a:uFillTx/>
                <a:latin typeface="Aptos"/>
              </a:rPr>
              <a:t>STUDENT INPUT</a:t>
            </a:r>
            <a:endParaRPr lang="en-US" sz="1100" b="0" u="none" strike="noStrike">
              <a:solidFill>
                <a:srgbClr val="000000"/>
              </a:solidFill>
              <a:effectLst/>
              <a:uFillTx/>
              <a:latin typeface="Arial"/>
            </a:endParaRPr>
          </a:p>
        </p:txBody>
      </p:sp>
      <p:sp>
        <p:nvSpPr>
          <p:cNvPr id="127" name="TextBox 2"/>
          <p:cNvSpPr/>
          <p:nvPr/>
        </p:nvSpPr>
        <p:spPr>
          <a:xfrm>
            <a:off x="502920" y="621720"/>
            <a:ext cx="11155320" cy="5666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2700" b="1" u="none" strike="noStrike">
                <a:solidFill>
                  <a:srgbClr val="082A43"/>
                </a:solidFill>
                <a:effectLst/>
                <a:uFillTx/>
                <a:latin typeface="Aptos"/>
              </a:rPr>
              <a:t>ADNI data are provided manually — not downloaded by the software</a:t>
            </a:r>
            <a:endParaRPr lang="en-US" sz="2700" b="0" u="none" strike="noStrike">
              <a:solidFill>
                <a:srgbClr val="000000"/>
              </a:solidFill>
              <a:effectLst/>
              <a:uFillTx/>
              <a:latin typeface="Arial"/>
            </a:endParaRPr>
          </a:p>
        </p:txBody>
      </p:sp>
      <p:sp>
        <p:nvSpPr>
          <p:cNvPr id="128" name="TextBox 3"/>
          <p:cNvSpPr/>
          <p:nvPr/>
        </p:nvSpPr>
        <p:spPr>
          <a:xfrm>
            <a:off x="530280" y="122544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5A6973"/>
                </a:solidFill>
                <a:effectLst/>
                <a:uFillTx/>
                <a:latin typeface="Aptos"/>
              </a:rPr>
              <a:t>Students obtain the approved files outside NeuroFusion-AI. The implementation begins only after the files are available locally.</a:t>
            </a:r>
            <a:endParaRPr lang="en-US" sz="1300" b="0" u="none" strike="noStrike">
              <a:solidFill>
                <a:srgbClr val="000000"/>
              </a:solidFill>
              <a:effectLst/>
              <a:uFillTx/>
              <a:latin typeface="Arial"/>
            </a:endParaRPr>
          </a:p>
        </p:txBody>
      </p:sp>
      <p:cxnSp>
        <p:nvCxnSpPr>
          <p:cNvPr id="129" name="Connector 4"/>
          <p:cNvCxnSpPr/>
          <p:nvPr/>
        </p:nvCxnSpPr>
        <p:spPr>
          <a:xfrm>
            <a:off x="502920" y="1764720"/>
            <a:ext cx="11156040" cy="360"/>
          </a:xfrm>
          <a:prstGeom prst="straightConnector1">
            <a:avLst/>
          </a:prstGeom>
          <a:ln w="17780">
            <a:solidFill>
              <a:srgbClr val="008197"/>
            </a:solidFill>
          </a:ln>
        </p:spPr>
      </p:cxnSp>
      <p:sp>
        <p:nvSpPr>
          <p:cNvPr id="130" name="Rounded Rectangle 5"/>
          <p:cNvSpPr/>
          <p:nvPr/>
        </p:nvSpPr>
        <p:spPr>
          <a:xfrm>
            <a:off x="640080" y="2148840"/>
            <a:ext cx="2148480" cy="91404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r>
              <a:rPr lang="en-US" sz="1900" b="1" u="none" strike="noStrike">
                <a:solidFill>
                  <a:srgbClr val="FFFFFF"/>
                </a:solidFill>
                <a:effectLst/>
                <a:uFillTx/>
                <a:latin typeface="Aptos"/>
              </a:rPr>
              <a:t>1  MANUAL</a:t>
            </a:r>
            <a:endParaRPr lang="en-US" sz="1900" b="0" u="none" strike="noStrike">
              <a:solidFill>
                <a:srgbClr val="FFFFFF"/>
              </a:solidFill>
              <a:effectLst/>
              <a:uFillTx/>
              <a:latin typeface="Arial"/>
            </a:endParaRPr>
          </a:p>
          <a:p>
            <a:pPr algn="ctr" defTabSz="914400">
              <a:lnSpc>
                <a:spcPct val="100000"/>
              </a:lnSpc>
            </a:pPr>
            <a:r>
              <a:rPr lang="en-US" sz="1900" b="1" u="none" strike="noStrike">
                <a:solidFill>
                  <a:srgbClr val="FFFFFF"/>
                </a:solidFill>
                <a:effectLst/>
                <a:uFillTx/>
                <a:latin typeface="Aptos"/>
              </a:rPr>
              <a:t>DOWNLOAD</a:t>
            </a:r>
            <a:endParaRPr lang="en-US" sz="1900" b="0" u="none" strike="noStrike">
              <a:solidFill>
                <a:srgbClr val="FFFFFF"/>
              </a:solidFill>
              <a:effectLst/>
              <a:uFillTx/>
              <a:latin typeface="Arial"/>
            </a:endParaRPr>
          </a:p>
        </p:txBody>
      </p:sp>
      <p:sp>
        <p:nvSpPr>
          <p:cNvPr id="131" name="Rounded Rectangle 6"/>
          <p:cNvSpPr/>
          <p:nvPr/>
        </p:nvSpPr>
        <p:spPr>
          <a:xfrm>
            <a:off x="3154680" y="2148840"/>
            <a:ext cx="2148480" cy="91404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r>
              <a:rPr lang="en-US" sz="1900" b="1" u="none" strike="noStrike">
                <a:solidFill>
                  <a:srgbClr val="FFFFFF"/>
                </a:solidFill>
                <a:effectLst/>
                <a:uFillTx/>
                <a:latin typeface="Aptos"/>
              </a:rPr>
              <a:t>2  PLACE IN</a:t>
            </a:r>
            <a:endParaRPr lang="en-US" sz="1900" b="0" u="none" strike="noStrike">
              <a:solidFill>
                <a:srgbClr val="FFFFFF"/>
              </a:solidFill>
              <a:effectLst/>
              <a:uFillTx/>
              <a:latin typeface="Arial"/>
            </a:endParaRPr>
          </a:p>
          <a:p>
            <a:pPr algn="ctr" defTabSz="914400">
              <a:lnSpc>
                <a:spcPct val="100000"/>
              </a:lnSpc>
            </a:pPr>
            <a:r>
              <a:rPr lang="en-US" sz="1900" b="1" u="none" strike="noStrike">
                <a:solidFill>
                  <a:srgbClr val="FFFFFF"/>
                </a:solidFill>
                <a:effectLst/>
                <a:uFillTx/>
                <a:latin typeface="Aptos"/>
              </a:rPr>
              <a:t>data/raw/</a:t>
            </a:r>
            <a:endParaRPr lang="en-US" sz="1900" b="0" u="none" strike="noStrike">
              <a:solidFill>
                <a:srgbClr val="FFFFFF"/>
              </a:solidFill>
              <a:effectLst/>
              <a:uFillTx/>
              <a:latin typeface="Arial"/>
            </a:endParaRPr>
          </a:p>
        </p:txBody>
      </p:sp>
      <p:sp>
        <p:nvSpPr>
          <p:cNvPr id="132" name="Rounded Rectangle 7"/>
          <p:cNvSpPr/>
          <p:nvPr/>
        </p:nvSpPr>
        <p:spPr>
          <a:xfrm>
            <a:off x="5669280" y="2148840"/>
            <a:ext cx="2148480" cy="914040"/>
          </a:xfrm>
          <a:prstGeom prst="roundRect">
            <a:avLst>
              <a:gd name="adj" fmla="val 16667"/>
            </a:avLst>
          </a:prstGeom>
          <a:solidFill>
            <a:srgbClr val="DB9D29"/>
          </a:solidFill>
          <a:ln>
            <a:solidFill>
              <a:srgbClr val="DB9D2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r>
              <a:rPr lang="en-US" sz="1900" b="1" u="none" strike="noStrike">
                <a:solidFill>
                  <a:srgbClr val="FFFFFF"/>
                </a:solidFill>
                <a:effectLst/>
                <a:uFillTx/>
                <a:latin typeface="Aptos"/>
              </a:rPr>
              <a:t>3  REGISTER</a:t>
            </a:r>
            <a:endParaRPr lang="en-US" sz="1900" b="0" u="none" strike="noStrike">
              <a:solidFill>
                <a:srgbClr val="000000"/>
              </a:solidFill>
              <a:effectLst/>
              <a:uFillTx/>
              <a:latin typeface="Arial"/>
            </a:endParaRPr>
          </a:p>
          <a:p>
            <a:pPr algn="ctr" defTabSz="914400">
              <a:lnSpc>
                <a:spcPct val="100000"/>
              </a:lnSpc>
            </a:pPr>
            <a:r>
              <a:rPr lang="en-US" sz="1900" b="1" u="none" strike="noStrike">
                <a:solidFill>
                  <a:srgbClr val="FFFFFF"/>
                </a:solidFill>
                <a:effectLst/>
                <a:uFillTx/>
                <a:latin typeface="Aptos"/>
              </a:rPr>
              <a:t>MANIFEST</a:t>
            </a:r>
            <a:endParaRPr lang="en-US" sz="1900" b="0" u="none" strike="noStrike">
              <a:solidFill>
                <a:srgbClr val="000000"/>
              </a:solidFill>
              <a:effectLst/>
              <a:uFillTx/>
              <a:latin typeface="Arial"/>
            </a:endParaRPr>
          </a:p>
        </p:txBody>
      </p:sp>
      <p:sp>
        <p:nvSpPr>
          <p:cNvPr id="133" name="Rounded Rectangle 8"/>
          <p:cNvSpPr/>
          <p:nvPr/>
        </p:nvSpPr>
        <p:spPr>
          <a:xfrm>
            <a:off x="8183880" y="2148840"/>
            <a:ext cx="2148480" cy="914040"/>
          </a:xfrm>
          <a:prstGeom prst="roundRect">
            <a:avLst>
              <a:gd name="adj" fmla="val 16667"/>
            </a:avLst>
          </a:prstGeom>
          <a:solidFill>
            <a:srgbClr val="229777"/>
          </a:solidFill>
          <a:ln>
            <a:solidFill>
              <a:srgbClr val="22977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r>
              <a:rPr lang="en-US" sz="1900" b="1" u="none" strike="noStrike">
                <a:solidFill>
                  <a:srgbClr val="FFFFFF"/>
                </a:solidFill>
                <a:effectLst/>
                <a:uFillTx/>
                <a:latin typeface="Aptos"/>
              </a:rPr>
              <a:t>4  RUN</a:t>
            </a:r>
            <a:endParaRPr lang="en-US" sz="1900" b="0" u="none" strike="noStrike">
              <a:solidFill>
                <a:srgbClr val="FFFFFF"/>
              </a:solidFill>
              <a:effectLst/>
              <a:uFillTx/>
              <a:latin typeface="Arial"/>
            </a:endParaRPr>
          </a:p>
          <a:p>
            <a:pPr algn="ctr" defTabSz="914400">
              <a:lnSpc>
                <a:spcPct val="100000"/>
              </a:lnSpc>
            </a:pPr>
            <a:r>
              <a:rPr lang="en-US" sz="1900" b="1" u="none" strike="noStrike">
                <a:solidFill>
                  <a:srgbClr val="FFFFFF"/>
                </a:solidFill>
                <a:effectLst/>
                <a:uFillTx/>
                <a:latin typeface="Aptos"/>
              </a:rPr>
              <a:t>PIPELINE</a:t>
            </a:r>
            <a:endParaRPr lang="en-US" sz="1900" b="0" u="none" strike="noStrike">
              <a:solidFill>
                <a:srgbClr val="FFFFFF"/>
              </a:solidFill>
              <a:effectLst/>
              <a:uFillTx/>
              <a:latin typeface="Arial"/>
            </a:endParaRPr>
          </a:p>
        </p:txBody>
      </p:sp>
      <p:cxnSp>
        <p:nvCxnSpPr>
          <p:cNvPr id="134" name="Connector 9"/>
          <p:cNvCxnSpPr/>
          <p:nvPr/>
        </p:nvCxnSpPr>
        <p:spPr>
          <a:xfrm>
            <a:off x="2788920" y="2606040"/>
            <a:ext cx="320400" cy="360"/>
          </a:xfrm>
          <a:prstGeom prst="straightConnector1">
            <a:avLst/>
          </a:prstGeom>
          <a:ln w="25400">
            <a:solidFill>
              <a:srgbClr val="082A43"/>
            </a:solidFill>
          </a:ln>
        </p:spPr>
      </p:cxnSp>
      <p:cxnSp>
        <p:nvCxnSpPr>
          <p:cNvPr id="135" name="Connector 10"/>
          <p:cNvCxnSpPr/>
          <p:nvPr/>
        </p:nvCxnSpPr>
        <p:spPr>
          <a:xfrm>
            <a:off x="5303520" y="2606040"/>
            <a:ext cx="320040" cy="360"/>
          </a:xfrm>
          <a:prstGeom prst="straightConnector1">
            <a:avLst/>
          </a:prstGeom>
          <a:ln w="25400">
            <a:solidFill>
              <a:srgbClr val="082A43"/>
            </a:solidFill>
          </a:ln>
        </p:spPr>
      </p:cxnSp>
      <p:cxnSp>
        <p:nvCxnSpPr>
          <p:cNvPr id="136" name="Connector 11"/>
          <p:cNvCxnSpPr/>
          <p:nvPr/>
        </p:nvCxnSpPr>
        <p:spPr>
          <a:xfrm>
            <a:off x="7818120" y="2606040"/>
            <a:ext cx="320400" cy="360"/>
          </a:xfrm>
          <a:prstGeom prst="straightConnector1">
            <a:avLst/>
          </a:prstGeom>
          <a:ln w="25400">
            <a:solidFill>
              <a:srgbClr val="082A43"/>
            </a:solidFill>
          </a:ln>
        </p:spPr>
      </p:cxnSp>
      <p:sp>
        <p:nvSpPr>
          <p:cNvPr id="137" name="TextBox 12"/>
          <p:cNvSpPr/>
          <p:nvPr/>
        </p:nvSpPr>
        <p:spPr>
          <a:xfrm>
            <a:off x="777240" y="3383280"/>
            <a:ext cx="9966600" cy="5940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2000" b="1" u="none" strike="noStrike">
                <a:solidFill>
                  <a:srgbClr val="C94F48"/>
                </a:solidFill>
                <a:effectLst/>
                <a:uFillTx/>
                <a:latin typeface="Aptos"/>
              </a:rPr>
              <a:t>No IDA API • No web scraping • No automated authentication • No automated downloading</a:t>
            </a:r>
            <a:endParaRPr lang="en-US" sz="2000" b="0" u="none" strike="noStrike">
              <a:solidFill>
                <a:srgbClr val="000000"/>
              </a:solidFill>
              <a:effectLst/>
              <a:uFillTx/>
              <a:latin typeface="Arial"/>
            </a:endParaRPr>
          </a:p>
        </p:txBody>
      </p:sp>
      <p:sp>
        <p:nvSpPr>
          <p:cNvPr id="138" name="TextBox 13"/>
          <p:cNvSpPr/>
          <p:nvPr/>
        </p:nvSpPr>
        <p:spPr>
          <a:xfrm>
            <a:off x="914400" y="4206240"/>
            <a:ext cx="9692280" cy="11426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700" b="0" u="none" strike="noStrike" dirty="0">
                <a:solidFill>
                  <a:srgbClr val="1E2D37"/>
                </a:solidFill>
                <a:effectLst/>
                <a:uFillTx/>
                <a:latin typeface="Aptos"/>
              </a:rPr>
              <a:t>The student records the file name, ADNI phase/release, download date, processing version and dictionary used. From this point onward, the pipeline must be reproducible.</a:t>
            </a:r>
            <a:endParaRPr lang="en-US" sz="1700" b="0" u="none" strike="noStrike" dirty="0">
              <a:solidFill>
                <a:srgbClr val="000000"/>
              </a:solidFill>
              <a:effectLst/>
              <a:uFillTx/>
              <a:latin typeface="Arial"/>
            </a:endParaRPr>
          </a:p>
        </p:txBody>
      </p:sp>
      <p:sp>
        <p:nvSpPr>
          <p:cNvPr id="139" name="Rounded Rectangle 14"/>
          <p:cNvSpPr/>
          <p:nvPr/>
        </p:nvSpPr>
        <p:spPr>
          <a:xfrm>
            <a:off x="1920240" y="5532120"/>
            <a:ext cx="8137800" cy="566640"/>
          </a:xfrm>
          <a:prstGeom prst="roundRect">
            <a:avLst>
              <a:gd name="adj" fmla="val 16667"/>
            </a:avLst>
          </a:prstGeom>
          <a:solidFill>
            <a:srgbClr val="082A43"/>
          </a:solidFill>
          <a:ln>
            <a:solidFill>
              <a:srgbClr val="082A43"/>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700" b="1" u="none" strike="noStrike">
                <a:solidFill>
                  <a:srgbClr val="FFFFFF"/>
                </a:solidFill>
                <a:effectLst/>
                <a:uFillTx/>
                <a:latin typeface="Aptos"/>
              </a:rPr>
              <a:t>IMPLEMENTATION BOUNDARY: local files → harmonization → cohort → modelling</a:t>
            </a:r>
            <a:endParaRPr lang="en-US" sz="1700" b="0" u="none" strike="noStrike">
              <a:solidFill>
                <a:srgbClr val="FFFFFF"/>
              </a:solidFill>
              <a:effectLst/>
              <a:uFillTx/>
              <a:latin typeface="Arial"/>
            </a:endParaRPr>
          </a:p>
        </p:txBody>
      </p:sp>
      <p:sp>
        <p:nvSpPr>
          <p:cNvPr id="140" name="TextBox 15"/>
          <p:cNvSpPr/>
          <p:nvPr/>
        </p:nvSpPr>
        <p:spPr>
          <a:xfrm>
            <a:off x="11384280" y="6537960"/>
            <a:ext cx="319680" cy="200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r" defTabSz="914400">
              <a:lnSpc>
                <a:spcPct val="100000"/>
              </a:lnSpc>
            </a:pPr>
            <a:r>
              <a:rPr sz="850">
                <a:solidFill>
                  <a:srgbClr val="607488"/>
                </a:solidFill>
                <a:latin typeface="Aptos"/>
              </a:rPr>
              <a:t>15</a:t>
            </a:r>
            <a:endParaRPr lang="en-US" sz="9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TextBox 1"/>
          <p:cNvSpPr/>
          <p:nvPr/>
        </p:nvSpPr>
        <p:spPr>
          <a:xfrm>
            <a:off x="502920" y="255960"/>
            <a:ext cx="1115532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100" b="1" u="none" strike="noStrike">
                <a:solidFill>
                  <a:srgbClr val="008197"/>
                </a:solidFill>
                <a:effectLst/>
                <a:uFillTx/>
                <a:latin typeface="Aptos"/>
              </a:rPr>
              <a:t>INPUT PACKAGE</a:t>
            </a:r>
            <a:endParaRPr lang="en-US" sz="1100" b="0" u="none" strike="noStrike">
              <a:solidFill>
                <a:srgbClr val="000000"/>
              </a:solidFill>
              <a:effectLst/>
              <a:uFillTx/>
              <a:latin typeface="Arial"/>
            </a:endParaRPr>
          </a:p>
        </p:txBody>
      </p:sp>
      <p:sp>
        <p:nvSpPr>
          <p:cNvPr id="142" name="TextBox 2"/>
          <p:cNvSpPr/>
          <p:nvPr/>
        </p:nvSpPr>
        <p:spPr>
          <a:xfrm>
            <a:off x="502920" y="621720"/>
            <a:ext cx="11155320" cy="5666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2700" b="1" u="none" strike="noStrike">
                <a:solidFill>
                  <a:srgbClr val="082A43"/>
                </a:solidFill>
                <a:effectLst/>
                <a:uFillTx/>
                <a:latin typeface="Aptos"/>
              </a:rPr>
              <a:t>Minimum ADNI data package for the core project</a:t>
            </a:r>
            <a:endParaRPr lang="en-US" sz="2700" b="0" u="none" strike="noStrike">
              <a:solidFill>
                <a:srgbClr val="000000"/>
              </a:solidFill>
              <a:effectLst/>
              <a:uFillTx/>
              <a:latin typeface="Arial"/>
            </a:endParaRPr>
          </a:p>
        </p:txBody>
      </p:sp>
      <p:sp>
        <p:nvSpPr>
          <p:cNvPr id="143" name="TextBox 3"/>
          <p:cNvSpPr/>
          <p:nvPr/>
        </p:nvSpPr>
        <p:spPr>
          <a:xfrm>
            <a:off x="530280" y="122544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5A6973"/>
                </a:solidFill>
                <a:effectLst/>
                <a:uFillTx/>
                <a:latin typeface="Aptos"/>
              </a:rPr>
              <a:t>Use processed/tabular information first. Raw 3D MRI/PET and high-dimensional omics are optional extensions.</a:t>
            </a:r>
            <a:endParaRPr lang="en-US" sz="1300" b="0" u="none" strike="noStrike">
              <a:solidFill>
                <a:srgbClr val="000000"/>
              </a:solidFill>
              <a:effectLst/>
              <a:uFillTx/>
              <a:latin typeface="Arial"/>
            </a:endParaRPr>
          </a:p>
        </p:txBody>
      </p:sp>
      <p:cxnSp>
        <p:nvCxnSpPr>
          <p:cNvPr id="144" name="Connector 4"/>
          <p:cNvCxnSpPr/>
          <p:nvPr/>
        </p:nvCxnSpPr>
        <p:spPr>
          <a:xfrm>
            <a:off x="502920" y="1764720"/>
            <a:ext cx="11156040" cy="360"/>
          </a:xfrm>
          <a:prstGeom prst="straightConnector1">
            <a:avLst/>
          </a:prstGeom>
          <a:ln w="17780">
            <a:solidFill>
              <a:srgbClr val="008197"/>
            </a:solidFill>
          </a:ln>
        </p:spPr>
      </p:cxnSp>
      <p:sp>
        <p:nvSpPr>
          <p:cNvPr id="145" name="Rounded Rectangle 5"/>
          <p:cNvSpPr/>
          <p:nvPr/>
        </p:nvSpPr>
        <p:spPr>
          <a:xfrm>
            <a:off x="731520" y="2148840"/>
            <a:ext cx="3245760" cy="77688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700" b="1" u="none" strike="noStrike">
                <a:solidFill>
                  <a:srgbClr val="FFFFFF"/>
                </a:solidFill>
                <a:effectLst/>
                <a:uFillTx/>
                <a:latin typeface="Aptos"/>
              </a:rPr>
              <a:t>Diagnosis + demographics</a:t>
            </a:r>
            <a:endParaRPr lang="en-US" sz="1700" b="0" u="none" strike="noStrike">
              <a:solidFill>
                <a:srgbClr val="FFFFFF"/>
              </a:solidFill>
              <a:effectLst/>
              <a:uFillTx/>
              <a:latin typeface="Arial"/>
            </a:endParaRPr>
          </a:p>
        </p:txBody>
      </p:sp>
      <p:sp>
        <p:nvSpPr>
          <p:cNvPr id="146" name="Rounded Rectangle 6"/>
          <p:cNvSpPr/>
          <p:nvPr/>
        </p:nvSpPr>
        <p:spPr>
          <a:xfrm>
            <a:off x="4480560" y="2148840"/>
            <a:ext cx="3245760" cy="77688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700" b="1" u="none" strike="noStrike">
                <a:solidFill>
                  <a:srgbClr val="FFFFFF"/>
                </a:solidFill>
                <a:effectLst/>
                <a:uFillTx/>
                <a:latin typeface="Aptos"/>
              </a:rPr>
              <a:t>Clinical + cognitive</a:t>
            </a:r>
            <a:endParaRPr lang="en-US" sz="1700" b="0" u="none" strike="noStrike">
              <a:solidFill>
                <a:srgbClr val="FFFFFF"/>
              </a:solidFill>
              <a:effectLst/>
              <a:uFillTx/>
              <a:latin typeface="Arial"/>
            </a:endParaRPr>
          </a:p>
        </p:txBody>
      </p:sp>
      <p:sp>
        <p:nvSpPr>
          <p:cNvPr id="147" name="Rounded Rectangle 7"/>
          <p:cNvSpPr/>
          <p:nvPr/>
        </p:nvSpPr>
        <p:spPr>
          <a:xfrm>
            <a:off x="8229600" y="2148840"/>
            <a:ext cx="3245760" cy="776880"/>
          </a:xfrm>
          <a:prstGeom prst="roundRect">
            <a:avLst>
              <a:gd name="adj" fmla="val 16667"/>
            </a:avLst>
          </a:prstGeom>
          <a:solidFill>
            <a:srgbClr val="C94F48"/>
          </a:solidFill>
          <a:ln>
            <a:solidFill>
              <a:srgbClr val="C94F48"/>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700" b="1" u="none" strike="noStrike">
                <a:solidFill>
                  <a:srgbClr val="FFFFFF"/>
                </a:solidFill>
                <a:effectLst/>
                <a:uFillTx/>
                <a:latin typeface="Aptos"/>
              </a:rPr>
              <a:t>APOE</a:t>
            </a:r>
            <a:endParaRPr lang="en-US" sz="1700" b="0" u="none" strike="noStrike">
              <a:solidFill>
                <a:srgbClr val="FFFFFF"/>
              </a:solidFill>
              <a:effectLst/>
              <a:uFillTx/>
              <a:latin typeface="Arial"/>
            </a:endParaRPr>
          </a:p>
        </p:txBody>
      </p:sp>
      <p:sp>
        <p:nvSpPr>
          <p:cNvPr id="148" name="Rounded Rectangle 8"/>
          <p:cNvSpPr/>
          <p:nvPr/>
        </p:nvSpPr>
        <p:spPr>
          <a:xfrm>
            <a:off x="731520" y="3383280"/>
            <a:ext cx="3245760" cy="776880"/>
          </a:xfrm>
          <a:prstGeom prst="roundRect">
            <a:avLst>
              <a:gd name="adj" fmla="val 16667"/>
            </a:avLst>
          </a:prstGeom>
          <a:solidFill>
            <a:srgbClr val="229777"/>
          </a:solidFill>
          <a:ln>
            <a:solidFill>
              <a:srgbClr val="22977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700" b="1" u="none" strike="noStrike">
                <a:solidFill>
                  <a:srgbClr val="FFFFFF"/>
                </a:solidFill>
                <a:effectLst/>
                <a:uFillTx/>
                <a:latin typeface="Aptos"/>
              </a:rPr>
              <a:t>Biofluid biomarkers</a:t>
            </a:r>
            <a:endParaRPr lang="en-US" sz="1700" b="0" u="none" strike="noStrike">
              <a:solidFill>
                <a:srgbClr val="FFFFFF"/>
              </a:solidFill>
              <a:effectLst/>
              <a:uFillTx/>
              <a:latin typeface="Arial"/>
            </a:endParaRPr>
          </a:p>
        </p:txBody>
      </p:sp>
      <p:sp>
        <p:nvSpPr>
          <p:cNvPr id="149" name="Rounded Rectangle 9"/>
          <p:cNvSpPr/>
          <p:nvPr/>
        </p:nvSpPr>
        <p:spPr>
          <a:xfrm>
            <a:off x="4480560" y="3383280"/>
            <a:ext cx="3245760" cy="77688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700" b="1" u="none" strike="noStrike">
                <a:solidFill>
                  <a:srgbClr val="FFFFFF"/>
                </a:solidFill>
                <a:effectLst/>
                <a:uFillTx/>
                <a:latin typeface="Aptos"/>
              </a:rPr>
              <a:t>MRI numerical summaries</a:t>
            </a:r>
            <a:endParaRPr lang="en-US" sz="1700" b="0" u="none" strike="noStrike">
              <a:solidFill>
                <a:srgbClr val="FFFFFF"/>
              </a:solidFill>
              <a:effectLst/>
              <a:uFillTx/>
              <a:latin typeface="Arial"/>
            </a:endParaRPr>
          </a:p>
        </p:txBody>
      </p:sp>
      <p:sp>
        <p:nvSpPr>
          <p:cNvPr id="150" name="Rounded Rectangle 10"/>
          <p:cNvSpPr/>
          <p:nvPr/>
        </p:nvSpPr>
        <p:spPr>
          <a:xfrm>
            <a:off x="8229600" y="3383280"/>
            <a:ext cx="3245760" cy="776880"/>
          </a:xfrm>
          <a:prstGeom prst="roundRect">
            <a:avLst>
              <a:gd name="adj" fmla="val 16667"/>
            </a:avLst>
          </a:prstGeom>
          <a:solidFill>
            <a:srgbClr val="DB9D29"/>
          </a:solidFill>
          <a:ln>
            <a:solidFill>
              <a:srgbClr val="DB9D2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700" b="1" u="none" strike="noStrike">
                <a:solidFill>
                  <a:srgbClr val="FFFFFF"/>
                </a:solidFill>
                <a:effectLst/>
                <a:uFillTx/>
                <a:latin typeface="Aptos"/>
              </a:rPr>
              <a:t>PET numerical summaries</a:t>
            </a:r>
            <a:endParaRPr lang="en-US" sz="1700" b="0" u="none" strike="noStrike">
              <a:solidFill>
                <a:srgbClr val="000000"/>
              </a:solidFill>
              <a:effectLst/>
              <a:uFillTx/>
              <a:latin typeface="Arial"/>
            </a:endParaRPr>
          </a:p>
        </p:txBody>
      </p:sp>
      <p:sp>
        <p:nvSpPr>
          <p:cNvPr id="151" name="TextBox 11"/>
          <p:cNvSpPr/>
          <p:nvPr/>
        </p:nvSpPr>
        <p:spPr>
          <a:xfrm>
            <a:off x="822960" y="4800600"/>
            <a:ext cx="10332360" cy="8226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700" b="1" u="none" strike="noStrike">
                <a:solidFill>
                  <a:srgbClr val="082A43"/>
                </a:solidFill>
                <a:effectLst/>
                <a:uFillTx/>
                <a:latin typeface="Aptos"/>
              </a:rPr>
              <a:t>Required identifiers/metadata: RID or PTID • VISCODE • EXAMDATE • diagnosis • modality availability • processing/version information</a:t>
            </a:r>
            <a:endParaRPr lang="en-US" sz="1700" b="0" u="none" strike="noStrike">
              <a:solidFill>
                <a:srgbClr val="000000"/>
              </a:solidFill>
              <a:effectLst/>
              <a:uFillTx/>
              <a:latin typeface="Arial"/>
            </a:endParaRPr>
          </a:p>
        </p:txBody>
      </p:sp>
      <p:sp>
        <p:nvSpPr>
          <p:cNvPr id="152" name="Rounded Rectangle 12"/>
          <p:cNvSpPr/>
          <p:nvPr/>
        </p:nvSpPr>
        <p:spPr>
          <a:xfrm>
            <a:off x="1828800" y="5806440"/>
            <a:ext cx="8320680" cy="502560"/>
          </a:xfrm>
          <a:prstGeom prst="roundRect">
            <a:avLst>
              <a:gd name="adj" fmla="val 16667"/>
            </a:avLst>
          </a:prstGeom>
          <a:solidFill>
            <a:srgbClr val="F4F7F9"/>
          </a:solidFill>
          <a:ln>
            <a:solidFill>
              <a:srgbClr val="F4F7F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082A43"/>
                </a:solidFill>
                <a:effectLst/>
                <a:uFillTx/>
                <a:latin typeface="Aptos"/>
              </a:rPr>
              <a:t>Core thesis first → optional raw imaging/omics only if time and cohort size justify it</a:t>
            </a:r>
            <a:endParaRPr lang="en-US" sz="1500" b="0" u="none" strike="noStrike">
              <a:solidFill>
                <a:srgbClr val="000000"/>
              </a:solidFill>
              <a:effectLst/>
              <a:uFillTx/>
              <a:latin typeface="Arial"/>
            </a:endParaRPr>
          </a:p>
        </p:txBody>
      </p:sp>
      <p:sp>
        <p:nvSpPr>
          <p:cNvPr id="153" name="TextBox 13"/>
          <p:cNvSpPr/>
          <p:nvPr/>
        </p:nvSpPr>
        <p:spPr>
          <a:xfrm>
            <a:off x="11384280" y="6537960"/>
            <a:ext cx="319680" cy="200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r" defTabSz="914400">
              <a:lnSpc>
                <a:spcPct val="100000"/>
              </a:lnSpc>
            </a:pPr>
            <a:r>
              <a:rPr sz="850">
                <a:solidFill>
                  <a:srgbClr val="607488"/>
                </a:solidFill>
                <a:latin typeface="Aptos"/>
              </a:rPr>
              <a:t>16</a:t>
            </a:r>
            <a:endParaRPr lang="en-US" sz="90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Text 0"/>
          <p:cNvSpPr/>
          <p:nvPr/>
        </p:nvSpPr>
        <p:spPr>
          <a:xfrm>
            <a:off x="567000" y="384120"/>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11">
                <a:solidFill>
                  <a:srgbClr val="0F8B8D"/>
                </a:solidFill>
                <a:effectLst/>
                <a:uFillTx/>
                <a:latin typeface="Aptos"/>
              </a:rPr>
              <a:t>DATA ENGINEERING</a:t>
            </a:r>
            <a:endParaRPr lang="en-US" sz="1000" b="0" u="none" strike="noStrike">
              <a:solidFill>
                <a:srgbClr val="000000"/>
              </a:solidFill>
              <a:effectLst/>
              <a:uFillTx/>
              <a:latin typeface="Arial"/>
            </a:endParaRPr>
          </a:p>
        </p:txBody>
      </p:sp>
      <p:sp>
        <p:nvSpPr>
          <p:cNvPr id="155"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Organize the data before modelling</a:t>
            </a:r>
            <a:endParaRPr lang="en-US" sz="2800" b="0" u="none" strike="noStrike">
              <a:solidFill>
                <a:srgbClr val="000000"/>
              </a:solidFill>
              <a:effectLst/>
              <a:uFillTx/>
              <a:latin typeface="Arial"/>
            </a:endParaRPr>
          </a:p>
        </p:txBody>
      </p:sp>
      <p:sp>
        <p:nvSpPr>
          <p:cNvPr id="156" name="Text 2"/>
          <p:cNvSpPr/>
          <p:nvPr/>
        </p:nvSpPr>
        <p:spPr>
          <a:xfrm>
            <a:off x="685800" y="1234440"/>
            <a:ext cx="31086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F8B8D"/>
                </a:solidFill>
                <a:effectLst/>
                <a:uFillTx/>
                <a:latin typeface="Aptos"/>
              </a:rPr>
              <a:t>Recommended project structure</a:t>
            </a:r>
            <a:endParaRPr lang="en-US" sz="1600" b="0" u="none" strike="noStrike">
              <a:solidFill>
                <a:srgbClr val="000000"/>
              </a:solidFill>
              <a:effectLst/>
              <a:uFillTx/>
              <a:latin typeface="Arial"/>
            </a:endParaRPr>
          </a:p>
        </p:txBody>
      </p:sp>
      <p:sp>
        <p:nvSpPr>
          <p:cNvPr id="157" name="Text 3"/>
          <p:cNvSpPr/>
          <p:nvPr/>
        </p:nvSpPr>
        <p:spPr>
          <a:xfrm>
            <a:off x="822960" y="1645920"/>
            <a:ext cx="3657240" cy="4388760"/>
          </a:xfrm>
          <a:prstGeom prst="rect">
            <a:avLst/>
          </a:prstGeom>
          <a:solidFill>
            <a:srgbClr val="EEF3F7"/>
          </a:solidFill>
          <a:ln w="0">
            <a:noFill/>
          </a:ln>
        </p:spPr>
        <p:style>
          <a:lnRef idx="0">
            <a:scrgbClr r="0" g="0" b="0"/>
          </a:lnRef>
          <a:fillRef idx="0">
            <a:scrgbClr r="0" g="0" b="0"/>
          </a:fillRef>
          <a:effectRef idx="0">
            <a:scrgbClr r="0" g="0" b="0"/>
          </a:effectRef>
          <a:fontRef idx="minor"/>
        </p:style>
        <p:txBody>
          <a:bodyPr lIns="152280" tIns="152280" rIns="152280" bIns="152280" anchor="ctr">
            <a:noAutofit/>
          </a:bodyPr>
          <a:lstStyle/>
          <a:p>
            <a:pPr defTabSz="914400">
              <a:lnSpc>
                <a:spcPct val="100000"/>
              </a:lnSpc>
              <a:tabLst>
                <a:tab pos="0" algn="l"/>
              </a:tabLst>
            </a:pPr>
            <a:r>
              <a:rPr lang="en-US" sz="1400" b="0" u="none" strike="noStrike" dirty="0" err="1">
                <a:solidFill>
                  <a:srgbClr val="203040"/>
                </a:solidFill>
                <a:effectLst/>
                <a:uFillTx/>
                <a:latin typeface="Consolas"/>
                <a:ea typeface="Consolas"/>
              </a:rPr>
              <a:t>NeuroFusion</a:t>
            </a:r>
            <a:r>
              <a:rPr lang="en-US" sz="1400" b="0" u="none" strike="noStrike" dirty="0">
                <a:solidFill>
                  <a:srgbClr val="203040"/>
                </a:solidFill>
                <a:effectLst/>
                <a:uFillTx/>
                <a:latin typeface="Consolas"/>
                <a:ea typeface="Consolas"/>
              </a:rPr>
              <a:t>-AI/</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data/</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raw/</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demographics/</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diagnosis/</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cognitive/</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clinical/</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genetics/</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biofluid/</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a:t>
            </a:r>
            <a:r>
              <a:rPr lang="en-US" sz="1400" b="0" u="none" strike="noStrike" dirty="0" err="1">
                <a:solidFill>
                  <a:srgbClr val="203040"/>
                </a:solidFill>
                <a:effectLst/>
                <a:uFillTx/>
                <a:latin typeface="Consolas"/>
                <a:ea typeface="Consolas"/>
              </a:rPr>
              <a:t>mri_numeric</a:t>
            </a:r>
            <a:r>
              <a:rPr lang="en-US" sz="1400" b="0" u="none" strike="noStrike" dirty="0">
                <a:solidFill>
                  <a:srgbClr val="203040"/>
                </a:solidFill>
                <a:effectLst/>
                <a:uFillTx/>
                <a:latin typeface="Consolas"/>
                <a:ea typeface="Consolas"/>
              </a:rPr>
              <a:t>/</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a:t>
            </a:r>
            <a:r>
              <a:rPr lang="en-US" sz="1400" b="0" u="none" strike="noStrike" dirty="0" err="1">
                <a:solidFill>
                  <a:srgbClr val="203040"/>
                </a:solidFill>
                <a:effectLst/>
                <a:uFillTx/>
                <a:latin typeface="Consolas"/>
                <a:ea typeface="Consolas"/>
              </a:rPr>
              <a:t>pet_numeric</a:t>
            </a:r>
            <a:r>
              <a:rPr lang="en-US" sz="1400" b="0" u="none" strike="noStrike" dirty="0">
                <a:solidFill>
                  <a:srgbClr val="203040"/>
                </a:solidFill>
                <a:effectLst/>
                <a:uFillTx/>
                <a:latin typeface="Consolas"/>
                <a:ea typeface="Consolas"/>
              </a:rPr>
              <a:t>/</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dictionaries/</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interim/</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processed/</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configs/</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a:t>
            </a:r>
            <a:r>
              <a:rPr lang="en-US" sz="1400" b="0" u="none" strike="noStrike" dirty="0" err="1">
                <a:solidFill>
                  <a:srgbClr val="203040"/>
                </a:solidFill>
                <a:effectLst/>
                <a:uFillTx/>
                <a:latin typeface="Consolas"/>
                <a:ea typeface="Consolas"/>
              </a:rPr>
              <a:t>src</a:t>
            </a:r>
            <a:r>
              <a:rPr lang="en-US" sz="1400" b="0" u="none" strike="noStrike" dirty="0">
                <a:solidFill>
                  <a:srgbClr val="203040"/>
                </a:solidFill>
                <a:effectLst/>
                <a:uFillTx/>
                <a:latin typeface="Consolas"/>
                <a:ea typeface="Consolas"/>
              </a:rPr>
              <a:t>/</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experiments/</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models/</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reports/</a:t>
            </a:r>
            <a:endParaRPr lang="en-US" sz="1400" b="0" u="none" strike="noStrike" dirty="0">
              <a:solidFill>
                <a:srgbClr val="000000"/>
              </a:solidFill>
              <a:effectLst/>
              <a:uFillTx/>
              <a:latin typeface="Arial"/>
            </a:endParaRPr>
          </a:p>
          <a:p>
            <a:pPr defTabSz="914400">
              <a:lnSpc>
                <a:spcPct val="100000"/>
              </a:lnSpc>
              <a:tabLst>
                <a:tab pos="0" algn="l"/>
              </a:tabLst>
            </a:pPr>
            <a:r>
              <a:rPr lang="en-US" sz="1400" b="0" u="none" strike="noStrike" dirty="0">
                <a:solidFill>
                  <a:srgbClr val="203040"/>
                </a:solidFill>
                <a:effectLst/>
                <a:uFillTx/>
                <a:latin typeface="Consolas"/>
                <a:ea typeface="Consolas"/>
              </a:rPr>
              <a:t>  notebooks/</a:t>
            </a:r>
            <a:endParaRPr lang="en-US" sz="1400" b="0" u="none" strike="noStrike" dirty="0">
              <a:solidFill>
                <a:srgbClr val="000000"/>
              </a:solidFill>
              <a:effectLst/>
              <a:uFillTx/>
              <a:latin typeface="Arial"/>
            </a:endParaRPr>
          </a:p>
        </p:txBody>
      </p:sp>
      <p:sp>
        <p:nvSpPr>
          <p:cNvPr id="158" name="Shape 4"/>
          <p:cNvSpPr/>
          <p:nvPr/>
        </p:nvSpPr>
        <p:spPr>
          <a:xfrm>
            <a:off x="4983480" y="1508760"/>
            <a:ext cx="2834280" cy="1508400"/>
          </a:xfrm>
          <a:prstGeom prst="roundRect">
            <a:avLst>
              <a:gd name="adj" fmla="val 3636"/>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159" name="Shape 5"/>
          <p:cNvSpPr/>
          <p:nvPr/>
        </p:nvSpPr>
        <p:spPr>
          <a:xfrm>
            <a:off x="4983480" y="1508760"/>
            <a:ext cx="72720" cy="1508400"/>
          </a:xfrm>
          <a:prstGeom prst="rect">
            <a:avLst/>
          </a:prstGeom>
          <a:solidFill>
            <a:srgbClr val="C65353"/>
          </a:solidFill>
          <a:ln w="12700">
            <a:solidFill>
              <a:srgbClr val="C653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160" name="Text 6"/>
          <p:cNvSpPr/>
          <p:nvPr/>
        </p:nvSpPr>
        <p:spPr>
          <a:xfrm>
            <a:off x="5166360" y="1654920"/>
            <a:ext cx="2514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C65353"/>
                </a:solidFill>
                <a:effectLst/>
                <a:uFillTx/>
                <a:latin typeface="Aptos"/>
              </a:rPr>
              <a:t>Rule 1</a:t>
            </a:r>
            <a:endParaRPr lang="en-US" sz="1500" b="0" u="none" strike="noStrike">
              <a:solidFill>
                <a:srgbClr val="000000"/>
              </a:solidFill>
              <a:effectLst/>
              <a:uFillTx/>
              <a:latin typeface="Arial"/>
            </a:endParaRPr>
          </a:p>
        </p:txBody>
      </p:sp>
      <p:sp>
        <p:nvSpPr>
          <p:cNvPr id="161" name="Text 7"/>
          <p:cNvSpPr/>
          <p:nvPr/>
        </p:nvSpPr>
        <p:spPr>
          <a:xfrm>
            <a:off x="5166360" y="2039040"/>
            <a:ext cx="24868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Never manually edit files in data/raw/. Treat raw downloads as immutable evidence.</a:t>
            </a:r>
            <a:endParaRPr lang="en-US" sz="1250" b="0" u="none" strike="noStrike">
              <a:solidFill>
                <a:srgbClr val="000000"/>
              </a:solidFill>
              <a:effectLst/>
              <a:uFillTx/>
              <a:latin typeface="Arial"/>
            </a:endParaRPr>
          </a:p>
        </p:txBody>
      </p:sp>
      <p:sp>
        <p:nvSpPr>
          <p:cNvPr id="162" name="Shape 8"/>
          <p:cNvSpPr/>
          <p:nvPr/>
        </p:nvSpPr>
        <p:spPr>
          <a:xfrm>
            <a:off x="8092440" y="1508760"/>
            <a:ext cx="2834280" cy="1508400"/>
          </a:xfrm>
          <a:prstGeom prst="roundRect">
            <a:avLst>
              <a:gd name="adj" fmla="val 3636"/>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163" name="Shape 9"/>
          <p:cNvSpPr/>
          <p:nvPr/>
        </p:nvSpPr>
        <p:spPr>
          <a:xfrm>
            <a:off x="8092440" y="1508760"/>
            <a:ext cx="72720" cy="150840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164" name="Text 10"/>
          <p:cNvSpPr/>
          <p:nvPr/>
        </p:nvSpPr>
        <p:spPr>
          <a:xfrm>
            <a:off x="8275320" y="1654920"/>
            <a:ext cx="2514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F8B8D"/>
                </a:solidFill>
                <a:effectLst/>
                <a:uFillTx/>
                <a:latin typeface="Aptos"/>
              </a:rPr>
              <a:t>Rule 2</a:t>
            </a:r>
            <a:endParaRPr lang="en-US" sz="1500" b="0" u="none" strike="noStrike">
              <a:solidFill>
                <a:srgbClr val="000000"/>
              </a:solidFill>
              <a:effectLst/>
              <a:uFillTx/>
              <a:latin typeface="Arial"/>
            </a:endParaRPr>
          </a:p>
        </p:txBody>
      </p:sp>
      <p:sp>
        <p:nvSpPr>
          <p:cNvPr id="165" name="Text 11"/>
          <p:cNvSpPr/>
          <p:nvPr/>
        </p:nvSpPr>
        <p:spPr>
          <a:xfrm>
            <a:off x="8275320" y="2039040"/>
            <a:ext cx="24868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Every processed dataset must be reproducible from code + configuration.</a:t>
            </a:r>
            <a:endParaRPr lang="en-US" sz="1250" b="0" u="none" strike="noStrike">
              <a:solidFill>
                <a:srgbClr val="000000"/>
              </a:solidFill>
              <a:effectLst/>
              <a:uFillTx/>
              <a:latin typeface="Arial"/>
            </a:endParaRPr>
          </a:p>
        </p:txBody>
      </p:sp>
      <p:sp>
        <p:nvSpPr>
          <p:cNvPr id="166" name="Shape 12"/>
          <p:cNvSpPr/>
          <p:nvPr/>
        </p:nvSpPr>
        <p:spPr>
          <a:xfrm>
            <a:off x="4983480" y="3337560"/>
            <a:ext cx="2834280" cy="1508400"/>
          </a:xfrm>
          <a:prstGeom prst="roundRect">
            <a:avLst>
              <a:gd name="adj" fmla="val 3636"/>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167" name="Shape 13"/>
          <p:cNvSpPr/>
          <p:nvPr/>
        </p:nvSpPr>
        <p:spPr>
          <a:xfrm>
            <a:off x="4983480" y="3337560"/>
            <a:ext cx="72720" cy="1508400"/>
          </a:xfrm>
          <a:prstGeom prst="rect">
            <a:avLst/>
          </a:prstGeom>
          <a:solidFill>
            <a:srgbClr val="D99A22"/>
          </a:solidFill>
          <a:ln w="12700">
            <a:solidFill>
              <a:srgbClr val="D99A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168" name="Text 14"/>
          <p:cNvSpPr/>
          <p:nvPr/>
        </p:nvSpPr>
        <p:spPr>
          <a:xfrm>
            <a:off x="5166360" y="3483720"/>
            <a:ext cx="2514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D99A22"/>
                </a:solidFill>
                <a:effectLst/>
                <a:uFillTx/>
                <a:latin typeface="Aptos"/>
              </a:rPr>
              <a:t>Rule 3</a:t>
            </a:r>
            <a:endParaRPr lang="en-US" sz="1500" b="0" u="none" strike="noStrike">
              <a:solidFill>
                <a:srgbClr val="000000"/>
              </a:solidFill>
              <a:effectLst/>
              <a:uFillTx/>
              <a:latin typeface="Arial"/>
            </a:endParaRPr>
          </a:p>
        </p:txBody>
      </p:sp>
      <p:sp>
        <p:nvSpPr>
          <p:cNvPr id="169" name="Text 15"/>
          <p:cNvSpPr/>
          <p:nvPr/>
        </p:nvSpPr>
        <p:spPr>
          <a:xfrm>
            <a:off x="5166360" y="3867840"/>
            <a:ext cx="24868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Track table/file version, download date, variable dictionary and processing provenance.</a:t>
            </a:r>
            <a:endParaRPr lang="en-US" sz="1250" b="0" u="none" strike="noStrike">
              <a:solidFill>
                <a:srgbClr val="000000"/>
              </a:solidFill>
              <a:effectLst/>
              <a:uFillTx/>
              <a:latin typeface="Arial"/>
            </a:endParaRPr>
          </a:p>
        </p:txBody>
      </p:sp>
      <p:sp>
        <p:nvSpPr>
          <p:cNvPr id="170" name="Shape 16"/>
          <p:cNvSpPr/>
          <p:nvPr/>
        </p:nvSpPr>
        <p:spPr>
          <a:xfrm>
            <a:off x="8092440" y="3337560"/>
            <a:ext cx="2834280" cy="1508400"/>
          </a:xfrm>
          <a:prstGeom prst="roundRect">
            <a:avLst>
              <a:gd name="adj" fmla="val 3636"/>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171" name="Shape 17"/>
          <p:cNvSpPr/>
          <p:nvPr/>
        </p:nvSpPr>
        <p:spPr>
          <a:xfrm>
            <a:off x="8092440" y="3337560"/>
            <a:ext cx="72720" cy="1508400"/>
          </a:xfrm>
          <a:prstGeom prst="rect">
            <a:avLst/>
          </a:prstGeom>
          <a:solidFill>
            <a:srgbClr val="2E8B68"/>
          </a:solidFill>
          <a:ln w="12700">
            <a:solidFill>
              <a:srgbClr val="2E8B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172" name="Text 18"/>
          <p:cNvSpPr/>
          <p:nvPr/>
        </p:nvSpPr>
        <p:spPr>
          <a:xfrm>
            <a:off x="8275320" y="3483720"/>
            <a:ext cx="2514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E8B68"/>
                </a:solidFill>
                <a:effectLst/>
                <a:uFillTx/>
                <a:latin typeface="Aptos"/>
              </a:rPr>
              <a:t>Rule 4</a:t>
            </a:r>
            <a:endParaRPr lang="en-US" sz="1500" b="0" u="none" strike="noStrike">
              <a:solidFill>
                <a:srgbClr val="000000"/>
              </a:solidFill>
              <a:effectLst/>
              <a:uFillTx/>
              <a:latin typeface="Arial"/>
            </a:endParaRPr>
          </a:p>
        </p:txBody>
      </p:sp>
      <p:sp>
        <p:nvSpPr>
          <p:cNvPr id="173" name="Text 19"/>
          <p:cNvSpPr/>
          <p:nvPr/>
        </p:nvSpPr>
        <p:spPr>
          <a:xfrm>
            <a:off x="8275320" y="3867840"/>
            <a:ext cx="24868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Keep identifiers only in the approved controlled research environment.</a:t>
            </a:r>
            <a:endParaRPr lang="en-US" sz="1250" b="0" u="none" strike="noStrike">
              <a:solidFill>
                <a:srgbClr val="000000"/>
              </a:solidFill>
              <a:effectLst/>
              <a:uFillTx/>
              <a:latin typeface="Arial"/>
            </a:endParaRPr>
          </a:p>
        </p:txBody>
      </p:sp>
      <p:sp>
        <p:nvSpPr>
          <p:cNvPr id="174" name="PlaceHolder 1"/>
          <p:cNvSpPr>
            <a:spLocks noGrp="1"/>
          </p:cNvSpPr>
          <p:nvPr>
            <p:ph type="sldNum" idx="12"/>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17</a:t>
            </a:r>
            <a:endParaRPr lang="en-US" sz="800" b="0" u="none" strike="noStrike">
              <a:solidFill>
                <a:srgbClr val="000000"/>
              </a:solidFill>
              <a:effectLst/>
              <a:uFillTx/>
              <a:latin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ext 0"/>
          <p:cNvSpPr/>
          <p:nvPr/>
        </p:nvSpPr>
        <p:spPr>
          <a:xfrm>
            <a:off x="567000" y="384120"/>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11">
                <a:solidFill>
                  <a:srgbClr val="0F8B8D"/>
                </a:solidFill>
                <a:effectLst/>
                <a:uFillTx/>
                <a:latin typeface="Aptos"/>
              </a:rPr>
              <a:t>CORE DATA MODEL</a:t>
            </a:r>
            <a:endParaRPr lang="en-US" sz="1000" b="0" u="none" strike="noStrike">
              <a:solidFill>
                <a:srgbClr val="000000"/>
              </a:solidFill>
              <a:effectLst/>
              <a:uFillTx/>
              <a:latin typeface="Arial"/>
            </a:endParaRPr>
          </a:p>
        </p:txBody>
      </p:sp>
      <p:sp>
        <p:nvSpPr>
          <p:cNvPr id="176"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Build a participant × visit longitudinal table</a:t>
            </a:r>
            <a:endParaRPr lang="en-US" sz="2800" b="0" u="none" strike="noStrike">
              <a:solidFill>
                <a:srgbClr val="000000"/>
              </a:solidFill>
              <a:effectLst/>
              <a:uFillTx/>
              <a:latin typeface="Arial"/>
            </a:endParaRPr>
          </a:p>
        </p:txBody>
      </p:sp>
      <p:sp>
        <p:nvSpPr>
          <p:cNvPr id="177" name="Shape 2"/>
          <p:cNvSpPr/>
          <p:nvPr/>
        </p:nvSpPr>
        <p:spPr>
          <a:xfrm>
            <a:off x="685800" y="1325880"/>
            <a:ext cx="10789560" cy="2742840"/>
          </a:xfrm>
          <a:prstGeom prst="roundRect">
            <a:avLst>
              <a:gd name="adj" fmla="val 16667"/>
            </a:avLst>
          </a:prstGeom>
          <a:solidFill>
            <a:srgbClr val="FFFFFF"/>
          </a:solidFill>
          <a:ln w="12700">
            <a:solidFill>
              <a:srgbClr val="C9D6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8" name="Text 3"/>
          <p:cNvSpPr/>
          <p:nvPr/>
        </p:nvSpPr>
        <p:spPr>
          <a:xfrm>
            <a:off x="822960" y="1572840"/>
            <a:ext cx="822600" cy="255600"/>
          </a:xfrm>
          <a:prstGeom prst="rect">
            <a:avLst/>
          </a:prstGeom>
          <a:solidFill>
            <a:srgbClr val="0B3558"/>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1" u="none" strike="noStrike">
                <a:solidFill>
                  <a:srgbClr val="FFFFFF"/>
                </a:solidFill>
                <a:effectLst/>
                <a:uFillTx/>
                <a:latin typeface="Aptos"/>
              </a:rPr>
              <a:t>RID</a:t>
            </a:r>
            <a:endParaRPr lang="en-US" sz="1100" b="0" u="none" strike="noStrike">
              <a:solidFill>
                <a:srgbClr val="FFFFFF"/>
              </a:solidFill>
              <a:effectLst/>
              <a:uFillTx/>
              <a:latin typeface="Arial"/>
            </a:endParaRPr>
          </a:p>
        </p:txBody>
      </p:sp>
      <p:sp>
        <p:nvSpPr>
          <p:cNvPr id="179" name="Text 4"/>
          <p:cNvSpPr/>
          <p:nvPr/>
        </p:nvSpPr>
        <p:spPr>
          <a:xfrm>
            <a:off x="1755720" y="1572840"/>
            <a:ext cx="822600" cy="255600"/>
          </a:xfrm>
          <a:prstGeom prst="rect">
            <a:avLst/>
          </a:prstGeom>
          <a:solidFill>
            <a:srgbClr val="0B3558"/>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1" u="none" strike="noStrike">
                <a:solidFill>
                  <a:srgbClr val="FFFFFF"/>
                </a:solidFill>
                <a:effectLst/>
                <a:uFillTx/>
                <a:latin typeface="Aptos"/>
              </a:rPr>
              <a:t>VISCODE</a:t>
            </a:r>
            <a:endParaRPr lang="en-US" sz="1100" b="0" u="none" strike="noStrike">
              <a:solidFill>
                <a:srgbClr val="FFFFFF"/>
              </a:solidFill>
              <a:effectLst/>
              <a:uFillTx/>
              <a:latin typeface="Arial"/>
            </a:endParaRPr>
          </a:p>
        </p:txBody>
      </p:sp>
      <p:sp>
        <p:nvSpPr>
          <p:cNvPr id="180" name="Text 5"/>
          <p:cNvSpPr/>
          <p:nvPr/>
        </p:nvSpPr>
        <p:spPr>
          <a:xfrm>
            <a:off x="2688480" y="1572840"/>
            <a:ext cx="822600" cy="255600"/>
          </a:xfrm>
          <a:prstGeom prst="rect">
            <a:avLst/>
          </a:prstGeom>
          <a:solidFill>
            <a:srgbClr val="0B3558"/>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1" u="none" strike="noStrike">
                <a:solidFill>
                  <a:srgbClr val="FFFFFF"/>
                </a:solidFill>
                <a:effectLst/>
                <a:uFillTx/>
                <a:latin typeface="Aptos"/>
              </a:rPr>
              <a:t>EXAMDATE</a:t>
            </a:r>
            <a:endParaRPr lang="en-US" sz="1100" b="0" u="none" strike="noStrike">
              <a:solidFill>
                <a:srgbClr val="FFFFFF"/>
              </a:solidFill>
              <a:effectLst/>
              <a:uFillTx/>
              <a:latin typeface="Arial"/>
            </a:endParaRPr>
          </a:p>
        </p:txBody>
      </p:sp>
      <p:sp>
        <p:nvSpPr>
          <p:cNvPr id="181" name="Text 6"/>
          <p:cNvSpPr/>
          <p:nvPr/>
        </p:nvSpPr>
        <p:spPr>
          <a:xfrm>
            <a:off x="3620880" y="1572840"/>
            <a:ext cx="822600" cy="255600"/>
          </a:xfrm>
          <a:prstGeom prst="rect">
            <a:avLst/>
          </a:prstGeom>
          <a:solidFill>
            <a:srgbClr val="0B3558"/>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1" u="none" strike="noStrike">
                <a:solidFill>
                  <a:srgbClr val="FFFFFF"/>
                </a:solidFill>
                <a:effectLst/>
                <a:uFillTx/>
                <a:latin typeface="Aptos"/>
              </a:rPr>
              <a:t>DX</a:t>
            </a:r>
            <a:endParaRPr lang="en-US" sz="1100" b="0" u="none" strike="noStrike">
              <a:solidFill>
                <a:srgbClr val="FFFFFF"/>
              </a:solidFill>
              <a:effectLst/>
              <a:uFillTx/>
              <a:latin typeface="Arial"/>
            </a:endParaRPr>
          </a:p>
        </p:txBody>
      </p:sp>
      <p:sp>
        <p:nvSpPr>
          <p:cNvPr id="182" name="Text 7"/>
          <p:cNvSpPr/>
          <p:nvPr/>
        </p:nvSpPr>
        <p:spPr>
          <a:xfrm>
            <a:off x="4553640" y="1572840"/>
            <a:ext cx="822600" cy="255600"/>
          </a:xfrm>
          <a:prstGeom prst="rect">
            <a:avLst/>
          </a:prstGeom>
          <a:solidFill>
            <a:srgbClr val="0B3558"/>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1" u="none" strike="noStrike">
                <a:solidFill>
                  <a:srgbClr val="FFFFFF"/>
                </a:solidFill>
                <a:effectLst/>
                <a:uFillTx/>
                <a:latin typeface="Aptos"/>
              </a:rPr>
              <a:t>MMSE</a:t>
            </a:r>
            <a:endParaRPr lang="en-US" sz="1100" b="0" u="none" strike="noStrike">
              <a:solidFill>
                <a:srgbClr val="FFFFFF"/>
              </a:solidFill>
              <a:effectLst/>
              <a:uFillTx/>
              <a:latin typeface="Arial"/>
            </a:endParaRPr>
          </a:p>
        </p:txBody>
      </p:sp>
      <p:sp>
        <p:nvSpPr>
          <p:cNvPr id="183" name="Text 8"/>
          <p:cNvSpPr/>
          <p:nvPr/>
        </p:nvSpPr>
        <p:spPr>
          <a:xfrm>
            <a:off x="5486400" y="1572840"/>
            <a:ext cx="822600" cy="255600"/>
          </a:xfrm>
          <a:prstGeom prst="rect">
            <a:avLst/>
          </a:prstGeom>
          <a:solidFill>
            <a:srgbClr val="0B3558"/>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1" u="none" strike="noStrike">
                <a:solidFill>
                  <a:srgbClr val="FFFFFF"/>
                </a:solidFill>
                <a:effectLst/>
                <a:uFillTx/>
                <a:latin typeface="Aptos"/>
              </a:rPr>
              <a:t>ADAS13</a:t>
            </a:r>
            <a:endParaRPr lang="en-US" sz="1100" b="0" u="none" strike="noStrike">
              <a:solidFill>
                <a:srgbClr val="FFFFFF"/>
              </a:solidFill>
              <a:effectLst/>
              <a:uFillTx/>
              <a:latin typeface="Arial"/>
            </a:endParaRPr>
          </a:p>
        </p:txBody>
      </p:sp>
      <p:sp>
        <p:nvSpPr>
          <p:cNvPr id="184" name="Text 9"/>
          <p:cNvSpPr/>
          <p:nvPr/>
        </p:nvSpPr>
        <p:spPr>
          <a:xfrm>
            <a:off x="6419160" y="1572840"/>
            <a:ext cx="822600" cy="255600"/>
          </a:xfrm>
          <a:prstGeom prst="rect">
            <a:avLst/>
          </a:prstGeom>
          <a:solidFill>
            <a:srgbClr val="0B3558"/>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1" u="none" strike="noStrike">
                <a:solidFill>
                  <a:srgbClr val="FFFFFF"/>
                </a:solidFill>
                <a:effectLst/>
                <a:uFillTx/>
                <a:latin typeface="Aptos"/>
              </a:rPr>
              <a:t>CDRSB</a:t>
            </a:r>
            <a:endParaRPr lang="en-US" sz="1100" b="0" u="none" strike="noStrike">
              <a:solidFill>
                <a:srgbClr val="FFFFFF"/>
              </a:solidFill>
              <a:effectLst/>
              <a:uFillTx/>
              <a:latin typeface="Arial"/>
            </a:endParaRPr>
          </a:p>
        </p:txBody>
      </p:sp>
      <p:sp>
        <p:nvSpPr>
          <p:cNvPr id="185" name="Text 10"/>
          <p:cNvSpPr/>
          <p:nvPr/>
        </p:nvSpPr>
        <p:spPr>
          <a:xfrm>
            <a:off x="7351920" y="1572840"/>
            <a:ext cx="822600" cy="255600"/>
          </a:xfrm>
          <a:prstGeom prst="rect">
            <a:avLst/>
          </a:prstGeom>
          <a:solidFill>
            <a:srgbClr val="0B3558"/>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1" u="none" strike="noStrike">
                <a:solidFill>
                  <a:srgbClr val="FFFFFF"/>
                </a:solidFill>
                <a:effectLst/>
                <a:uFillTx/>
                <a:latin typeface="Aptos"/>
              </a:rPr>
              <a:t>MRI…</a:t>
            </a:r>
            <a:endParaRPr lang="en-US" sz="1100" b="0" u="none" strike="noStrike">
              <a:solidFill>
                <a:srgbClr val="FFFFFF"/>
              </a:solidFill>
              <a:effectLst/>
              <a:uFillTx/>
              <a:latin typeface="Arial"/>
            </a:endParaRPr>
          </a:p>
        </p:txBody>
      </p:sp>
      <p:sp>
        <p:nvSpPr>
          <p:cNvPr id="186" name="Text 11"/>
          <p:cNvSpPr/>
          <p:nvPr/>
        </p:nvSpPr>
        <p:spPr>
          <a:xfrm>
            <a:off x="8284320" y="1572840"/>
            <a:ext cx="822600" cy="255600"/>
          </a:xfrm>
          <a:prstGeom prst="rect">
            <a:avLst/>
          </a:prstGeom>
          <a:solidFill>
            <a:srgbClr val="0B3558"/>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1" u="none" strike="noStrike">
                <a:solidFill>
                  <a:srgbClr val="FFFFFF"/>
                </a:solidFill>
                <a:effectLst/>
                <a:uFillTx/>
                <a:latin typeface="Aptos"/>
              </a:rPr>
              <a:t>PET…</a:t>
            </a:r>
            <a:endParaRPr lang="en-US" sz="1100" b="0" u="none" strike="noStrike">
              <a:solidFill>
                <a:srgbClr val="FFFFFF"/>
              </a:solidFill>
              <a:effectLst/>
              <a:uFillTx/>
              <a:latin typeface="Arial"/>
            </a:endParaRPr>
          </a:p>
        </p:txBody>
      </p:sp>
      <p:sp>
        <p:nvSpPr>
          <p:cNvPr id="187" name="Text 12"/>
          <p:cNvSpPr/>
          <p:nvPr/>
        </p:nvSpPr>
        <p:spPr>
          <a:xfrm>
            <a:off x="9217080" y="1572840"/>
            <a:ext cx="822600" cy="255600"/>
          </a:xfrm>
          <a:prstGeom prst="rect">
            <a:avLst/>
          </a:prstGeom>
          <a:solidFill>
            <a:srgbClr val="0B3558"/>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1" u="none" strike="noStrike">
                <a:solidFill>
                  <a:srgbClr val="FFFFFF"/>
                </a:solidFill>
                <a:effectLst/>
                <a:uFillTx/>
                <a:latin typeface="Aptos"/>
              </a:rPr>
              <a:t>CSF…</a:t>
            </a:r>
            <a:endParaRPr lang="en-US" sz="1100" b="0" u="none" strike="noStrike">
              <a:solidFill>
                <a:srgbClr val="FFFFFF"/>
              </a:solidFill>
              <a:effectLst/>
              <a:uFillTx/>
              <a:latin typeface="Arial"/>
            </a:endParaRPr>
          </a:p>
        </p:txBody>
      </p:sp>
      <p:sp>
        <p:nvSpPr>
          <p:cNvPr id="188" name="Text 13"/>
          <p:cNvSpPr/>
          <p:nvPr/>
        </p:nvSpPr>
        <p:spPr>
          <a:xfrm>
            <a:off x="10149840" y="1572840"/>
            <a:ext cx="822600" cy="255600"/>
          </a:xfrm>
          <a:prstGeom prst="rect">
            <a:avLst/>
          </a:prstGeom>
          <a:solidFill>
            <a:srgbClr val="0B3558"/>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1" u="none" strike="noStrike">
                <a:solidFill>
                  <a:srgbClr val="FFFFFF"/>
                </a:solidFill>
                <a:effectLst/>
                <a:uFillTx/>
                <a:latin typeface="Aptos"/>
              </a:rPr>
              <a:t>APOE</a:t>
            </a:r>
            <a:endParaRPr lang="en-US" sz="1100" b="0" u="none" strike="noStrike">
              <a:solidFill>
                <a:srgbClr val="FFFFFF"/>
              </a:solidFill>
              <a:effectLst/>
              <a:uFillTx/>
              <a:latin typeface="Arial"/>
            </a:endParaRPr>
          </a:p>
        </p:txBody>
      </p:sp>
      <p:sp>
        <p:nvSpPr>
          <p:cNvPr id="189" name="Text 14"/>
          <p:cNvSpPr/>
          <p:nvPr/>
        </p:nvSpPr>
        <p:spPr>
          <a:xfrm>
            <a:off x="822960" y="196596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001</a:t>
            </a:r>
            <a:endParaRPr lang="en-US" sz="1100" b="0" u="none" strike="noStrike">
              <a:solidFill>
                <a:srgbClr val="000000"/>
              </a:solidFill>
              <a:effectLst/>
              <a:uFillTx/>
              <a:latin typeface="Arial"/>
            </a:endParaRPr>
          </a:p>
        </p:txBody>
      </p:sp>
      <p:sp>
        <p:nvSpPr>
          <p:cNvPr id="190" name="Text 15"/>
          <p:cNvSpPr/>
          <p:nvPr/>
        </p:nvSpPr>
        <p:spPr>
          <a:xfrm>
            <a:off x="1755720" y="196596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bl</a:t>
            </a:r>
            <a:endParaRPr lang="en-US" sz="1100" b="0" u="none" strike="noStrike">
              <a:solidFill>
                <a:srgbClr val="000000"/>
              </a:solidFill>
              <a:effectLst/>
              <a:uFillTx/>
              <a:latin typeface="Arial"/>
            </a:endParaRPr>
          </a:p>
        </p:txBody>
      </p:sp>
      <p:sp>
        <p:nvSpPr>
          <p:cNvPr id="191" name="Text 16"/>
          <p:cNvSpPr/>
          <p:nvPr/>
        </p:nvSpPr>
        <p:spPr>
          <a:xfrm>
            <a:off x="2688480" y="196596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192" name="Text 17"/>
          <p:cNvSpPr/>
          <p:nvPr/>
        </p:nvSpPr>
        <p:spPr>
          <a:xfrm>
            <a:off x="3620880" y="196596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CN</a:t>
            </a:r>
            <a:endParaRPr lang="en-US" sz="1100" b="0" u="none" strike="noStrike">
              <a:solidFill>
                <a:srgbClr val="000000"/>
              </a:solidFill>
              <a:effectLst/>
              <a:uFillTx/>
              <a:latin typeface="Arial"/>
            </a:endParaRPr>
          </a:p>
        </p:txBody>
      </p:sp>
      <p:sp>
        <p:nvSpPr>
          <p:cNvPr id="193" name="Text 18"/>
          <p:cNvSpPr/>
          <p:nvPr/>
        </p:nvSpPr>
        <p:spPr>
          <a:xfrm>
            <a:off x="4553640" y="196596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29</a:t>
            </a:r>
            <a:endParaRPr lang="en-US" sz="1100" b="0" u="none" strike="noStrike">
              <a:solidFill>
                <a:srgbClr val="000000"/>
              </a:solidFill>
              <a:effectLst/>
              <a:uFillTx/>
              <a:latin typeface="Arial"/>
            </a:endParaRPr>
          </a:p>
        </p:txBody>
      </p:sp>
      <p:sp>
        <p:nvSpPr>
          <p:cNvPr id="194" name="Text 19"/>
          <p:cNvSpPr/>
          <p:nvPr/>
        </p:nvSpPr>
        <p:spPr>
          <a:xfrm>
            <a:off x="5486400" y="196596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8</a:t>
            </a:r>
            <a:endParaRPr lang="en-US" sz="1100" b="0" u="none" strike="noStrike">
              <a:solidFill>
                <a:srgbClr val="000000"/>
              </a:solidFill>
              <a:effectLst/>
              <a:uFillTx/>
              <a:latin typeface="Arial"/>
            </a:endParaRPr>
          </a:p>
        </p:txBody>
      </p:sp>
      <p:sp>
        <p:nvSpPr>
          <p:cNvPr id="195" name="Text 20"/>
          <p:cNvSpPr/>
          <p:nvPr/>
        </p:nvSpPr>
        <p:spPr>
          <a:xfrm>
            <a:off x="6419160" y="196596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0</a:t>
            </a:r>
            <a:endParaRPr lang="en-US" sz="1100" b="0" u="none" strike="noStrike">
              <a:solidFill>
                <a:srgbClr val="000000"/>
              </a:solidFill>
              <a:effectLst/>
              <a:uFillTx/>
              <a:latin typeface="Arial"/>
            </a:endParaRPr>
          </a:p>
        </p:txBody>
      </p:sp>
      <p:sp>
        <p:nvSpPr>
          <p:cNvPr id="196" name="Text 21"/>
          <p:cNvSpPr/>
          <p:nvPr/>
        </p:nvSpPr>
        <p:spPr>
          <a:xfrm>
            <a:off x="7351920" y="196596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197" name="Text 22"/>
          <p:cNvSpPr/>
          <p:nvPr/>
        </p:nvSpPr>
        <p:spPr>
          <a:xfrm>
            <a:off x="8284320" y="196596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198" name="Text 23"/>
          <p:cNvSpPr/>
          <p:nvPr/>
        </p:nvSpPr>
        <p:spPr>
          <a:xfrm>
            <a:off x="9217080" y="196596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199" name="Text 24"/>
          <p:cNvSpPr/>
          <p:nvPr/>
        </p:nvSpPr>
        <p:spPr>
          <a:xfrm>
            <a:off x="10149840" y="196596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0</a:t>
            </a:r>
            <a:endParaRPr lang="en-US" sz="1100" b="0" u="none" strike="noStrike">
              <a:solidFill>
                <a:srgbClr val="000000"/>
              </a:solidFill>
              <a:effectLst/>
              <a:uFillTx/>
              <a:latin typeface="Arial"/>
            </a:endParaRPr>
          </a:p>
        </p:txBody>
      </p:sp>
      <p:sp>
        <p:nvSpPr>
          <p:cNvPr id="200" name="Text 25"/>
          <p:cNvSpPr/>
          <p:nvPr/>
        </p:nvSpPr>
        <p:spPr>
          <a:xfrm>
            <a:off x="822960" y="240480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001</a:t>
            </a:r>
            <a:endParaRPr lang="en-US" sz="1100" b="0" u="none" strike="noStrike">
              <a:solidFill>
                <a:srgbClr val="000000"/>
              </a:solidFill>
              <a:effectLst/>
              <a:uFillTx/>
              <a:latin typeface="Arial"/>
            </a:endParaRPr>
          </a:p>
        </p:txBody>
      </p:sp>
      <p:sp>
        <p:nvSpPr>
          <p:cNvPr id="201" name="Text 26"/>
          <p:cNvSpPr/>
          <p:nvPr/>
        </p:nvSpPr>
        <p:spPr>
          <a:xfrm>
            <a:off x="1755720" y="240480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m12</a:t>
            </a:r>
            <a:endParaRPr lang="en-US" sz="1100" b="0" u="none" strike="noStrike">
              <a:solidFill>
                <a:srgbClr val="000000"/>
              </a:solidFill>
              <a:effectLst/>
              <a:uFillTx/>
              <a:latin typeface="Arial"/>
            </a:endParaRPr>
          </a:p>
        </p:txBody>
      </p:sp>
      <p:sp>
        <p:nvSpPr>
          <p:cNvPr id="202" name="Text 27"/>
          <p:cNvSpPr/>
          <p:nvPr/>
        </p:nvSpPr>
        <p:spPr>
          <a:xfrm>
            <a:off x="2688480" y="240480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203" name="Text 28"/>
          <p:cNvSpPr/>
          <p:nvPr/>
        </p:nvSpPr>
        <p:spPr>
          <a:xfrm>
            <a:off x="3620880" y="240480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MCI</a:t>
            </a:r>
            <a:endParaRPr lang="en-US" sz="1100" b="0" u="none" strike="noStrike">
              <a:solidFill>
                <a:srgbClr val="000000"/>
              </a:solidFill>
              <a:effectLst/>
              <a:uFillTx/>
              <a:latin typeface="Arial"/>
            </a:endParaRPr>
          </a:p>
        </p:txBody>
      </p:sp>
      <p:sp>
        <p:nvSpPr>
          <p:cNvPr id="204" name="Text 29"/>
          <p:cNvSpPr/>
          <p:nvPr/>
        </p:nvSpPr>
        <p:spPr>
          <a:xfrm>
            <a:off x="4553640" y="240480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26</a:t>
            </a:r>
            <a:endParaRPr lang="en-US" sz="1100" b="0" u="none" strike="noStrike">
              <a:solidFill>
                <a:srgbClr val="000000"/>
              </a:solidFill>
              <a:effectLst/>
              <a:uFillTx/>
              <a:latin typeface="Arial"/>
            </a:endParaRPr>
          </a:p>
        </p:txBody>
      </p:sp>
      <p:sp>
        <p:nvSpPr>
          <p:cNvPr id="205" name="Text 30"/>
          <p:cNvSpPr/>
          <p:nvPr/>
        </p:nvSpPr>
        <p:spPr>
          <a:xfrm>
            <a:off x="5486400" y="240480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14</a:t>
            </a:r>
            <a:endParaRPr lang="en-US" sz="1100" b="0" u="none" strike="noStrike">
              <a:solidFill>
                <a:srgbClr val="000000"/>
              </a:solidFill>
              <a:effectLst/>
              <a:uFillTx/>
              <a:latin typeface="Arial"/>
            </a:endParaRPr>
          </a:p>
        </p:txBody>
      </p:sp>
      <p:sp>
        <p:nvSpPr>
          <p:cNvPr id="206" name="Text 31"/>
          <p:cNvSpPr/>
          <p:nvPr/>
        </p:nvSpPr>
        <p:spPr>
          <a:xfrm>
            <a:off x="6419160" y="240480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1.5</a:t>
            </a:r>
            <a:endParaRPr lang="en-US" sz="1100" b="0" u="none" strike="noStrike">
              <a:solidFill>
                <a:srgbClr val="000000"/>
              </a:solidFill>
              <a:effectLst/>
              <a:uFillTx/>
              <a:latin typeface="Arial"/>
            </a:endParaRPr>
          </a:p>
        </p:txBody>
      </p:sp>
      <p:sp>
        <p:nvSpPr>
          <p:cNvPr id="207" name="Text 32"/>
          <p:cNvSpPr/>
          <p:nvPr/>
        </p:nvSpPr>
        <p:spPr>
          <a:xfrm>
            <a:off x="7351920" y="240480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208" name="Text 33"/>
          <p:cNvSpPr/>
          <p:nvPr/>
        </p:nvSpPr>
        <p:spPr>
          <a:xfrm>
            <a:off x="8284320" y="240480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209" name="Text 34"/>
          <p:cNvSpPr/>
          <p:nvPr/>
        </p:nvSpPr>
        <p:spPr>
          <a:xfrm>
            <a:off x="9217080" y="240480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210" name="Text 35"/>
          <p:cNvSpPr/>
          <p:nvPr/>
        </p:nvSpPr>
        <p:spPr>
          <a:xfrm>
            <a:off x="10149840" y="240480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0</a:t>
            </a:r>
            <a:endParaRPr lang="en-US" sz="1100" b="0" u="none" strike="noStrike">
              <a:solidFill>
                <a:srgbClr val="000000"/>
              </a:solidFill>
              <a:effectLst/>
              <a:uFillTx/>
              <a:latin typeface="Arial"/>
            </a:endParaRPr>
          </a:p>
        </p:txBody>
      </p:sp>
      <p:sp>
        <p:nvSpPr>
          <p:cNvPr id="211" name="Text 36"/>
          <p:cNvSpPr/>
          <p:nvPr/>
        </p:nvSpPr>
        <p:spPr>
          <a:xfrm>
            <a:off x="822960" y="284364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001</a:t>
            </a:r>
            <a:endParaRPr lang="en-US" sz="1100" b="0" u="none" strike="noStrike">
              <a:solidFill>
                <a:srgbClr val="000000"/>
              </a:solidFill>
              <a:effectLst/>
              <a:uFillTx/>
              <a:latin typeface="Arial"/>
            </a:endParaRPr>
          </a:p>
        </p:txBody>
      </p:sp>
      <p:sp>
        <p:nvSpPr>
          <p:cNvPr id="212" name="Text 37"/>
          <p:cNvSpPr/>
          <p:nvPr/>
        </p:nvSpPr>
        <p:spPr>
          <a:xfrm>
            <a:off x="1755720" y="284364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m24</a:t>
            </a:r>
            <a:endParaRPr lang="en-US" sz="1100" b="0" u="none" strike="noStrike">
              <a:solidFill>
                <a:srgbClr val="000000"/>
              </a:solidFill>
              <a:effectLst/>
              <a:uFillTx/>
              <a:latin typeface="Arial"/>
            </a:endParaRPr>
          </a:p>
        </p:txBody>
      </p:sp>
      <p:sp>
        <p:nvSpPr>
          <p:cNvPr id="213" name="Text 38"/>
          <p:cNvSpPr/>
          <p:nvPr/>
        </p:nvSpPr>
        <p:spPr>
          <a:xfrm>
            <a:off x="2688480" y="284364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214" name="Text 39"/>
          <p:cNvSpPr/>
          <p:nvPr/>
        </p:nvSpPr>
        <p:spPr>
          <a:xfrm>
            <a:off x="3620880" y="284364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MCI</a:t>
            </a:r>
            <a:endParaRPr lang="en-US" sz="1100" b="0" u="none" strike="noStrike">
              <a:solidFill>
                <a:srgbClr val="000000"/>
              </a:solidFill>
              <a:effectLst/>
              <a:uFillTx/>
              <a:latin typeface="Arial"/>
            </a:endParaRPr>
          </a:p>
        </p:txBody>
      </p:sp>
      <p:sp>
        <p:nvSpPr>
          <p:cNvPr id="215" name="Text 40"/>
          <p:cNvSpPr/>
          <p:nvPr/>
        </p:nvSpPr>
        <p:spPr>
          <a:xfrm>
            <a:off x="4553640" y="284364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24</a:t>
            </a:r>
            <a:endParaRPr lang="en-US" sz="1100" b="0" u="none" strike="noStrike">
              <a:solidFill>
                <a:srgbClr val="000000"/>
              </a:solidFill>
              <a:effectLst/>
              <a:uFillTx/>
              <a:latin typeface="Arial"/>
            </a:endParaRPr>
          </a:p>
        </p:txBody>
      </p:sp>
      <p:sp>
        <p:nvSpPr>
          <p:cNvPr id="216" name="Text 41"/>
          <p:cNvSpPr/>
          <p:nvPr/>
        </p:nvSpPr>
        <p:spPr>
          <a:xfrm>
            <a:off x="5486400" y="284364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19</a:t>
            </a:r>
            <a:endParaRPr lang="en-US" sz="1100" b="0" u="none" strike="noStrike">
              <a:solidFill>
                <a:srgbClr val="000000"/>
              </a:solidFill>
              <a:effectLst/>
              <a:uFillTx/>
              <a:latin typeface="Arial"/>
            </a:endParaRPr>
          </a:p>
        </p:txBody>
      </p:sp>
      <p:sp>
        <p:nvSpPr>
          <p:cNvPr id="217" name="Text 42"/>
          <p:cNvSpPr/>
          <p:nvPr/>
        </p:nvSpPr>
        <p:spPr>
          <a:xfrm>
            <a:off x="6419160" y="284364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3</a:t>
            </a:r>
            <a:endParaRPr lang="en-US" sz="1100" b="0" u="none" strike="noStrike">
              <a:solidFill>
                <a:srgbClr val="000000"/>
              </a:solidFill>
              <a:effectLst/>
              <a:uFillTx/>
              <a:latin typeface="Arial"/>
            </a:endParaRPr>
          </a:p>
        </p:txBody>
      </p:sp>
      <p:sp>
        <p:nvSpPr>
          <p:cNvPr id="218" name="Text 43"/>
          <p:cNvSpPr/>
          <p:nvPr/>
        </p:nvSpPr>
        <p:spPr>
          <a:xfrm>
            <a:off x="7351920" y="284364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219" name="Text 44"/>
          <p:cNvSpPr/>
          <p:nvPr/>
        </p:nvSpPr>
        <p:spPr>
          <a:xfrm>
            <a:off x="8284320" y="284364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220" name="Text 45"/>
          <p:cNvSpPr/>
          <p:nvPr/>
        </p:nvSpPr>
        <p:spPr>
          <a:xfrm>
            <a:off x="9217080" y="284364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221" name="Text 46"/>
          <p:cNvSpPr/>
          <p:nvPr/>
        </p:nvSpPr>
        <p:spPr>
          <a:xfrm>
            <a:off x="10149840" y="2843640"/>
            <a:ext cx="822600" cy="273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0</a:t>
            </a:r>
            <a:endParaRPr lang="en-US" sz="1100" b="0" u="none" strike="noStrike">
              <a:solidFill>
                <a:srgbClr val="000000"/>
              </a:solidFill>
              <a:effectLst/>
              <a:uFillTx/>
              <a:latin typeface="Arial"/>
            </a:endParaRPr>
          </a:p>
        </p:txBody>
      </p:sp>
      <p:sp>
        <p:nvSpPr>
          <p:cNvPr id="222" name="Text 47"/>
          <p:cNvSpPr/>
          <p:nvPr/>
        </p:nvSpPr>
        <p:spPr>
          <a:xfrm>
            <a:off x="822960" y="328284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001</a:t>
            </a:r>
            <a:endParaRPr lang="en-US" sz="1100" b="0" u="none" strike="noStrike">
              <a:solidFill>
                <a:srgbClr val="000000"/>
              </a:solidFill>
              <a:effectLst/>
              <a:uFillTx/>
              <a:latin typeface="Arial"/>
            </a:endParaRPr>
          </a:p>
        </p:txBody>
      </p:sp>
      <p:sp>
        <p:nvSpPr>
          <p:cNvPr id="223" name="Text 48"/>
          <p:cNvSpPr/>
          <p:nvPr/>
        </p:nvSpPr>
        <p:spPr>
          <a:xfrm>
            <a:off x="1755720" y="328284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m36</a:t>
            </a:r>
            <a:endParaRPr lang="en-US" sz="1100" b="0" u="none" strike="noStrike">
              <a:solidFill>
                <a:srgbClr val="000000"/>
              </a:solidFill>
              <a:effectLst/>
              <a:uFillTx/>
              <a:latin typeface="Arial"/>
            </a:endParaRPr>
          </a:p>
        </p:txBody>
      </p:sp>
      <p:sp>
        <p:nvSpPr>
          <p:cNvPr id="224" name="Text 49"/>
          <p:cNvSpPr/>
          <p:nvPr/>
        </p:nvSpPr>
        <p:spPr>
          <a:xfrm>
            <a:off x="2688480" y="328284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225" name="Text 50"/>
          <p:cNvSpPr/>
          <p:nvPr/>
        </p:nvSpPr>
        <p:spPr>
          <a:xfrm>
            <a:off x="3620880" y="328284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AD</a:t>
            </a:r>
            <a:endParaRPr lang="en-US" sz="1100" b="0" u="none" strike="noStrike">
              <a:solidFill>
                <a:srgbClr val="000000"/>
              </a:solidFill>
              <a:effectLst/>
              <a:uFillTx/>
              <a:latin typeface="Arial"/>
            </a:endParaRPr>
          </a:p>
        </p:txBody>
      </p:sp>
      <p:sp>
        <p:nvSpPr>
          <p:cNvPr id="226" name="Text 51"/>
          <p:cNvSpPr/>
          <p:nvPr/>
        </p:nvSpPr>
        <p:spPr>
          <a:xfrm>
            <a:off x="4553640" y="328284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20</a:t>
            </a:r>
            <a:endParaRPr lang="en-US" sz="1100" b="0" u="none" strike="noStrike">
              <a:solidFill>
                <a:srgbClr val="000000"/>
              </a:solidFill>
              <a:effectLst/>
              <a:uFillTx/>
              <a:latin typeface="Arial"/>
            </a:endParaRPr>
          </a:p>
        </p:txBody>
      </p:sp>
      <p:sp>
        <p:nvSpPr>
          <p:cNvPr id="227" name="Text 52"/>
          <p:cNvSpPr/>
          <p:nvPr/>
        </p:nvSpPr>
        <p:spPr>
          <a:xfrm>
            <a:off x="5486400" y="328284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28</a:t>
            </a:r>
            <a:endParaRPr lang="en-US" sz="1100" b="0" u="none" strike="noStrike">
              <a:solidFill>
                <a:srgbClr val="000000"/>
              </a:solidFill>
              <a:effectLst/>
              <a:uFillTx/>
              <a:latin typeface="Arial"/>
            </a:endParaRPr>
          </a:p>
        </p:txBody>
      </p:sp>
      <p:sp>
        <p:nvSpPr>
          <p:cNvPr id="228" name="Text 53"/>
          <p:cNvSpPr/>
          <p:nvPr/>
        </p:nvSpPr>
        <p:spPr>
          <a:xfrm>
            <a:off x="6419160" y="328284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6</a:t>
            </a:r>
            <a:endParaRPr lang="en-US" sz="1100" b="0" u="none" strike="noStrike">
              <a:solidFill>
                <a:srgbClr val="000000"/>
              </a:solidFill>
              <a:effectLst/>
              <a:uFillTx/>
              <a:latin typeface="Arial"/>
            </a:endParaRPr>
          </a:p>
        </p:txBody>
      </p:sp>
      <p:sp>
        <p:nvSpPr>
          <p:cNvPr id="229" name="Text 54"/>
          <p:cNvSpPr/>
          <p:nvPr/>
        </p:nvSpPr>
        <p:spPr>
          <a:xfrm>
            <a:off x="7351920" y="328284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230" name="Text 55"/>
          <p:cNvSpPr/>
          <p:nvPr/>
        </p:nvSpPr>
        <p:spPr>
          <a:xfrm>
            <a:off x="8284320" y="328284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231" name="Text 56"/>
          <p:cNvSpPr/>
          <p:nvPr/>
        </p:nvSpPr>
        <p:spPr>
          <a:xfrm>
            <a:off x="9217080" y="328284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a:t>
            </a:r>
            <a:endParaRPr lang="en-US" sz="1100" b="0" u="none" strike="noStrike">
              <a:solidFill>
                <a:srgbClr val="000000"/>
              </a:solidFill>
              <a:effectLst/>
              <a:uFillTx/>
              <a:latin typeface="Arial"/>
            </a:endParaRPr>
          </a:p>
        </p:txBody>
      </p:sp>
      <p:sp>
        <p:nvSpPr>
          <p:cNvPr id="232" name="Text 57"/>
          <p:cNvSpPr/>
          <p:nvPr/>
        </p:nvSpPr>
        <p:spPr>
          <a:xfrm>
            <a:off x="10149840" y="3282840"/>
            <a:ext cx="822600" cy="273960"/>
          </a:xfrm>
          <a:prstGeom prst="rect">
            <a:avLst/>
          </a:prstGeom>
          <a:solidFill>
            <a:srgbClr val="F4F7FA"/>
          </a:solidFill>
          <a:ln w="0">
            <a:noFill/>
          </a:ln>
        </p:spPr>
        <p:style>
          <a:lnRef idx="0">
            <a:scrgbClr r="0" g="0" b="0"/>
          </a:lnRef>
          <a:fillRef idx="0">
            <a:scrgbClr r="0" g="0" b="0"/>
          </a:fillRef>
          <a:effectRef idx="0">
            <a:scrgbClr r="0" g="0" b="0"/>
          </a:effectRef>
          <a:fontRef idx="minor"/>
        </p:style>
        <p:txBody>
          <a:bodyPr lIns="25560" tIns="25560" rIns="25560" bIns="25560" anchor="ctr">
            <a:noAutofit/>
          </a:bodyPr>
          <a:lstStyle/>
          <a:p>
            <a:pPr algn="ctr" defTabSz="914400">
              <a:lnSpc>
                <a:spcPct val="100000"/>
              </a:lnSpc>
              <a:tabLst>
                <a:tab pos="0" algn="l"/>
              </a:tabLst>
            </a:pPr>
            <a:r>
              <a:rPr lang="en-US" sz="1100" b="0" u="none" strike="noStrike">
                <a:solidFill>
                  <a:srgbClr val="203040"/>
                </a:solidFill>
                <a:effectLst/>
                <a:uFillTx/>
                <a:latin typeface="Aptos"/>
              </a:rPr>
              <a:t>0</a:t>
            </a:r>
            <a:endParaRPr lang="en-US" sz="1100" b="0" u="none" strike="noStrike">
              <a:solidFill>
                <a:srgbClr val="000000"/>
              </a:solidFill>
              <a:effectLst/>
              <a:uFillTx/>
              <a:latin typeface="Arial"/>
            </a:endParaRPr>
          </a:p>
        </p:txBody>
      </p:sp>
      <p:sp>
        <p:nvSpPr>
          <p:cNvPr id="233" name="Text 58"/>
          <p:cNvSpPr/>
          <p:nvPr/>
        </p:nvSpPr>
        <p:spPr>
          <a:xfrm>
            <a:off x="1005840" y="4572000"/>
            <a:ext cx="100580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C65353"/>
                </a:solidFill>
                <a:effectLst/>
                <a:uFillTx/>
                <a:latin typeface="Aptos"/>
              </a:rPr>
              <a:t>Join carefully using participant and visit/time information. RID alone is not enough for longitudinal alignment.</a:t>
            </a:r>
            <a:endParaRPr lang="en-US" sz="1700" b="0" u="none" strike="noStrike">
              <a:solidFill>
                <a:srgbClr val="000000"/>
              </a:solidFill>
              <a:effectLst/>
              <a:uFillTx/>
              <a:latin typeface="Arial"/>
            </a:endParaRPr>
          </a:p>
        </p:txBody>
      </p:sp>
      <p:sp>
        <p:nvSpPr>
          <p:cNvPr id="234" name="Text 59"/>
          <p:cNvSpPr/>
          <p:nvPr/>
        </p:nvSpPr>
        <p:spPr>
          <a:xfrm>
            <a:off x="1005840" y="5166360"/>
            <a:ext cx="100580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0" u="none" strike="noStrike">
                <a:solidFill>
                  <a:srgbClr val="657786"/>
                </a:solidFill>
                <a:effectLst/>
                <a:uFillTx/>
                <a:latin typeface="Aptos"/>
              </a:rPr>
              <a:t>The exact variables and joins must be documented from the approved ADNI release used by the student.</a:t>
            </a:r>
            <a:endParaRPr lang="en-US" sz="1400" b="0" u="none" strike="noStrike">
              <a:solidFill>
                <a:srgbClr val="000000"/>
              </a:solidFill>
              <a:effectLst/>
              <a:uFillTx/>
              <a:latin typeface="Arial"/>
            </a:endParaRPr>
          </a:p>
        </p:txBody>
      </p:sp>
      <p:sp>
        <p:nvSpPr>
          <p:cNvPr id="235" name="PlaceHolder 1"/>
          <p:cNvSpPr>
            <a:spLocks noGrp="1"/>
          </p:cNvSpPr>
          <p:nvPr>
            <p:ph type="sldNum" idx="13"/>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18</a:t>
            </a:r>
            <a:endParaRPr lang="en-US" sz="800" b="0" u="none" strike="noStrike">
              <a:solidFill>
                <a:srgbClr val="000000"/>
              </a:solidFill>
              <a:effectLst/>
              <a:uFillTx/>
              <a:latin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3558"/>
        </a:solidFill>
        <a:effectLst/>
      </p:bgPr>
    </p:bg>
    <p:spTree>
      <p:nvGrpSpPr>
        <p:cNvPr id="1" name=""/>
        <p:cNvGrpSpPr/>
        <p:nvPr/>
      </p:nvGrpSpPr>
      <p:grpSpPr>
        <a:xfrm>
          <a:off x="0" y="0"/>
          <a:ext cx="0" cy="0"/>
          <a:chOff x="0" y="0"/>
          <a:chExt cx="0" cy="0"/>
        </a:xfrm>
      </p:grpSpPr>
      <p:sp>
        <p:nvSpPr>
          <p:cNvPr id="236" name="Text 0"/>
          <p:cNvSpPr/>
          <p:nvPr/>
        </p:nvSpPr>
        <p:spPr>
          <a:xfrm>
            <a:off x="640080" y="1005840"/>
            <a:ext cx="10969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400" b="1" u="none" strike="noStrike">
                <a:solidFill>
                  <a:srgbClr val="19A7A0"/>
                </a:solidFill>
                <a:effectLst/>
                <a:uFillTx/>
                <a:latin typeface="Aptos"/>
              </a:rPr>
              <a:t>03</a:t>
            </a:r>
            <a:endParaRPr lang="en-US" sz="4400" b="0" u="none" strike="noStrike">
              <a:solidFill>
                <a:srgbClr val="FFFFFF"/>
              </a:solidFill>
              <a:effectLst/>
              <a:uFillTx/>
              <a:latin typeface="Arial"/>
            </a:endParaRPr>
          </a:p>
        </p:txBody>
      </p:sp>
      <p:sp>
        <p:nvSpPr>
          <p:cNvPr id="237" name="Text 1"/>
          <p:cNvSpPr/>
          <p:nvPr/>
        </p:nvSpPr>
        <p:spPr>
          <a:xfrm>
            <a:off x="640080" y="1874520"/>
            <a:ext cx="105152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u="none" strike="noStrike">
                <a:solidFill>
                  <a:srgbClr val="FFFFFF"/>
                </a:solidFill>
                <a:effectLst/>
                <a:uFillTx/>
                <a:latin typeface="Aptos"/>
              </a:rPr>
              <a:t>System architecture</a:t>
            </a:r>
            <a:endParaRPr lang="en-US" sz="3400" b="0" u="none" strike="noStrike">
              <a:solidFill>
                <a:srgbClr val="FFFFFF"/>
              </a:solidFill>
              <a:effectLst/>
              <a:uFillTx/>
              <a:latin typeface="Arial"/>
            </a:endParaRPr>
          </a:p>
        </p:txBody>
      </p:sp>
      <p:sp>
        <p:nvSpPr>
          <p:cNvPr id="238" name="Text 2"/>
          <p:cNvSpPr/>
          <p:nvPr/>
        </p:nvSpPr>
        <p:spPr>
          <a:xfrm>
            <a:off x="658440" y="2743200"/>
            <a:ext cx="98751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u="none" strike="noStrike">
                <a:solidFill>
                  <a:srgbClr val="DCE7EF"/>
                </a:solidFill>
                <a:effectLst/>
                <a:uFillTx/>
                <a:latin typeface="Aptos"/>
              </a:rPr>
              <a:t>Separate data governance, harmonization, representation, fusion, prediction and trustworthiness. This makes leakage prevention and reproducibility first-class components.</a:t>
            </a:r>
            <a:endParaRPr lang="en-US" sz="2000" b="0" u="none" strike="noStrike">
              <a:solidFill>
                <a:srgbClr val="FFFFFF"/>
              </a:solidFill>
              <a:effectLst/>
              <a:uFillTx/>
              <a:latin typeface="Arial"/>
            </a:endParaRPr>
          </a:p>
        </p:txBody>
      </p:sp>
      <p:sp>
        <p:nvSpPr>
          <p:cNvPr id="239" name="PlaceHolder 1"/>
          <p:cNvSpPr>
            <a:spLocks noGrp="1"/>
          </p:cNvSpPr>
          <p:nvPr>
            <p:ph type="sldNum" idx="14"/>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19</a:t>
            </a:r>
            <a:endParaRPr lang="en-US" sz="800" b="0" u="none" strike="noStrike">
              <a:solidFill>
                <a:srgbClr val="FFFFFF"/>
              </a:solidFill>
              <a:effectLst/>
              <a:uFillTx/>
              <a:latin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Text 0"/>
          <p:cNvSpPr/>
          <p:nvPr/>
        </p:nvSpPr>
        <p:spPr>
          <a:xfrm>
            <a:off x="567000" y="384120"/>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11">
                <a:solidFill>
                  <a:srgbClr val="0F8B8D"/>
                </a:solidFill>
                <a:effectLst/>
                <a:uFillTx/>
                <a:latin typeface="Aptos"/>
              </a:rPr>
              <a:t>LOGICAL ARCHITECTURE</a:t>
            </a:r>
            <a:endParaRPr lang="en-US" sz="1000" b="0" u="none" strike="noStrike">
              <a:solidFill>
                <a:srgbClr val="000000"/>
              </a:solidFill>
              <a:effectLst/>
              <a:uFillTx/>
              <a:latin typeface="Arial"/>
            </a:endParaRPr>
          </a:p>
        </p:txBody>
      </p:sp>
      <p:sp>
        <p:nvSpPr>
          <p:cNvPr id="241"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NeuroFusion-AI end-to-end architecture</a:t>
            </a:r>
            <a:endParaRPr lang="en-US" sz="2800" b="0" u="none" strike="noStrike">
              <a:solidFill>
                <a:srgbClr val="000000"/>
              </a:solidFill>
              <a:effectLst/>
              <a:uFillTx/>
              <a:latin typeface="Arial"/>
            </a:endParaRPr>
          </a:p>
        </p:txBody>
      </p:sp>
      <p:sp>
        <p:nvSpPr>
          <p:cNvPr id="242" name="Shape 2"/>
          <p:cNvSpPr/>
          <p:nvPr/>
        </p:nvSpPr>
        <p:spPr>
          <a:xfrm>
            <a:off x="548640" y="1234440"/>
            <a:ext cx="1508400" cy="383760"/>
          </a:xfrm>
          <a:prstGeom prst="roundRect">
            <a:avLst>
              <a:gd name="adj" fmla="val 16667"/>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3" name="Text 3"/>
          <p:cNvSpPr/>
          <p:nvPr/>
        </p:nvSpPr>
        <p:spPr>
          <a:xfrm>
            <a:off x="548640" y="1307520"/>
            <a:ext cx="1508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CLINICAL</a:t>
            </a:r>
            <a:endParaRPr lang="en-US" sz="1100" b="0" u="none" strike="noStrike">
              <a:solidFill>
                <a:srgbClr val="000000"/>
              </a:solidFill>
              <a:effectLst/>
              <a:uFillTx/>
              <a:latin typeface="Arial"/>
            </a:endParaRPr>
          </a:p>
        </p:txBody>
      </p:sp>
      <p:sp>
        <p:nvSpPr>
          <p:cNvPr id="244" name="Shape 4"/>
          <p:cNvSpPr/>
          <p:nvPr/>
        </p:nvSpPr>
        <p:spPr>
          <a:xfrm>
            <a:off x="2423160" y="1234440"/>
            <a:ext cx="1508400" cy="383760"/>
          </a:xfrm>
          <a:prstGeom prst="roundRect">
            <a:avLst>
              <a:gd name="adj" fmla="val 16667"/>
            </a:avLst>
          </a:prstGeom>
          <a:solidFill>
            <a:srgbClr val="19A7A0"/>
          </a:solidFill>
          <a:ln w="12700">
            <a:solidFill>
              <a:srgbClr val="19A7A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5" name="Text 5"/>
          <p:cNvSpPr/>
          <p:nvPr/>
        </p:nvSpPr>
        <p:spPr>
          <a:xfrm>
            <a:off x="2423160" y="1307520"/>
            <a:ext cx="1508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COGNITIVE</a:t>
            </a:r>
            <a:endParaRPr lang="en-US" sz="1100" b="0" u="none" strike="noStrike">
              <a:solidFill>
                <a:srgbClr val="000000"/>
              </a:solidFill>
              <a:effectLst/>
              <a:uFillTx/>
              <a:latin typeface="Arial"/>
            </a:endParaRPr>
          </a:p>
        </p:txBody>
      </p:sp>
      <p:sp>
        <p:nvSpPr>
          <p:cNvPr id="246" name="Shape 6"/>
          <p:cNvSpPr/>
          <p:nvPr/>
        </p:nvSpPr>
        <p:spPr>
          <a:xfrm>
            <a:off x="4297680" y="1234440"/>
            <a:ext cx="1508400" cy="383760"/>
          </a:xfrm>
          <a:prstGeom prst="roundRect">
            <a:avLst>
              <a:gd name="adj" fmla="val 16667"/>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7" name="Text 7"/>
          <p:cNvSpPr/>
          <p:nvPr/>
        </p:nvSpPr>
        <p:spPr>
          <a:xfrm>
            <a:off x="4297680" y="1307520"/>
            <a:ext cx="1508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MRI</a:t>
            </a:r>
            <a:endParaRPr lang="en-US" sz="1100" b="0" u="none" strike="noStrike">
              <a:solidFill>
                <a:srgbClr val="000000"/>
              </a:solidFill>
              <a:effectLst/>
              <a:uFillTx/>
              <a:latin typeface="Arial"/>
            </a:endParaRPr>
          </a:p>
        </p:txBody>
      </p:sp>
      <p:sp>
        <p:nvSpPr>
          <p:cNvPr id="248" name="Shape 8"/>
          <p:cNvSpPr/>
          <p:nvPr/>
        </p:nvSpPr>
        <p:spPr>
          <a:xfrm>
            <a:off x="6172200" y="1234440"/>
            <a:ext cx="1508400" cy="383760"/>
          </a:xfrm>
          <a:prstGeom prst="roundRect">
            <a:avLst>
              <a:gd name="adj" fmla="val 16667"/>
            </a:avLst>
          </a:prstGeom>
          <a:solidFill>
            <a:srgbClr val="D99A22"/>
          </a:solidFill>
          <a:ln w="12700">
            <a:solidFill>
              <a:srgbClr val="D99A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9" name="Text 9"/>
          <p:cNvSpPr/>
          <p:nvPr/>
        </p:nvSpPr>
        <p:spPr>
          <a:xfrm>
            <a:off x="6172200" y="1307520"/>
            <a:ext cx="1508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PET</a:t>
            </a:r>
            <a:endParaRPr lang="en-US" sz="1100" b="0" u="none" strike="noStrike">
              <a:solidFill>
                <a:srgbClr val="000000"/>
              </a:solidFill>
              <a:effectLst/>
              <a:uFillTx/>
              <a:latin typeface="Arial"/>
            </a:endParaRPr>
          </a:p>
        </p:txBody>
      </p:sp>
      <p:sp>
        <p:nvSpPr>
          <p:cNvPr id="250" name="Shape 10"/>
          <p:cNvSpPr/>
          <p:nvPr/>
        </p:nvSpPr>
        <p:spPr>
          <a:xfrm>
            <a:off x="8046720" y="1234440"/>
            <a:ext cx="1508400" cy="383760"/>
          </a:xfrm>
          <a:prstGeom prst="roundRect">
            <a:avLst>
              <a:gd name="adj" fmla="val 16667"/>
            </a:avLst>
          </a:prstGeom>
          <a:solidFill>
            <a:srgbClr val="2E8B68"/>
          </a:solidFill>
          <a:ln w="12700">
            <a:solidFill>
              <a:srgbClr val="2E8B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1" name="Text 11"/>
          <p:cNvSpPr/>
          <p:nvPr/>
        </p:nvSpPr>
        <p:spPr>
          <a:xfrm>
            <a:off x="8046720" y="1307520"/>
            <a:ext cx="1508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BIOFLUID</a:t>
            </a:r>
            <a:endParaRPr lang="en-US" sz="1100" b="0" u="none" strike="noStrike">
              <a:solidFill>
                <a:srgbClr val="000000"/>
              </a:solidFill>
              <a:effectLst/>
              <a:uFillTx/>
              <a:latin typeface="Arial"/>
            </a:endParaRPr>
          </a:p>
        </p:txBody>
      </p:sp>
      <p:sp>
        <p:nvSpPr>
          <p:cNvPr id="252" name="Shape 12"/>
          <p:cNvSpPr/>
          <p:nvPr/>
        </p:nvSpPr>
        <p:spPr>
          <a:xfrm>
            <a:off x="9921240" y="1234440"/>
            <a:ext cx="1508400" cy="383760"/>
          </a:xfrm>
          <a:prstGeom prst="roundRect">
            <a:avLst>
              <a:gd name="adj" fmla="val 16667"/>
            </a:avLst>
          </a:prstGeom>
          <a:solidFill>
            <a:srgbClr val="C65353"/>
          </a:solidFill>
          <a:ln w="12700">
            <a:solidFill>
              <a:srgbClr val="C653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3" name="Text 13"/>
          <p:cNvSpPr/>
          <p:nvPr/>
        </p:nvSpPr>
        <p:spPr>
          <a:xfrm>
            <a:off x="9921240" y="1307520"/>
            <a:ext cx="1508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GENETIC</a:t>
            </a:r>
            <a:endParaRPr lang="en-US" sz="1100" b="0" u="none" strike="noStrike">
              <a:solidFill>
                <a:srgbClr val="000000"/>
              </a:solidFill>
              <a:effectLst/>
              <a:uFillTx/>
              <a:latin typeface="Arial"/>
            </a:endParaRPr>
          </a:p>
        </p:txBody>
      </p:sp>
      <p:sp>
        <p:nvSpPr>
          <p:cNvPr id="254" name="Shape 14"/>
          <p:cNvSpPr/>
          <p:nvPr/>
        </p:nvSpPr>
        <p:spPr>
          <a:xfrm>
            <a:off x="3154680" y="2148840"/>
            <a:ext cx="5851800" cy="639720"/>
          </a:xfrm>
          <a:prstGeom prst="roundRect">
            <a:avLst>
              <a:gd name="adj" fmla="val 16667"/>
            </a:avLst>
          </a:prstGeom>
          <a:solidFill>
            <a:srgbClr val="0B3558"/>
          </a:solidFill>
          <a:ln w="12700">
            <a:solidFill>
              <a:srgbClr val="0B355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5" name="Text 15"/>
          <p:cNvSpPr/>
          <p:nvPr/>
        </p:nvSpPr>
        <p:spPr>
          <a:xfrm>
            <a:off x="3383280" y="2368440"/>
            <a:ext cx="5394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Aptos"/>
              </a:rPr>
              <a:t>HARMONIZATION  •  QC  •  TEMPORAL ALIGNMENT</a:t>
            </a:r>
            <a:endParaRPr lang="en-US" sz="1500" b="0" u="none" strike="noStrike">
              <a:solidFill>
                <a:srgbClr val="000000"/>
              </a:solidFill>
              <a:effectLst/>
              <a:uFillTx/>
              <a:latin typeface="Arial"/>
            </a:endParaRPr>
          </a:p>
        </p:txBody>
      </p:sp>
      <p:sp>
        <p:nvSpPr>
          <p:cNvPr id="256" name="Shape 16"/>
          <p:cNvSpPr/>
          <p:nvPr/>
        </p:nvSpPr>
        <p:spPr>
          <a:xfrm>
            <a:off x="1298160" y="1645920"/>
            <a:ext cx="4782600" cy="50292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57" name="Shape 17"/>
          <p:cNvSpPr/>
          <p:nvPr/>
        </p:nvSpPr>
        <p:spPr>
          <a:xfrm>
            <a:off x="3172680" y="1645920"/>
            <a:ext cx="2908080" cy="50292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58" name="Shape 18"/>
          <p:cNvSpPr/>
          <p:nvPr/>
        </p:nvSpPr>
        <p:spPr>
          <a:xfrm>
            <a:off x="5047200" y="1645920"/>
            <a:ext cx="1033560" cy="50292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59" name="Shape 19"/>
          <p:cNvSpPr/>
          <p:nvPr/>
        </p:nvSpPr>
        <p:spPr>
          <a:xfrm flipH="1">
            <a:off x="6080760" y="1645920"/>
            <a:ext cx="840960" cy="50292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60" name="Shape 20"/>
          <p:cNvSpPr/>
          <p:nvPr/>
        </p:nvSpPr>
        <p:spPr>
          <a:xfrm flipH="1">
            <a:off x="6080760" y="1645920"/>
            <a:ext cx="2715480" cy="50292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61" name="Shape 21"/>
          <p:cNvSpPr/>
          <p:nvPr/>
        </p:nvSpPr>
        <p:spPr>
          <a:xfrm flipH="1">
            <a:off x="6080760" y="1645920"/>
            <a:ext cx="4590000" cy="50292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62" name="Shape 22"/>
          <p:cNvSpPr/>
          <p:nvPr/>
        </p:nvSpPr>
        <p:spPr>
          <a:xfrm>
            <a:off x="1051560" y="3246120"/>
            <a:ext cx="2742840" cy="731160"/>
          </a:xfrm>
          <a:prstGeom prst="roundRect">
            <a:avLst>
              <a:gd name="adj" fmla="val 16667"/>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3" name="Text 23"/>
          <p:cNvSpPr/>
          <p:nvPr/>
        </p:nvSpPr>
        <p:spPr>
          <a:xfrm>
            <a:off x="1234440" y="3447360"/>
            <a:ext cx="23770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Aptos"/>
              </a:rPr>
              <a:t>TABULAR / STATIC</a:t>
            </a:r>
            <a:endParaRPr lang="en-US" sz="13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FFFFFF"/>
                </a:solidFill>
                <a:effectLst/>
                <a:uFillTx/>
                <a:latin typeface="Aptos"/>
              </a:rPr>
              <a:t>ENCODER</a:t>
            </a:r>
            <a:endParaRPr lang="en-US" sz="1300" b="0" u="none" strike="noStrike">
              <a:solidFill>
                <a:srgbClr val="000000"/>
              </a:solidFill>
              <a:effectLst/>
              <a:uFillTx/>
              <a:latin typeface="Arial"/>
            </a:endParaRPr>
          </a:p>
        </p:txBody>
      </p:sp>
      <p:sp>
        <p:nvSpPr>
          <p:cNvPr id="264" name="Shape 24"/>
          <p:cNvSpPr/>
          <p:nvPr/>
        </p:nvSpPr>
        <p:spPr>
          <a:xfrm flipH="1">
            <a:off x="2423160" y="2788920"/>
            <a:ext cx="3657600" cy="45720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65" name="Shape 25"/>
          <p:cNvSpPr/>
          <p:nvPr/>
        </p:nvSpPr>
        <p:spPr>
          <a:xfrm>
            <a:off x="4572000" y="3246120"/>
            <a:ext cx="2742840" cy="731160"/>
          </a:xfrm>
          <a:prstGeom prst="roundRect">
            <a:avLst>
              <a:gd name="adj" fmla="val 16667"/>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6" name="Text 26"/>
          <p:cNvSpPr/>
          <p:nvPr/>
        </p:nvSpPr>
        <p:spPr>
          <a:xfrm>
            <a:off x="4754880" y="3447360"/>
            <a:ext cx="23770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Aptos"/>
              </a:rPr>
              <a:t>IMAGING</a:t>
            </a:r>
            <a:endParaRPr lang="en-US" sz="13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FFFFFF"/>
                </a:solidFill>
                <a:effectLst/>
                <a:uFillTx/>
                <a:latin typeface="Aptos"/>
              </a:rPr>
              <a:t>ENCODER</a:t>
            </a:r>
            <a:endParaRPr lang="en-US" sz="1300" b="0" u="none" strike="noStrike">
              <a:solidFill>
                <a:srgbClr val="000000"/>
              </a:solidFill>
              <a:effectLst/>
              <a:uFillTx/>
              <a:latin typeface="Arial"/>
            </a:endParaRPr>
          </a:p>
        </p:txBody>
      </p:sp>
      <p:sp>
        <p:nvSpPr>
          <p:cNvPr id="267" name="Shape 27"/>
          <p:cNvSpPr/>
          <p:nvPr/>
        </p:nvSpPr>
        <p:spPr>
          <a:xfrm flipH="1">
            <a:off x="5943600" y="2788920"/>
            <a:ext cx="137160" cy="45720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68" name="Shape 28"/>
          <p:cNvSpPr/>
          <p:nvPr/>
        </p:nvSpPr>
        <p:spPr>
          <a:xfrm>
            <a:off x="8092440" y="3246120"/>
            <a:ext cx="2742840" cy="731160"/>
          </a:xfrm>
          <a:prstGeom prst="roundRect">
            <a:avLst>
              <a:gd name="adj" fmla="val 16667"/>
            </a:avLst>
          </a:prstGeom>
          <a:solidFill>
            <a:srgbClr val="19A7A0"/>
          </a:solidFill>
          <a:ln w="12700">
            <a:solidFill>
              <a:srgbClr val="19A7A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9" name="Text 29"/>
          <p:cNvSpPr/>
          <p:nvPr/>
        </p:nvSpPr>
        <p:spPr>
          <a:xfrm>
            <a:off x="8275320" y="3447360"/>
            <a:ext cx="23770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Aptos"/>
              </a:rPr>
              <a:t>TEMPORAL</a:t>
            </a:r>
            <a:endParaRPr lang="en-US" sz="13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FFFFFF"/>
                </a:solidFill>
                <a:effectLst/>
                <a:uFillTx/>
                <a:latin typeface="Aptos"/>
              </a:rPr>
              <a:t>ENCODER</a:t>
            </a:r>
            <a:endParaRPr lang="en-US" sz="1300" b="0" u="none" strike="noStrike">
              <a:solidFill>
                <a:srgbClr val="000000"/>
              </a:solidFill>
              <a:effectLst/>
              <a:uFillTx/>
              <a:latin typeface="Arial"/>
            </a:endParaRPr>
          </a:p>
        </p:txBody>
      </p:sp>
      <p:sp>
        <p:nvSpPr>
          <p:cNvPr id="270" name="Shape 30"/>
          <p:cNvSpPr/>
          <p:nvPr/>
        </p:nvSpPr>
        <p:spPr>
          <a:xfrm>
            <a:off x="6080760" y="2788920"/>
            <a:ext cx="3383280" cy="45720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71" name="Shape 31"/>
          <p:cNvSpPr/>
          <p:nvPr/>
        </p:nvSpPr>
        <p:spPr>
          <a:xfrm>
            <a:off x="4160520" y="4480560"/>
            <a:ext cx="3840120" cy="639720"/>
          </a:xfrm>
          <a:prstGeom prst="roundRect">
            <a:avLst>
              <a:gd name="adj" fmla="val 16667"/>
            </a:avLst>
          </a:prstGeom>
          <a:solidFill>
            <a:srgbClr val="082A46"/>
          </a:solidFill>
          <a:ln w="12700">
            <a:solidFill>
              <a:srgbClr val="082A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2" name="Text 32"/>
          <p:cNvSpPr/>
          <p:nvPr/>
        </p:nvSpPr>
        <p:spPr>
          <a:xfrm>
            <a:off x="4434840" y="4700160"/>
            <a:ext cx="3291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Aptos"/>
              </a:rPr>
              <a:t>MULTIMODAL FUSION</a:t>
            </a:r>
            <a:endParaRPr lang="en-US" sz="1500" b="0" u="none" strike="noStrike">
              <a:solidFill>
                <a:srgbClr val="000000"/>
              </a:solidFill>
              <a:effectLst/>
              <a:uFillTx/>
              <a:latin typeface="Arial"/>
            </a:endParaRPr>
          </a:p>
        </p:txBody>
      </p:sp>
      <p:sp>
        <p:nvSpPr>
          <p:cNvPr id="273" name="Shape 33"/>
          <p:cNvSpPr/>
          <p:nvPr/>
        </p:nvSpPr>
        <p:spPr>
          <a:xfrm>
            <a:off x="2423160" y="3977640"/>
            <a:ext cx="3657600" cy="50292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74" name="Shape 34"/>
          <p:cNvSpPr/>
          <p:nvPr/>
        </p:nvSpPr>
        <p:spPr>
          <a:xfrm>
            <a:off x="5943600" y="3977640"/>
            <a:ext cx="137160" cy="50292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75" name="Shape 35"/>
          <p:cNvSpPr/>
          <p:nvPr/>
        </p:nvSpPr>
        <p:spPr>
          <a:xfrm flipH="1">
            <a:off x="6080760" y="3977640"/>
            <a:ext cx="3383280" cy="50292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76" name="Shape 36"/>
          <p:cNvSpPr/>
          <p:nvPr/>
        </p:nvSpPr>
        <p:spPr>
          <a:xfrm>
            <a:off x="1188720" y="5532120"/>
            <a:ext cx="3062880" cy="502560"/>
          </a:xfrm>
          <a:prstGeom prst="roundRect">
            <a:avLst>
              <a:gd name="adj" fmla="val 16667"/>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7" name="Text 37"/>
          <p:cNvSpPr/>
          <p:nvPr/>
        </p:nvSpPr>
        <p:spPr>
          <a:xfrm>
            <a:off x="1298520" y="5696640"/>
            <a:ext cx="28342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1" u="none" strike="noStrike">
                <a:solidFill>
                  <a:srgbClr val="FFFFFF"/>
                </a:solidFill>
                <a:effectLst/>
                <a:uFillTx/>
                <a:latin typeface="Aptos"/>
              </a:rPr>
              <a:t>CN / MCI / AD</a:t>
            </a:r>
            <a:endParaRPr lang="en-US" sz="1150" b="0" u="none" strike="noStrike">
              <a:solidFill>
                <a:srgbClr val="000000"/>
              </a:solidFill>
              <a:effectLst/>
              <a:uFillTx/>
              <a:latin typeface="Arial"/>
            </a:endParaRPr>
          </a:p>
        </p:txBody>
      </p:sp>
      <p:sp>
        <p:nvSpPr>
          <p:cNvPr id="278" name="Shape 38"/>
          <p:cNvSpPr/>
          <p:nvPr/>
        </p:nvSpPr>
        <p:spPr>
          <a:xfrm flipH="1">
            <a:off x="2715480" y="5120640"/>
            <a:ext cx="3365280" cy="41148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79" name="Shape 39"/>
          <p:cNvSpPr/>
          <p:nvPr/>
        </p:nvSpPr>
        <p:spPr>
          <a:xfrm>
            <a:off x="4572000" y="5532120"/>
            <a:ext cx="3062880" cy="502560"/>
          </a:xfrm>
          <a:prstGeom prst="roundRect">
            <a:avLst>
              <a:gd name="adj" fmla="val 16667"/>
            </a:avLst>
          </a:prstGeom>
          <a:solidFill>
            <a:srgbClr val="19A7A0"/>
          </a:solidFill>
          <a:ln w="12700">
            <a:solidFill>
              <a:srgbClr val="19A7A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0" name="Text 40"/>
          <p:cNvSpPr/>
          <p:nvPr/>
        </p:nvSpPr>
        <p:spPr>
          <a:xfrm>
            <a:off x="4681800" y="5696640"/>
            <a:ext cx="28342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1" u="none" strike="noStrike">
                <a:solidFill>
                  <a:srgbClr val="FFFFFF"/>
                </a:solidFill>
                <a:effectLst/>
                <a:uFillTx/>
                <a:latin typeface="Aptos"/>
              </a:rPr>
              <a:t>MCI → AD PROGRESSION</a:t>
            </a:r>
            <a:endParaRPr lang="en-US" sz="1150" b="0" u="none" strike="noStrike">
              <a:solidFill>
                <a:srgbClr val="000000"/>
              </a:solidFill>
              <a:effectLst/>
              <a:uFillTx/>
              <a:latin typeface="Arial"/>
            </a:endParaRPr>
          </a:p>
        </p:txBody>
      </p:sp>
      <p:sp>
        <p:nvSpPr>
          <p:cNvPr id="281" name="Shape 41"/>
          <p:cNvSpPr/>
          <p:nvPr/>
        </p:nvSpPr>
        <p:spPr>
          <a:xfrm>
            <a:off x="6080760" y="5120640"/>
            <a:ext cx="18000" cy="41148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82" name="Shape 42"/>
          <p:cNvSpPr/>
          <p:nvPr/>
        </p:nvSpPr>
        <p:spPr>
          <a:xfrm>
            <a:off x="7955280" y="5532120"/>
            <a:ext cx="3062880" cy="502560"/>
          </a:xfrm>
          <a:prstGeom prst="roundRect">
            <a:avLst>
              <a:gd name="adj" fmla="val 16667"/>
            </a:avLst>
          </a:prstGeom>
          <a:solidFill>
            <a:srgbClr val="2E8B68"/>
          </a:solidFill>
          <a:ln w="12700">
            <a:solidFill>
              <a:srgbClr val="2E8B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3" name="Text 43"/>
          <p:cNvSpPr/>
          <p:nvPr/>
        </p:nvSpPr>
        <p:spPr>
          <a:xfrm>
            <a:off x="8065080" y="5696640"/>
            <a:ext cx="28342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1" u="none" strike="noStrike">
                <a:solidFill>
                  <a:srgbClr val="FFFFFF"/>
                </a:solidFill>
                <a:effectLst/>
                <a:uFillTx/>
                <a:latin typeface="Aptos"/>
              </a:rPr>
              <a:t>XAI • CALIBRATION • UNCERTAINTY</a:t>
            </a:r>
            <a:endParaRPr lang="en-US" sz="1150" b="0" u="none" strike="noStrike">
              <a:solidFill>
                <a:srgbClr val="000000"/>
              </a:solidFill>
              <a:effectLst/>
              <a:uFillTx/>
              <a:latin typeface="Arial"/>
            </a:endParaRPr>
          </a:p>
        </p:txBody>
      </p:sp>
      <p:sp>
        <p:nvSpPr>
          <p:cNvPr id="284" name="Shape 44"/>
          <p:cNvSpPr/>
          <p:nvPr/>
        </p:nvSpPr>
        <p:spPr>
          <a:xfrm>
            <a:off x="6080760" y="5120640"/>
            <a:ext cx="3401280" cy="411480"/>
          </a:xfrm>
          <a:prstGeom prst="line">
            <a:avLst/>
          </a:prstGeom>
          <a:ln w="25400">
            <a:solidFill>
              <a:srgbClr val="A5B7C4"/>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85" name="PlaceHolder 1"/>
          <p:cNvSpPr>
            <a:spLocks noGrp="1"/>
          </p:cNvSpPr>
          <p:nvPr>
            <p:ph type="sldNum" idx="15"/>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20</a:t>
            </a:r>
            <a:endParaRPr lang="en-US" sz="800" b="0" u="none" strike="noStrike">
              <a:solidFill>
                <a:srgbClr val="000000"/>
              </a:solidFill>
              <a:effectLst/>
              <a:uFillTx/>
              <a:latin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Text 0"/>
          <p:cNvSpPr/>
          <p:nvPr/>
        </p:nvSpPr>
        <p:spPr>
          <a:xfrm>
            <a:off x="567000" y="384120"/>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11">
                <a:solidFill>
                  <a:srgbClr val="0F8B8D"/>
                </a:solidFill>
                <a:effectLst/>
                <a:uFillTx/>
                <a:latin typeface="Aptos"/>
              </a:rPr>
              <a:t>IMPLEMENTATION ARCHITECTURE</a:t>
            </a:r>
            <a:endParaRPr lang="en-US" sz="1000" b="0" u="none" strike="noStrike">
              <a:solidFill>
                <a:srgbClr val="000000"/>
              </a:solidFill>
              <a:effectLst/>
              <a:uFillTx/>
              <a:latin typeface="Arial"/>
            </a:endParaRPr>
          </a:p>
        </p:txBody>
      </p:sp>
      <p:sp>
        <p:nvSpPr>
          <p:cNvPr id="287"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Python software modules</a:t>
            </a:r>
            <a:endParaRPr lang="en-US" sz="2800" b="0" u="none" strike="noStrike">
              <a:solidFill>
                <a:srgbClr val="000000"/>
              </a:solidFill>
              <a:effectLst/>
              <a:uFillTx/>
              <a:latin typeface="Arial"/>
            </a:endParaRPr>
          </a:p>
        </p:txBody>
      </p:sp>
      <p:sp>
        <p:nvSpPr>
          <p:cNvPr id="288" name="Shape 2"/>
          <p:cNvSpPr/>
          <p:nvPr/>
        </p:nvSpPr>
        <p:spPr>
          <a:xfrm>
            <a:off x="502920" y="1115640"/>
            <a:ext cx="5394600" cy="667800"/>
          </a:xfrm>
          <a:prstGeom prst="roundRect">
            <a:avLst>
              <a:gd name="adj" fmla="val 923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289" name="Shape 3"/>
          <p:cNvSpPr/>
          <p:nvPr/>
        </p:nvSpPr>
        <p:spPr>
          <a:xfrm>
            <a:off x="502920" y="1115640"/>
            <a:ext cx="72720" cy="59400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290" name="Text 4"/>
          <p:cNvSpPr/>
          <p:nvPr/>
        </p:nvSpPr>
        <p:spPr>
          <a:xfrm>
            <a:off x="685800" y="126180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0F8B8D"/>
                </a:solidFill>
                <a:effectLst/>
                <a:uFillTx/>
                <a:latin typeface="Aptos"/>
              </a:rPr>
              <a:t>Data Import &amp; Harmonization</a:t>
            </a:r>
            <a:endParaRPr lang="en-US" sz="1500" b="0" u="none" strike="noStrike" dirty="0">
              <a:solidFill>
                <a:srgbClr val="000000"/>
              </a:solidFill>
              <a:effectLst/>
              <a:uFillTx/>
              <a:latin typeface="Arial"/>
            </a:endParaRPr>
          </a:p>
        </p:txBody>
      </p:sp>
      <p:sp>
        <p:nvSpPr>
          <p:cNvPr id="291" name="Text 5"/>
          <p:cNvSpPr/>
          <p:nvPr/>
        </p:nvSpPr>
        <p:spPr>
          <a:xfrm>
            <a:off x="685800" y="1600560"/>
            <a:ext cx="5047200" cy="4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dirty="0">
                <a:solidFill>
                  <a:srgbClr val="203040"/>
                </a:solidFill>
                <a:effectLst/>
                <a:uFillTx/>
                <a:latin typeface="Aptos"/>
              </a:rPr>
              <a:t>Read local files; validate schema; harmonize variables; provenance</a:t>
            </a:r>
            <a:endParaRPr lang="en-US" sz="1250" b="0" u="none" strike="noStrike" dirty="0">
              <a:solidFill>
                <a:srgbClr val="000000"/>
              </a:solidFill>
              <a:effectLst/>
              <a:uFillTx/>
              <a:latin typeface="Arial"/>
            </a:endParaRPr>
          </a:p>
        </p:txBody>
      </p:sp>
      <p:sp>
        <p:nvSpPr>
          <p:cNvPr id="292" name="Shape 6"/>
          <p:cNvSpPr/>
          <p:nvPr/>
        </p:nvSpPr>
        <p:spPr>
          <a:xfrm>
            <a:off x="6217920" y="1115640"/>
            <a:ext cx="5394600" cy="594000"/>
          </a:xfrm>
          <a:prstGeom prst="roundRect">
            <a:avLst>
              <a:gd name="adj" fmla="val 923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293" name="Shape 7"/>
          <p:cNvSpPr/>
          <p:nvPr/>
        </p:nvSpPr>
        <p:spPr>
          <a:xfrm>
            <a:off x="6217920" y="1115640"/>
            <a:ext cx="72720" cy="59400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294" name="Text 8"/>
          <p:cNvSpPr/>
          <p:nvPr/>
        </p:nvSpPr>
        <p:spPr>
          <a:xfrm>
            <a:off x="6387120" y="120708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7357B4"/>
                </a:solidFill>
                <a:effectLst/>
                <a:uFillTx/>
                <a:latin typeface="Aptos"/>
              </a:rPr>
              <a:t>Cohort Builder</a:t>
            </a:r>
            <a:endParaRPr lang="en-US" sz="1500" b="0" u="none" strike="noStrike" dirty="0">
              <a:solidFill>
                <a:srgbClr val="000000"/>
              </a:solidFill>
              <a:effectLst/>
              <a:uFillTx/>
              <a:latin typeface="Arial"/>
            </a:endParaRPr>
          </a:p>
        </p:txBody>
      </p:sp>
      <p:sp>
        <p:nvSpPr>
          <p:cNvPr id="295" name="Text 9"/>
          <p:cNvSpPr/>
          <p:nvPr/>
        </p:nvSpPr>
        <p:spPr>
          <a:xfrm>
            <a:off x="6387120" y="1495260"/>
            <a:ext cx="5047200" cy="4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dirty="0">
                <a:solidFill>
                  <a:srgbClr val="203040"/>
                </a:solidFill>
                <a:effectLst/>
                <a:uFillTx/>
                <a:latin typeface="Aptos"/>
              </a:rPr>
              <a:t>Eligibility, labels, index dates, horizons</a:t>
            </a:r>
            <a:endParaRPr lang="en-US" sz="1250" b="0" u="none" strike="noStrike" dirty="0">
              <a:solidFill>
                <a:srgbClr val="000000"/>
              </a:solidFill>
              <a:effectLst/>
              <a:uFillTx/>
              <a:latin typeface="Arial"/>
            </a:endParaRPr>
          </a:p>
        </p:txBody>
      </p:sp>
      <p:sp>
        <p:nvSpPr>
          <p:cNvPr id="296" name="Shape 10"/>
          <p:cNvSpPr/>
          <p:nvPr/>
        </p:nvSpPr>
        <p:spPr>
          <a:xfrm>
            <a:off x="502920" y="1828800"/>
            <a:ext cx="5394600" cy="685800"/>
          </a:xfrm>
          <a:prstGeom prst="roundRect">
            <a:avLst>
              <a:gd name="adj" fmla="val 923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297" name="Shape 11"/>
          <p:cNvSpPr/>
          <p:nvPr/>
        </p:nvSpPr>
        <p:spPr>
          <a:xfrm>
            <a:off x="502920" y="1828800"/>
            <a:ext cx="72720" cy="59400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298" name="Text 12"/>
          <p:cNvSpPr/>
          <p:nvPr/>
        </p:nvSpPr>
        <p:spPr>
          <a:xfrm>
            <a:off x="685800" y="197496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0F8B8D"/>
                </a:solidFill>
                <a:effectLst/>
                <a:uFillTx/>
                <a:latin typeface="Aptos"/>
              </a:rPr>
              <a:t>Patient Timeline Engine</a:t>
            </a:r>
            <a:endParaRPr lang="en-US" sz="1500" b="0" u="none" strike="noStrike" dirty="0">
              <a:solidFill>
                <a:srgbClr val="000000"/>
              </a:solidFill>
              <a:effectLst/>
              <a:uFillTx/>
              <a:latin typeface="Arial"/>
            </a:endParaRPr>
          </a:p>
        </p:txBody>
      </p:sp>
      <p:sp>
        <p:nvSpPr>
          <p:cNvPr id="299" name="Text 13"/>
          <p:cNvSpPr/>
          <p:nvPr/>
        </p:nvSpPr>
        <p:spPr>
          <a:xfrm>
            <a:off x="685800" y="2313720"/>
            <a:ext cx="5047200" cy="4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Visit and timestamp alignment</a:t>
            </a:r>
            <a:endParaRPr lang="en-US" sz="1250" b="0" u="none" strike="noStrike">
              <a:solidFill>
                <a:srgbClr val="000000"/>
              </a:solidFill>
              <a:effectLst/>
              <a:uFillTx/>
              <a:latin typeface="Arial"/>
            </a:endParaRPr>
          </a:p>
        </p:txBody>
      </p:sp>
      <p:sp>
        <p:nvSpPr>
          <p:cNvPr id="300" name="Shape 14"/>
          <p:cNvSpPr/>
          <p:nvPr/>
        </p:nvSpPr>
        <p:spPr>
          <a:xfrm>
            <a:off x="6217920" y="1828800"/>
            <a:ext cx="5394600" cy="594000"/>
          </a:xfrm>
          <a:prstGeom prst="roundRect">
            <a:avLst>
              <a:gd name="adj" fmla="val 923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01" name="Shape 15"/>
          <p:cNvSpPr/>
          <p:nvPr/>
        </p:nvSpPr>
        <p:spPr>
          <a:xfrm>
            <a:off x="6217920" y="1828800"/>
            <a:ext cx="72720" cy="59400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02" name="Text 16"/>
          <p:cNvSpPr/>
          <p:nvPr/>
        </p:nvSpPr>
        <p:spPr>
          <a:xfrm>
            <a:off x="6400800" y="188856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7357B4"/>
                </a:solidFill>
                <a:effectLst/>
                <a:uFillTx/>
                <a:latin typeface="Aptos"/>
              </a:rPr>
              <a:t>Clinical/Cognitive Engines</a:t>
            </a:r>
            <a:endParaRPr lang="en-US" sz="1500" b="0" u="none" strike="noStrike" dirty="0">
              <a:solidFill>
                <a:srgbClr val="000000"/>
              </a:solidFill>
              <a:effectLst/>
              <a:uFillTx/>
              <a:latin typeface="Arial"/>
            </a:endParaRPr>
          </a:p>
        </p:txBody>
      </p:sp>
      <p:sp>
        <p:nvSpPr>
          <p:cNvPr id="303" name="Text 17"/>
          <p:cNvSpPr/>
          <p:nvPr/>
        </p:nvSpPr>
        <p:spPr>
          <a:xfrm>
            <a:off x="6400800" y="2190060"/>
            <a:ext cx="5047200" cy="4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dirty="0">
                <a:solidFill>
                  <a:srgbClr val="203040"/>
                </a:solidFill>
                <a:effectLst/>
                <a:uFillTx/>
                <a:latin typeface="Aptos"/>
              </a:rPr>
              <a:t>Feature construction and trajectories</a:t>
            </a:r>
            <a:endParaRPr lang="en-US" sz="1250" b="0" u="none" strike="noStrike" dirty="0">
              <a:solidFill>
                <a:srgbClr val="000000"/>
              </a:solidFill>
              <a:effectLst/>
              <a:uFillTx/>
              <a:latin typeface="Arial"/>
            </a:endParaRPr>
          </a:p>
        </p:txBody>
      </p:sp>
      <p:sp>
        <p:nvSpPr>
          <p:cNvPr id="304" name="Shape 18"/>
          <p:cNvSpPr/>
          <p:nvPr/>
        </p:nvSpPr>
        <p:spPr>
          <a:xfrm>
            <a:off x="502920" y="2541960"/>
            <a:ext cx="5394600" cy="594000"/>
          </a:xfrm>
          <a:prstGeom prst="roundRect">
            <a:avLst>
              <a:gd name="adj" fmla="val 923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05" name="Shape 19"/>
          <p:cNvSpPr/>
          <p:nvPr/>
        </p:nvSpPr>
        <p:spPr>
          <a:xfrm>
            <a:off x="502920" y="2541960"/>
            <a:ext cx="72720" cy="59400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06" name="Text 20"/>
          <p:cNvSpPr/>
          <p:nvPr/>
        </p:nvSpPr>
        <p:spPr>
          <a:xfrm>
            <a:off x="685800" y="264762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0F8B8D"/>
                </a:solidFill>
                <a:effectLst/>
                <a:uFillTx/>
                <a:latin typeface="Aptos"/>
              </a:rPr>
              <a:t>MRI/PET Engines</a:t>
            </a:r>
            <a:endParaRPr lang="en-US" sz="1500" b="0" u="none" strike="noStrike" dirty="0">
              <a:solidFill>
                <a:srgbClr val="000000"/>
              </a:solidFill>
              <a:effectLst/>
              <a:uFillTx/>
              <a:latin typeface="Arial"/>
            </a:endParaRPr>
          </a:p>
        </p:txBody>
      </p:sp>
      <p:sp>
        <p:nvSpPr>
          <p:cNvPr id="307" name="Text 21"/>
          <p:cNvSpPr/>
          <p:nvPr/>
        </p:nvSpPr>
        <p:spPr>
          <a:xfrm>
            <a:off x="685800" y="2912760"/>
            <a:ext cx="5047200" cy="4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dirty="0">
                <a:solidFill>
                  <a:srgbClr val="203040"/>
                </a:solidFill>
                <a:effectLst/>
                <a:uFillTx/>
                <a:latin typeface="Aptos"/>
              </a:rPr>
              <a:t>Numeric summaries; optional 3D encoders</a:t>
            </a:r>
            <a:endParaRPr lang="en-US" sz="1250" b="0" u="none" strike="noStrike" dirty="0">
              <a:solidFill>
                <a:srgbClr val="000000"/>
              </a:solidFill>
              <a:effectLst/>
              <a:uFillTx/>
              <a:latin typeface="Arial"/>
            </a:endParaRPr>
          </a:p>
        </p:txBody>
      </p:sp>
      <p:sp>
        <p:nvSpPr>
          <p:cNvPr id="308" name="Shape 22"/>
          <p:cNvSpPr/>
          <p:nvPr/>
        </p:nvSpPr>
        <p:spPr>
          <a:xfrm>
            <a:off x="6217920" y="2541960"/>
            <a:ext cx="5394600" cy="594000"/>
          </a:xfrm>
          <a:prstGeom prst="roundRect">
            <a:avLst>
              <a:gd name="adj" fmla="val 923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09" name="Shape 23"/>
          <p:cNvSpPr/>
          <p:nvPr/>
        </p:nvSpPr>
        <p:spPr>
          <a:xfrm>
            <a:off x="6217920" y="2541960"/>
            <a:ext cx="72720" cy="59400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10" name="Text 24"/>
          <p:cNvSpPr/>
          <p:nvPr/>
        </p:nvSpPr>
        <p:spPr>
          <a:xfrm>
            <a:off x="6373440" y="255618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7357B4"/>
                </a:solidFill>
                <a:effectLst/>
                <a:uFillTx/>
                <a:latin typeface="Aptos"/>
              </a:rPr>
              <a:t>Biomarker/Genetic Engines</a:t>
            </a:r>
            <a:endParaRPr lang="en-US" sz="1500" b="0" u="none" strike="noStrike" dirty="0">
              <a:solidFill>
                <a:srgbClr val="000000"/>
              </a:solidFill>
              <a:effectLst/>
              <a:uFillTx/>
              <a:latin typeface="Arial"/>
            </a:endParaRPr>
          </a:p>
        </p:txBody>
      </p:sp>
      <p:sp>
        <p:nvSpPr>
          <p:cNvPr id="311" name="Text 25"/>
          <p:cNvSpPr/>
          <p:nvPr/>
        </p:nvSpPr>
        <p:spPr>
          <a:xfrm>
            <a:off x="6400800" y="2897520"/>
            <a:ext cx="5047200" cy="4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dirty="0">
                <a:solidFill>
                  <a:srgbClr val="203040"/>
                </a:solidFill>
                <a:effectLst/>
                <a:uFillTx/>
                <a:latin typeface="Aptos"/>
              </a:rPr>
              <a:t>Biological feature processing</a:t>
            </a:r>
            <a:endParaRPr lang="en-US" sz="1250" b="0" u="none" strike="noStrike" dirty="0">
              <a:solidFill>
                <a:srgbClr val="000000"/>
              </a:solidFill>
              <a:effectLst/>
              <a:uFillTx/>
              <a:latin typeface="Arial"/>
            </a:endParaRPr>
          </a:p>
        </p:txBody>
      </p:sp>
      <p:sp>
        <p:nvSpPr>
          <p:cNvPr id="312" name="Shape 26"/>
          <p:cNvSpPr/>
          <p:nvPr/>
        </p:nvSpPr>
        <p:spPr>
          <a:xfrm>
            <a:off x="502920" y="3255120"/>
            <a:ext cx="5394600" cy="594000"/>
          </a:xfrm>
          <a:prstGeom prst="roundRect">
            <a:avLst>
              <a:gd name="adj" fmla="val 923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13" name="Shape 27"/>
          <p:cNvSpPr/>
          <p:nvPr/>
        </p:nvSpPr>
        <p:spPr>
          <a:xfrm>
            <a:off x="502920" y="3255120"/>
            <a:ext cx="72720" cy="59400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14" name="Text 28"/>
          <p:cNvSpPr/>
          <p:nvPr/>
        </p:nvSpPr>
        <p:spPr>
          <a:xfrm>
            <a:off x="685800" y="335628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0F8B8D"/>
                </a:solidFill>
                <a:effectLst/>
                <a:uFillTx/>
                <a:latin typeface="Aptos"/>
              </a:rPr>
              <a:t>Missing Data Engine</a:t>
            </a:r>
            <a:endParaRPr lang="en-US" sz="1500" b="0" u="none" strike="noStrike" dirty="0">
              <a:solidFill>
                <a:srgbClr val="000000"/>
              </a:solidFill>
              <a:effectLst/>
              <a:uFillTx/>
              <a:latin typeface="Arial"/>
            </a:endParaRPr>
          </a:p>
        </p:txBody>
      </p:sp>
      <p:sp>
        <p:nvSpPr>
          <p:cNvPr id="315" name="Text 29"/>
          <p:cNvSpPr/>
          <p:nvPr/>
        </p:nvSpPr>
        <p:spPr>
          <a:xfrm>
            <a:off x="685800" y="3639420"/>
            <a:ext cx="5047200" cy="4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dirty="0">
                <a:solidFill>
                  <a:srgbClr val="203040"/>
                </a:solidFill>
                <a:effectLst/>
                <a:uFillTx/>
                <a:latin typeface="Aptos"/>
              </a:rPr>
              <a:t>Imputation, masks, completeness</a:t>
            </a:r>
            <a:endParaRPr lang="en-US" sz="1250" b="0" u="none" strike="noStrike" dirty="0">
              <a:solidFill>
                <a:srgbClr val="000000"/>
              </a:solidFill>
              <a:effectLst/>
              <a:uFillTx/>
              <a:latin typeface="Arial"/>
            </a:endParaRPr>
          </a:p>
        </p:txBody>
      </p:sp>
      <p:sp>
        <p:nvSpPr>
          <p:cNvPr id="316" name="Shape 30"/>
          <p:cNvSpPr/>
          <p:nvPr/>
        </p:nvSpPr>
        <p:spPr>
          <a:xfrm>
            <a:off x="6217920" y="3277980"/>
            <a:ext cx="5394600" cy="594000"/>
          </a:xfrm>
          <a:prstGeom prst="roundRect">
            <a:avLst>
              <a:gd name="adj" fmla="val 923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17" name="Shape 31"/>
          <p:cNvSpPr/>
          <p:nvPr/>
        </p:nvSpPr>
        <p:spPr>
          <a:xfrm>
            <a:off x="6217920" y="3255120"/>
            <a:ext cx="72720" cy="59400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18" name="Text 32"/>
          <p:cNvSpPr/>
          <p:nvPr/>
        </p:nvSpPr>
        <p:spPr>
          <a:xfrm>
            <a:off x="6400800" y="333846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7357B4"/>
                </a:solidFill>
                <a:effectLst/>
                <a:uFillTx/>
                <a:latin typeface="Aptos"/>
              </a:rPr>
              <a:t>Multimodal Fusion Engine</a:t>
            </a:r>
            <a:endParaRPr lang="en-US" sz="1500" b="0" u="none" strike="noStrike" dirty="0">
              <a:solidFill>
                <a:srgbClr val="000000"/>
              </a:solidFill>
              <a:effectLst/>
              <a:uFillTx/>
              <a:latin typeface="Arial"/>
            </a:endParaRPr>
          </a:p>
        </p:txBody>
      </p:sp>
      <p:sp>
        <p:nvSpPr>
          <p:cNvPr id="319" name="Text 33"/>
          <p:cNvSpPr/>
          <p:nvPr/>
        </p:nvSpPr>
        <p:spPr>
          <a:xfrm>
            <a:off x="6400800" y="3655620"/>
            <a:ext cx="5047200" cy="4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dirty="0">
                <a:solidFill>
                  <a:srgbClr val="203040"/>
                </a:solidFill>
                <a:effectLst/>
                <a:uFillTx/>
                <a:latin typeface="Aptos"/>
              </a:rPr>
              <a:t>Early, late, hybrid fusion</a:t>
            </a:r>
            <a:endParaRPr lang="en-US" sz="1250" b="0" u="none" strike="noStrike" dirty="0">
              <a:solidFill>
                <a:srgbClr val="000000"/>
              </a:solidFill>
              <a:effectLst/>
              <a:uFillTx/>
              <a:latin typeface="Arial"/>
            </a:endParaRPr>
          </a:p>
        </p:txBody>
      </p:sp>
      <p:sp>
        <p:nvSpPr>
          <p:cNvPr id="320" name="Shape 34"/>
          <p:cNvSpPr/>
          <p:nvPr/>
        </p:nvSpPr>
        <p:spPr>
          <a:xfrm>
            <a:off x="502920" y="3968640"/>
            <a:ext cx="5394600" cy="594000"/>
          </a:xfrm>
          <a:prstGeom prst="roundRect">
            <a:avLst>
              <a:gd name="adj" fmla="val 923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21" name="Shape 35"/>
          <p:cNvSpPr/>
          <p:nvPr/>
        </p:nvSpPr>
        <p:spPr>
          <a:xfrm>
            <a:off x="502920" y="3968640"/>
            <a:ext cx="72720" cy="59400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22" name="Text 36"/>
          <p:cNvSpPr/>
          <p:nvPr/>
        </p:nvSpPr>
        <p:spPr>
          <a:xfrm>
            <a:off x="685800" y="406008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0F8B8D"/>
                </a:solidFill>
                <a:effectLst/>
                <a:uFillTx/>
                <a:latin typeface="Aptos"/>
              </a:rPr>
              <a:t>Base Learner Engine</a:t>
            </a:r>
            <a:endParaRPr lang="en-US" sz="1500" b="0" u="none" strike="noStrike" dirty="0">
              <a:solidFill>
                <a:srgbClr val="000000"/>
              </a:solidFill>
              <a:effectLst/>
              <a:uFillTx/>
              <a:latin typeface="Arial"/>
            </a:endParaRPr>
          </a:p>
        </p:txBody>
      </p:sp>
      <p:sp>
        <p:nvSpPr>
          <p:cNvPr id="323" name="Text 37"/>
          <p:cNvSpPr/>
          <p:nvPr/>
        </p:nvSpPr>
        <p:spPr>
          <a:xfrm>
            <a:off x="676620" y="4348260"/>
            <a:ext cx="5047200" cy="4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dirty="0">
                <a:solidFill>
                  <a:srgbClr val="203040"/>
                </a:solidFill>
                <a:effectLst/>
                <a:uFillTx/>
                <a:latin typeface="Aptos"/>
              </a:rPr>
              <a:t>LR, SVM, RF, </a:t>
            </a:r>
            <a:r>
              <a:rPr lang="en-US" sz="1250" b="0" u="none" strike="noStrike" dirty="0" err="1">
                <a:solidFill>
                  <a:srgbClr val="203040"/>
                </a:solidFill>
                <a:effectLst/>
                <a:uFillTx/>
                <a:latin typeface="Aptos"/>
              </a:rPr>
              <a:t>XGBoost</a:t>
            </a:r>
            <a:r>
              <a:rPr lang="en-US" sz="1250" b="0" u="none" strike="noStrike" dirty="0">
                <a:solidFill>
                  <a:srgbClr val="203040"/>
                </a:solidFill>
                <a:effectLst/>
                <a:uFillTx/>
                <a:latin typeface="Aptos"/>
              </a:rPr>
              <a:t>, MLP</a:t>
            </a:r>
            <a:endParaRPr lang="en-US" sz="1250" b="0" u="none" strike="noStrike" dirty="0">
              <a:solidFill>
                <a:srgbClr val="000000"/>
              </a:solidFill>
              <a:effectLst/>
              <a:uFillTx/>
              <a:latin typeface="Arial"/>
            </a:endParaRPr>
          </a:p>
        </p:txBody>
      </p:sp>
      <p:sp>
        <p:nvSpPr>
          <p:cNvPr id="324" name="Shape 38"/>
          <p:cNvSpPr/>
          <p:nvPr/>
        </p:nvSpPr>
        <p:spPr>
          <a:xfrm>
            <a:off x="6217920" y="3968640"/>
            <a:ext cx="5394600" cy="594000"/>
          </a:xfrm>
          <a:prstGeom prst="roundRect">
            <a:avLst>
              <a:gd name="adj" fmla="val 923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25" name="Shape 39"/>
          <p:cNvSpPr/>
          <p:nvPr/>
        </p:nvSpPr>
        <p:spPr>
          <a:xfrm>
            <a:off x="6217920" y="3968640"/>
            <a:ext cx="72720" cy="59400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26" name="Text 40"/>
          <p:cNvSpPr/>
          <p:nvPr/>
        </p:nvSpPr>
        <p:spPr>
          <a:xfrm>
            <a:off x="6400800" y="400572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7357B4"/>
                </a:solidFill>
                <a:effectLst/>
                <a:uFillTx/>
                <a:latin typeface="Aptos"/>
              </a:rPr>
              <a:t>Ensemble &amp; Progression Engine</a:t>
            </a:r>
            <a:endParaRPr lang="en-US" sz="1500" b="0" u="none" strike="noStrike" dirty="0">
              <a:solidFill>
                <a:srgbClr val="000000"/>
              </a:solidFill>
              <a:effectLst/>
              <a:uFillTx/>
              <a:latin typeface="Arial"/>
            </a:endParaRPr>
          </a:p>
        </p:txBody>
      </p:sp>
      <p:sp>
        <p:nvSpPr>
          <p:cNvPr id="327" name="Text 41"/>
          <p:cNvSpPr/>
          <p:nvPr/>
        </p:nvSpPr>
        <p:spPr>
          <a:xfrm>
            <a:off x="6400800" y="4348260"/>
            <a:ext cx="5047200" cy="4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dirty="0">
                <a:solidFill>
                  <a:srgbClr val="203040"/>
                </a:solidFill>
                <a:effectLst/>
                <a:uFillTx/>
                <a:latin typeface="Aptos"/>
              </a:rPr>
              <a:t>Voting, weighted voting, stacking; MCI→AD prediction</a:t>
            </a:r>
            <a:endParaRPr lang="en-US" sz="1250" b="0" u="none" strike="noStrike" dirty="0">
              <a:solidFill>
                <a:srgbClr val="000000"/>
              </a:solidFill>
              <a:effectLst/>
              <a:uFillTx/>
              <a:latin typeface="Arial"/>
            </a:endParaRPr>
          </a:p>
        </p:txBody>
      </p:sp>
      <p:sp>
        <p:nvSpPr>
          <p:cNvPr id="328" name="Shape 42"/>
          <p:cNvSpPr/>
          <p:nvPr/>
        </p:nvSpPr>
        <p:spPr>
          <a:xfrm>
            <a:off x="502920" y="4681800"/>
            <a:ext cx="5394600" cy="594000"/>
          </a:xfrm>
          <a:prstGeom prst="roundRect">
            <a:avLst>
              <a:gd name="adj" fmla="val 923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29" name="Shape 43"/>
          <p:cNvSpPr/>
          <p:nvPr/>
        </p:nvSpPr>
        <p:spPr>
          <a:xfrm>
            <a:off x="502920" y="4681800"/>
            <a:ext cx="72720" cy="59400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30" name="Text 44"/>
          <p:cNvSpPr/>
          <p:nvPr/>
        </p:nvSpPr>
        <p:spPr>
          <a:xfrm>
            <a:off x="685800" y="475386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0F8B8D"/>
                </a:solidFill>
                <a:effectLst/>
                <a:uFillTx/>
                <a:latin typeface="Aptos"/>
              </a:rPr>
              <a:t>Calibration / Uncertainty</a:t>
            </a:r>
            <a:endParaRPr lang="en-US" sz="1500" b="0" u="none" strike="noStrike" dirty="0">
              <a:solidFill>
                <a:srgbClr val="000000"/>
              </a:solidFill>
              <a:effectLst/>
              <a:uFillTx/>
              <a:latin typeface="Arial"/>
            </a:endParaRPr>
          </a:p>
        </p:txBody>
      </p:sp>
      <p:sp>
        <p:nvSpPr>
          <p:cNvPr id="331" name="Text 45"/>
          <p:cNvSpPr/>
          <p:nvPr/>
        </p:nvSpPr>
        <p:spPr>
          <a:xfrm>
            <a:off x="699480" y="5064720"/>
            <a:ext cx="5047200" cy="4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dirty="0">
                <a:solidFill>
                  <a:srgbClr val="203040"/>
                </a:solidFill>
                <a:effectLst/>
                <a:uFillTx/>
                <a:latin typeface="Aptos"/>
              </a:rPr>
              <a:t>Probability reliability and uncertainty</a:t>
            </a:r>
            <a:endParaRPr lang="en-US" sz="1250" b="0" u="none" strike="noStrike" dirty="0">
              <a:solidFill>
                <a:srgbClr val="000000"/>
              </a:solidFill>
              <a:effectLst/>
              <a:uFillTx/>
              <a:latin typeface="Arial"/>
            </a:endParaRPr>
          </a:p>
        </p:txBody>
      </p:sp>
      <p:sp>
        <p:nvSpPr>
          <p:cNvPr id="332" name="Shape 46"/>
          <p:cNvSpPr/>
          <p:nvPr/>
        </p:nvSpPr>
        <p:spPr>
          <a:xfrm>
            <a:off x="6217920" y="4681800"/>
            <a:ext cx="5394600" cy="594000"/>
          </a:xfrm>
          <a:prstGeom prst="roundRect">
            <a:avLst>
              <a:gd name="adj" fmla="val 923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33" name="Shape 47"/>
          <p:cNvSpPr/>
          <p:nvPr/>
        </p:nvSpPr>
        <p:spPr>
          <a:xfrm>
            <a:off x="6217920" y="4681800"/>
            <a:ext cx="72720" cy="59400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34" name="Text 48"/>
          <p:cNvSpPr/>
          <p:nvPr/>
        </p:nvSpPr>
        <p:spPr>
          <a:xfrm>
            <a:off x="6400800" y="470484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7357B4"/>
                </a:solidFill>
                <a:effectLst/>
                <a:uFillTx/>
                <a:latin typeface="Aptos"/>
              </a:rPr>
              <a:t>Explainable AI Engine</a:t>
            </a:r>
            <a:endParaRPr lang="en-US" sz="1500" b="0" u="none" strike="noStrike" dirty="0">
              <a:solidFill>
                <a:srgbClr val="000000"/>
              </a:solidFill>
              <a:effectLst/>
              <a:uFillTx/>
              <a:latin typeface="Arial"/>
            </a:endParaRPr>
          </a:p>
        </p:txBody>
      </p:sp>
      <p:sp>
        <p:nvSpPr>
          <p:cNvPr id="335" name="Text 49"/>
          <p:cNvSpPr/>
          <p:nvPr/>
        </p:nvSpPr>
        <p:spPr>
          <a:xfrm>
            <a:off x="6400800" y="5030940"/>
            <a:ext cx="5047200" cy="4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dirty="0">
                <a:solidFill>
                  <a:srgbClr val="203040"/>
                </a:solidFill>
                <a:effectLst/>
                <a:uFillTx/>
                <a:latin typeface="Aptos"/>
              </a:rPr>
              <a:t>Global, local and modality explanations</a:t>
            </a:r>
            <a:endParaRPr lang="en-US" sz="1250" b="0" u="none" strike="noStrike" dirty="0">
              <a:solidFill>
                <a:srgbClr val="000000"/>
              </a:solidFill>
              <a:effectLst/>
              <a:uFillTx/>
              <a:latin typeface="Arial"/>
            </a:endParaRPr>
          </a:p>
        </p:txBody>
      </p:sp>
      <p:sp>
        <p:nvSpPr>
          <p:cNvPr id="336" name="Shape 50"/>
          <p:cNvSpPr/>
          <p:nvPr/>
        </p:nvSpPr>
        <p:spPr>
          <a:xfrm>
            <a:off x="502920" y="5394960"/>
            <a:ext cx="5394600" cy="594000"/>
          </a:xfrm>
          <a:prstGeom prst="roundRect">
            <a:avLst>
              <a:gd name="adj" fmla="val 923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37" name="Shape 51"/>
          <p:cNvSpPr/>
          <p:nvPr/>
        </p:nvSpPr>
        <p:spPr>
          <a:xfrm>
            <a:off x="502920" y="5394960"/>
            <a:ext cx="72720" cy="59400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38" name="Text 52"/>
          <p:cNvSpPr/>
          <p:nvPr/>
        </p:nvSpPr>
        <p:spPr>
          <a:xfrm>
            <a:off x="676620" y="545802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0F8B8D"/>
                </a:solidFill>
                <a:effectLst/>
                <a:uFillTx/>
                <a:latin typeface="Aptos"/>
              </a:rPr>
              <a:t>Experiment Manager</a:t>
            </a:r>
            <a:endParaRPr lang="en-US" sz="1500" b="0" u="none" strike="noStrike" dirty="0">
              <a:solidFill>
                <a:srgbClr val="000000"/>
              </a:solidFill>
              <a:effectLst/>
              <a:uFillTx/>
              <a:latin typeface="Arial"/>
            </a:endParaRPr>
          </a:p>
        </p:txBody>
      </p:sp>
      <p:sp>
        <p:nvSpPr>
          <p:cNvPr id="339" name="Text 53"/>
          <p:cNvSpPr/>
          <p:nvPr/>
        </p:nvSpPr>
        <p:spPr>
          <a:xfrm>
            <a:off x="676620" y="5731980"/>
            <a:ext cx="5047200" cy="4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dirty="0">
                <a:solidFill>
                  <a:srgbClr val="203040"/>
                </a:solidFill>
                <a:effectLst/>
                <a:uFillTx/>
                <a:latin typeface="Aptos"/>
              </a:rPr>
              <a:t>Splits, seeds, configs, metrics</a:t>
            </a:r>
            <a:endParaRPr lang="en-US" sz="1250" b="0" u="none" strike="noStrike" dirty="0">
              <a:solidFill>
                <a:srgbClr val="000000"/>
              </a:solidFill>
              <a:effectLst/>
              <a:uFillTx/>
              <a:latin typeface="Arial"/>
            </a:endParaRPr>
          </a:p>
        </p:txBody>
      </p:sp>
      <p:sp>
        <p:nvSpPr>
          <p:cNvPr id="340" name="Shape 54"/>
          <p:cNvSpPr/>
          <p:nvPr/>
        </p:nvSpPr>
        <p:spPr>
          <a:xfrm>
            <a:off x="6217920" y="5394960"/>
            <a:ext cx="5394600" cy="594000"/>
          </a:xfrm>
          <a:prstGeom prst="roundRect">
            <a:avLst>
              <a:gd name="adj" fmla="val 923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41" name="Shape 55"/>
          <p:cNvSpPr/>
          <p:nvPr/>
        </p:nvSpPr>
        <p:spPr>
          <a:xfrm>
            <a:off x="6217920" y="5394960"/>
            <a:ext cx="72720" cy="59400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42" name="Text 56"/>
          <p:cNvSpPr/>
          <p:nvPr/>
        </p:nvSpPr>
        <p:spPr>
          <a:xfrm>
            <a:off x="6400800" y="546840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dirty="0">
                <a:solidFill>
                  <a:srgbClr val="7357B4"/>
                </a:solidFill>
                <a:effectLst/>
                <a:uFillTx/>
                <a:latin typeface="Aptos"/>
              </a:rPr>
              <a:t>Dashboard</a:t>
            </a:r>
            <a:endParaRPr lang="en-US" sz="1500" b="0" u="none" strike="noStrike" dirty="0">
              <a:solidFill>
                <a:srgbClr val="000000"/>
              </a:solidFill>
              <a:effectLst/>
              <a:uFillTx/>
              <a:latin typeface="Arial"/>
            </a:endParaRPr>
          </a:p>
        </p:txBody>
      </p:sp>
      <p:sp>
        <p:nvSpPr>
          <p:cNvPr id="343" name="Text 57"/>
          <p:cNvSpPr/>
          <p:nvPr/>
        </p:nvSpPr>
        <p:spPr>
          <a:xfrm>
            <a:off x="6400800" y="5770440"/>
            <a:ext cx="5047200" cy="4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dirty="0">
                <a:solidFill>
                  <a:srgbClr val="203040"/>
                </a:solidFill>
                <a:effectLst/>
                <a:uFillTx/>
                <a:latin typeface="Aptos"/>
              </a:rPr>
              <a:t>Research visualization and inspection</a:t>
            </a:r>
            <a:endParaRPr lang="en-US" sz="1250" b="0" u="none" strike="noStrike" dirty="0">
              <a:solidFill>
                <a:srgbClr val="000000"/>
              </a:solidFill>
              <a:effectLst/>
              <a:uFillTx/>
              <a:latin typeface="Arial"/>
            </a:endParaRPr>
          </a:p>
        </p:txBody>
      </p:sp>
      <p:sp>
        <p:nvSpPr>
          <p:cNvPr id="344" name="PlaceHolder 1"/>
          <p:cNvSpPr>
            <a:spLocks noGrp="1"/>
          </p:cNvSpPr>
          <p:nvPr>
            <p:ph type="sldNum" idx="16"/>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21</a:t>
            </a:r>
            <a:endParaRPr lang="en-US" sz="800" b="0" u="none" strike="noStrike">
              <a:solidFill>
                <a:srgbClr val="000000"/>
              </a:solidFill>
              <a:effectLst/>
              <a:uFillTx/>
              <a:latin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PlaceHolder 1"/>
          <p:cNvSpPr>
            <a:spLocks noGrp="1"/>
          </p:cNvSpPr>
          <p:nvPr>
            <p:ph type="sldNum" idx="17"/>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22</a:t>
            </a:r>
            <a:endParaRPr lang="en-US" sz="800" b="0" u="none" strike="noStrike">
              <a:solidFill>
                <a:srgbClr val="000000"/>
              </a:solidFill>
              <a:effectLst/>
              <a:uFillTx/>
              <a:latin typeface="Times New Roman"/>
            </a:endParaRPr>
          </a:p>
        </p:txBody>
      </p:sp>
      <p:sp>
        <p:nvSpPr>
          <p:cNvPr id="384" name="TextBox 383"/>
          <p:cNvSpPr txBox="1"/>
          <p:nvPr/>
        </p:nvSpPr>
        <p:spPr>
          <a:xfrm>
            <a:off x="566928" y="347472"/>
            <a:ext cx="3657600" cy="274320"/>
          </a:xfrm>
          <a:prstGeom prst="rect">
            <a:avLst/>
          </a:prstGeom>
          <a:noFill/>
        </p:spPr>
        <p:txBody>
          <a:bodyPr wrap="square">
            <a:spAutoFit/>
          </a:bodyPr>
          <a:lstStyle/>
          <a:p>
            <a:pPr algn="l"/>
            <a:r>
              <a:rPr sz="1100" b="1">
                <a:solidFill>
                  <a:srgbClr val="0A9194"/>
                </a:solidFill>
                <a:latin typeface="Aptos"/>
              </a:rPr>
              <a:t>ENGINEERING CHOICES</a:t>
            </a:r>
          </a:p>
        </p:txBody>
      </p:sp>
      <p:sp>
        <p:nvSpPr>
          <p:cNvPr id="385" name="TextBox 384"/>
          <p:cNvSpPr txBox="1"/>
          <p:nvPr/>
        </p:nvSpPr>
        <p:spPr>
          <a:xfrm>
            <a:off x="566928" y="694944"/>
            <a:ext cx="10972800" cy="502920"/>
          </a:xfrm>
          <a:prstGeom prst="rect">
            <a:avLst/>
          </a:prstGeom>
          <a:noFill/>
        </p:spPr>
        <p:txBody>
          <a:bodyPr wrap="square">
            <a:spAutoFit/>
          </a:bodyPr>
          <a:lstStyle/>
          <a:p>
            <a:pPr algn="l"/>
            <a:r>
              <a:rPr sz="2700" b="1">
                <a:solidFill>
                  <a:srgbClr val="0C385C"/>
                </a:solidFill>
                <a:latin typeface="Aptos"/>
              </a:rPr>
              <a:t>Recommended technology stack — with legend</a:t>
            </a:r>
          </a:p>
        </p:txBody>
      </p:sp>
      <p:sp>
        <p:nvSpPr>
          <p:cNvPr id="386" name="TextBox 385"/>
          <p:cNvSpPr txBox="1"/>
          <p:nvPr/>
        </p:nvSpPr>
        <p:spPr>
          <a:xfrm>
            <a:off x="566928" y="1225296"/>
            <a:ext cx="10972800" cy="411480"/>
          </a:xfrm>
          <a:prstGeom prst="rect">
            <a:avLst/>
          </a:prstGeom>
          <a:noFill/>
        </p:spPr>
        <p:txBody>
          <a:bodyPr wrap="square">
            <a:spAutoFit/>
          </a:bodyPr>
          <a:lstStyle/>
          <a:p>
            <a:pPr algn="l"/>
            <a:r>
              <a:rPr sz="1320" b="0">
                <a:solidFill>
                  <a:srgbClr val="263648"/>
                </a:solidFill>
                <a:latin typeface="Aptos"/>
              </a:rPr>
              <a:t>The technologies below are recommended implementation tools. The legend explains what each one is and its role in NeuroFusion-AI.</a:t>
            </a:r>
          </a:p>
        </p:txBody>
      </p:sp>
      <p:sp>
        <p:nvSpPr>
          <p:cNvPr id="387" name="Rectangle 386"/>
          <p:cNvSpPr/>
          <p:nvPr/>
        </p:nvSpPr>
        <p:spPr>
          <a:xfrm>
            <a:off x="566928" y="1783080"/>
            <a:ext cx="1417320" cy="384048"/>
          </a:xfrm>
          <a:prstGeom prst="rect">
            <a:avLst/>
          </a:prstGeom>
          <a:solidFill>
            <a:srgbClr val="0C385C"/>
          </a:solidFill>
          <a:ln>
            <a:solidFill>
              <a:srgbClr val="0C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TextBox 387"/>
          <p:cNvSpPr txBox="1"/>
          <p:nvPr/>
        </p:nvSpPr>
        <p:spPr>
          <a:xfrm>
            <a:off x="640080" y="1865376"/>
            <a:ext cx="1271016" cy="201168"/>
          </a:xfrm>
          <a:prstGeom prst="rect">
            <a:avLst/>
          </a:prstGeom>
          <a:noFill/>
        </p:spPr>
        <p:txBody>
          <a:bodyPr wrap="square">
            <a:spAutoFit/>
          </a:bodyPr>
          <a:lstStyle/>
          <a:p>
            <a:pPr algn="ctr"/>
            <a:r>
              <a:rPr sz="1050" b="1">
                <a:solidFill>
                  <a:srgbClr val="FFFFFF"/>
                </a:solidFill>
                <a:latin typeface="Aptos"/>
              </a:rPr>
              <a:t>AREA</a:t>
            </a:r>
          </a:p>
        </p:txBody>
      </p:sp>
      <p:sp>
        <p:nvSpPr>
          <p:cNvPr id="389" name="Rectangle 388"/>
          <p:cNvSpPr/>
          <p:nvPr/>
        </p:nvSpPr>
        <p:spPr>
          <a:xfrm>
            <a:off x="1984248" y="1783080"/>
            <a:ext cx="2423160" cy="384048"/>
          </a:xfrm>
          <a:prstGeom prst="rect">
            <a:avLst/>
          </a:prstGeom>
          <a:solidFill>
            <a:srgbClr val="0C385C"/>
          </a:solidFill>
          <a:ln>
            <a:solidFill>
              <a:srgbClr val="0C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TextBox 389"/>
          <p:cNvSpPr txBox="1"/>
          <p:nvPr/>
        </p:nvSpPr>
        <p:spPr>
          <a:xfrm>
            <a:off x="2057400" y="1865376"/>
            <a:ext cx="2276856" cy="201168"/>
          </a:xfrm>
          <a:prstGeom prst="rect">
            <a:avLst/>
          </a:prstGeom>
          <a:noFill/>
        </p:spPr>
        <p:txBody>
          <a:bodyPr wrap="square">
            <a:spAutoFit/>
          </a:bodyPr>
          <a:lstStyle/>
          <a:p>
            <a:pPr algn="ctr"/>
            <a:r>
              <a:rPr sz="1050" b="1">
                <a:solidFill>
                  <a:srgbClr val="FFFFFF"/>
                </a:solidFill>
                <a:latin typeface="Aptos"/>
              </a:rPr>
              <a:t>TECHNOLOGY</a:t>
            </a:r>
          </a:p>
        </p:txBody>
      </p:sp>
      <p:sp>
        <p:nvSpPr>
          <p:cNvPr id="391" name="Rectangle 390"/>
          <p:cNvSpPr/>
          <p:nvPr/>
        </p:nvSpPr>
        <p:spPr>
          <a:xfrm>
            <a:off x="4407408" y="1783080"/>
            <a:ext cx="2788920" cy="384048"/>
          </a:xfrm>
          <a:prstGeom prst="rect">
            <a:avLst/>
          </a:prstGeom>
          <a:solidFill>
            <a:srgbClr val="0C385C"/>
          </a:solidFill>
          <a:ln>
            <a:solidFill>
              <a:srgbClr val="0C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TextBox 391"/>
          <p:cNvSpPr txBox="1"/>
          <p:nvPr/>
        </p:nvSpPr>
        <p:spPr>
          <a:xfrm>
            <a:off x="4480560" y="1865376"/>
            <a:ext cx="2642615" cy="201168"/>
          </a:xfrm>
          <a:prstGeom prst="rect">
            <a:avLst/>
          </a:prstGeom>
          <a:noFill/>
        </p:spPr>
        <p:txBody>
          <a:bodyPr wrap="square">
            <a:spAutoFit/>
          </a:bodyPr>
          <a:lstStyle/>
          <a:p>
            <a:pPr algn="ctr"/>
            <a:r>
              <a:rPr sz="1050" b="1">
                <a:solidFill>
                  <a:srgbClr val="FFFFFF"/>
                </a:solidFill>
                <a:latin typeface="Aptos"/>
              </a:rPr>
              <a:t>WHAT IT IS</a:t>
            </a:r>
          </a:p>
        </p:txBody>
      </p:sp>
      <p:sp>
        <p:nvSpPr>
          <p:cNvPr id="393" name="Rectangle 392"/>
          <p:cNvSpPr/>
          <p:nvPr/>
        </p:nvSpPr>
        <p:spPr>
          <a:xfrm>
            <a:off x="7196328" y="1783080"/>
            <a:ext cx="4617720" cy="384048"/>
          </a:xfrm>
          <a:prstGeom prst="rect">
            <a:avLst/>
          </a:prstGeom>
          <a:solidFill>
            <a:srgbClr val="0C385C"/>
          </a:solidFill>
          <a:ln>
            <a:solidFill>
              <a:srgbClr val="0C3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TextBox 393"/>
          <p:cNvSpPr txBox="1"/>
          <p:nvPr/>
        </p:nvSpPr>
        <p:spPr>
          <a:xfrm>
            <a:off x="7269480" y="1865376"/>
            <a:ext cx="4471416" cy="201168"/>
          </a:xfrm>
          <a:prstGeom prst="rect">
            <a:avLst/>
          </a:prstGeom>
          <a:noFill/>
        </p:spPr>
        <p:txBody>
          <a:bodyPr wrap="square">
            <a:spAutoFit/>
          </a:bodyPr>
          <a:lstStyle/>
          <a:p>
            <a:pPr algn="ctr"/>
            <a:r>
              <a:rPr sz="1050" b="1">
                <a:solidFill>
                  <a:srgbClr val="FFFFFF"/>
                </a:solidFill>
                <a:latin typeface="Aptos"/>
              </a:rPr>
              <a:t>ROLE IN THIS PROJECT</a:t>
            </a:r>
          </a:p>
        </p:txBody>
      </p:sp>
      <p:sp>
        <p:nvSpPr>
          <p:cNvPr id="395" name="Rectangle 394"/>
          <p:cNvSpPr/>
          <p:nvPr/>
        </p:nvSpPr>
        <p:spPr>
          <a:xfrm>
            <a:off x="566928" y="2167128"/>
            <a:ext cx="14173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Rectangle 395"/>
          <p:cNvSpPr/>
          <p:nvPr/>
        </p:nvSpPr>
        <p:spPr>
          <a:xfrm>
            <a:off x="1984248" y="2167128"/>
            <a:ext cx="242316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Rectangle 396"/>
          <p:cNvSpPr/>
          <p:nvPr/>
        </p:nvSpPr>
        <p:spPr>
          <a:xfrm>
            <a:off x="4407408" y="2167128"/>
            <a:ext cx="27889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Rectangle 397"/>
          <p:cNvSpPr/>
          <p:nvPr/>
        </p:nvSpPr>
        <p:spPr>
          <a:xfrm>
            <a:off x="7196328" y="2167128"/>
            <a:ext cx="46177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TextBox 398"/>
          <p:cNvSpPr txBox="1"/>
          <p:nvPr/>
        </p:nvSpPr>
        <p:spPr>
          <a:xfrm>
            <a:off x="621792" y="2231136"/>
            <a:ext cx="1307592" cy="274320"/>
          </a:xfrm>
          <a:prstGeom prst="rect">
            <a:avLst/>
          </a:prstGeom>
          <a:noFill/>
        </p:spPr>
        <p:txBody>
          <a:bodyPr wrap="square">
            <a:spAutoFit/>
          </a:bodyPr>
          <a:lstStyle/>
          <a:p>
            <a:pPr algn="l"/>
            <a:r>
              <a:rPr sz="980" b="1">
                <a:solidFill>
                  <a:srgbClr val="0C385C"/>
                </a:solidFill>
                <a:latin typeface="Aptos"/>
              </a:rPr>
              <a:t>Data</a:t>
            </a:r>
          </a:p>
        </p:txBody>
      </p:sp>
      <p:sp>
        <p:nvSpPr>
          <p:cNvPr id="400" name="TextBox 399"/>
          <p:cNvSpPr txBox="1"/>
          <p:nvPr/>
        </p:nvSpPr>
        <p:spPr>
          <a:xfrm>
            <a:off x="2039112" y="2231136"/>
            <a:ext cx="2313432" cy="274320"/>
          </a:xfrm>
          <a:prstGeom prst="rect">
            <a:avLst/>
          </a:prstGeom>
          <a:noFill/>
        </p:spPr>
        <p:txBody>
          <a:bodyPr wrap="square">
            <a:spAutoFit/>
          </a:bodyPr>
          <a:lstStyle/>
          <a:p>
            <a:pPr algn="l"/>
            <a:r>
              <a:rPr sz="960" b="1">
                <a:solidFill>
                  <a:srgbClr val="0A9194"/>
                </a:solidFill>
                <a:latin typeface="Aptos"/>
              </a:rPr>
              <a:t>Python</a:t>
            </a:r>
          </a:p>
        </p:txBody>
      </p:sp>
      <p:sp>
        <p:nvSpPr>
          <p:cNvPr id="401" name="TextBox 400"/>
          <p:cNvSpPr txBox="1"/>
          <p:nvPr/>
        </p:nvSpPr>
        <p:spPr>
          <a:xfrm>
            <a:off x="4462272" y="2217420"/>
            <a:ext cx="2679191" cy="283464"/>
          </a:xfrm>
          <a:prstGeom prst="rect">
            <a:avLst/>
          </a:prstGeom>
          <a:noFill/>
        </p:spPr>
        <p:txBody>
          <a:bodyPr wrap="square">
            <a:spAutoFit/>
          </a:bodyPr>
          <a:lstStyle/>
          <a:p>
            <a:pPr algn="l"/>
            <a:r>
              <a:rPr sz="930" b="0">
                <a:solidFill>
                  <a:srgbClr val="263648"/>
                </a:solidFill>
                <a:latin typeface="Aptos"/>
              </a:rPr>
              <a:t>General-purpose programming language.</a:t>
            </a:r>
          </a:p>
        </p:txBody>
      </p:sp>
      <p:sp>
        <p:nvSpPr>
          <p:cNvPr id="402" name="TextBox 401"/>
          <p:cNvSpPr txBox="1"/>
          <p:nvPr/>
        </p:nvSpPr>
        <p:spPr>
          <a:xfrm>
            <a:off x="7251192" y="2217420"/>
            <a:ext cx="4507992" cy="283464"/>
          </a:xfrm>
          <a:prstGeom prst="rect">
            <a:avLst/>
          </a:prstGeom>
          <a:noFill/>
        </p:spPr>
        <p:txBody>
          <a:bodyPr wrap="square">
            <a:spAutoFit/>
          </a:bodyPr>
          <a:lstStyle/>
          <a:p>
            <a:pPr algn="l"/>
            <a:r>
              <a:rPr sz="930" b="0">
                <a:solidFill>
                  <a:srgbClr val="263648"/>
                </a:solidFill>
                <a:latin typeface="Aptos"/>
              </a:rPr>
              <a:t>Main implementation language for the complete pipeline.</a:t>
            </a:r>
          </a:p>
        </p:txBody>
      </p:sp>
      <p:sp>
        <p:nvSpPr>
          <p:cNvPr id="403" name="Rectangle 402"/>
          <p:cNvSpPr/>
          <p:nvPr/>
        </p:nvSpPr>
        <p:spPr>
          <a:xfrm>
            <a:off x="566928" y="2514600"/>
            <a:ext cx="14173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Rectangle 403"/>
          <p:cNvSpPr/>
          <p:nvPr/>
        </p:nvSpPr>
        <p:spPr>
          <a:xfrm>
            <a:off x="1984248" y="2514600"/>
            <a:ext cx="242316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Rectangle 404"/>
          <p:cNvSpPr/>
          <p:nvPr/>
        </p:nvSpPr>
        <p:spPr>
          <a:xfrm>
            <a:off x="4407408" y="2514600"/>
            <a:ext cx="27889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Rectangle 405"/>
          <p:cNvSpPr/>
          <p:nvPr/>
        </p:nvSpPr>
        <p:spPr>
          <a:xfrm>
            <a:off x="7196328" y="2514600"/>
            <a:ext cx="46177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TextBox 406"/>
          <p:cNvSpPr txBox="1"/>
          <p:nvPr/>
        </p:nvSpPr>
        <p:spPr>
          <a:xfrm>
            <a:off x="621792" y="2578608"/>
            <a:ext cx="1307592" cy="274320"/>
          </a:xfrm>
          <a:prstGeom prst="rect">
            <a:avLst/>
          </a:prstGeom>
          <a:noFill/>
        </p:spPr>
        <p:txBody>
          <a:bodyPr wrap="square">
            <a:spAutoFit/>
          </a:bodyPr>
          <a:lstStyle/>
          <a:p>
            <a:pPr algn="l"/>
            <a:endParaRPr/>
          </a:p>
        </p:txBody>
      </p:sp>
      <p:sp>
        <p:nvSpPr>
          <p:cNvPr id="408" name="TextBox 407"/>
          <p:cNvSpPr txBox="1"/>
          <p:nvPr/>
        </p:nvSpPr>
        <p:spPr>
          <a:xfrm>
            <a:off x="2039112" y="2578608"/>
            <a:ext cx="2313432" cy="274320"/>
          </a:xfrm>
          <a:prstGeom prst="rect">
            <a:avLst/>
          </a:prstGeom>
          <a:noFill/>
        </p:spPr>
        <p:txBody>
          <a:bodyPr wrap="square">
            <a:spAutoFit/>
          </a:bodyPr>
          <a:lstStyle/>
          <a:p>
            <a:pPr algn="l"/>
            <a:r>
              <a:rPr sz="960" b="1">
                <a:solidFill>
                  <a:srgbClr val="0A9194"/>
                </a:solidFill>
                <a:latin typeface="Aptos"/>
              </a:rPr>
              <a:t>Pandas / NumPy / SciPy</a:t>
            </a:r>
          </a:p>
        </p:txBody>
      </p:sp>
      <p:sp>
        <p:nvSpPr>
          <p:cNvPr id="409" name="TextBox 408"/>
          <p:cNvSpPr txBox="1"/>
          <p:nvPr/>
        </p:nvSpPr>
        <p:spPr>
          <a:xfrm>
            <a:off x="4462272" y="2564892"/>
            <a:ext cx="2679191" cy="283464"/>
          </a:xfrm>
          <a:prstGeom prst="rect">
            <a:avLst/>
          </a:prstGeom>
          <a:noFill/>
        </p:spPr>
        <p:txBody>
          <a:bodyPr wrap="square">
            <a:spAutoFit/>
          </a:bodyPr>
          <a:lstStyle/>
          <a:p>
            <a:pPr algn="l"/>
            <a:r>
              <a:rPr sz="930" b="0">
                <a:solidFill>
                  <a:srgbClr val="263648"/>
                </a:solidFill>
                <a:latin typeface="Aptos"/>
              </a:rPr>
              <a:t>Libraries for tables, numerical arrays and scientific computing.</a:t>
            </a:r>
          </a:p>
        </p:txBody>
      </p:sp>
      <p:sp>
        <p:nvSpPr>
          <p:cNvPr id="410" name="TextBox 409"/>
          <p:cNvSpPr txBox="1"/>
          <p:nvPr/>
        </p:nvSpPr>
        <p:spPr>
          <a:xfrm>
            <a:off x="7251192" y="2564892"/>
            <a:ext cx="4507992" cy="283464"/>
          </a:xfrm>
          <a:prstGeom prst="rect">
            <a:avLst/>
          </a:prstGeom>
          <a:noFill/>
        </p:spPr>
        <p:txBody>
          <a:bodyPr wrap="square">
            <a:spAutoFit/>
          </a:bodyPr>
          <a:lstStyle/>
          <a:p>
            <a:pPr algn="l"/>
            <a:r>
              <a:rPr sz="930" b="0">
                <a:solidFill>
                  <a:srgbClr val="263648"/>
                </a:solidFill>
                <a:latin typeface="Aptos"/>
              </a:rPr>
              <a:t>Data cleaning, transformations, statistics and feature preparation.</a:t>
            </a:r>
          </a:p>
        </p:txBody>
      </p:sp>
      <p:sp>
        <p:nvSpPr>
          <p:cNvPr id="411" name="Rectangle 410"/>
          <p:cNvSpPr/>
          <p:nvPr/>
        </p:nvSpPr>
        <p:spPr>
          <a:xfrm>
            <a:off x="566928" y="2862072"/>
            <a:ext cx="14173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Rectangle 411"/>
          <p:cNvSpPr/>
          <p:nvPr/>
        </p:nvSpPr>
        <p:spPr>
          <a:xfrm>
            <a:off x="1984248" y="2862072"/>
            <a:ext cx="242316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Rectangle 412"/>
          <p:cNvSpPr/>
          <p:nvPr/>
        </p:nvSpPr>
        <p:spPr>
          <a:xfrm>
            <a:off x="4407408" y="2862072"/>
            <a:ext cx="27889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Rectangle 413"/>
          <p:cNvSpPr/>
          <p:nvPr/>
        </p:nvSpPr>
        <p:spPr>
          <a:xfrm>
            <a:off x="7196328" y="2862072"/>
            <a:ext cx="46177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TextBox 414"/>
          <p:cNvSpPr txBox="1"/>
          <p:nvPr/>
        </p:nvSpPr>
        <p:spPr>
          <a:xfrm>
            <a:off x="621792" y="2926079"/>
            <a:ext cx="1307592" cy="274320"/>
          </a:xfrm>
          <a:prstGeom prst="rect">
            <a:avLst/>
          </a:prstGeom>
          <a:noFill/>
        </p:spPr>
        <p:txBody>
          <a:bodyPr wrap="square">
            <a:spAutoFit/>
          </a:bodyPr>
          <a:lstStyle/>
          <a:p>
            <a:pPr algn="l"/>
            <a:r>
              <a:rPr sz="980" b="1">
                <a:solidFill>
                  <a:srgbClr val="0C385C"/>
                </a:solidFill>
                <a:latin typeface="Aptos"/>
              </a:rPr>
              <a:t>Machine Learning</a:t>
            </a:r>
          </a:p>
        </p:txBody>
      </p:sp>
      <p:sp>
        <p:nvSpPr>
          <p:cNvPr id="416" name="TextBox 415"/>
          <p:cNvSpPr txBox="1"/>
          <p:nvPr/>
        </p:nvSpPr>
        <p:spPr>
          <a:xfrm>
            <a:off x="2039112" y="2926079"/>
            <a:ext cx="2313432" cy="274320"/>
          </a:xfrm>
          <a:prstGeom prst="rect">
            <a:avLst/>
          </a:prstGeom>
          <a:noFill/>
        </p:spPr>
        <p:txBody>
          <a:bodyPr wrap="square">
            <a:spAutoFit/>
          </a:bodyPr>
          <a:lstStyle/>
          <a:p>
            <a:pPr algn="l"/>
            <a:r>
              <a:rPr sz="960" b="1">
                <a:solidFill>
                  <a:srgbClr val="0A9194"/>
                </a:solidFill>
                <a:latin typeface="Aptos"/>
              </a:rPr>
              <a:t>scikit-learn</a:t>
            </a:r>
          </a:p>
        </p:txBody>
      </p:sp>
      <p:sp>
        <p:nvSpPr>
          <p:cNvPr id="417" name="TextBox 416"/>
          <p:cNvSpPr txBox="1"/>
          <p:nvPr/>
        </p:nvSpPr>
        <p:spPr>
          <a:xfrm>
            <a:off x="4462272" y="2912364"/>
            <a:ext cx="2679191" cy="283464"/>
          </a:xfrm>
          <a:prstGeom prst="rect">
            <a:avLst/>
          </a:prstGeom>
          <a:noFill/>
        </p:spPr>
        <p:txBody>
          <a:bodyPr wrap="square">
            <a:spAutoFit/>
          </a:bodyPr>
          <a:lstStyle/>
          <a:p>
            <a:pPr algn="l"/>
            <a:r>
              <a:rPr sz="930" b="0">
                <a:solidFill>
                  <a:srgbClr val="263648"/>
                </a:solidFill>
                <a:latin typeface="Aptos"/>
              </a:rPr>
              <a:t>Python ML library for preprocessing, models and evaluation.</a:t>
            </a:r>
          </a:p>
        </p:txBody>
      </p:sp>
      <p:sp>
        <p:nvSpPr>
          <p:cNvPr id="418" name="TextBox 417"/>
          <p:cNvSpPr txBox="1"/>
          <p:nvPr/>
        </p:nvSpPr>
        <p:spPr>
          <a:xfrm>
            <a:off x="7251192" y="2912364"/>
            <a:ext cx="4507992" cy="283464"/>
          </a:xfrm>
          <a:prstGeom prst="rect">
            <a:avLst/>
          </a:prstGeom>
          <a:noFill/>
        </p:spPr>
        <p:txBody>
          <a:bodyPr wrap="square">
            <a:spAutoFit/>
          </a:bodyPr>
          <a:lstStyle/>
          <a:p>
            <a:pPr algn="l"/>
            <a:r>
              <a:rPr sz="930" b="0">
                <a:solidFill>
                  <a:srgbClr val="263648"/>
                </a:solidFill>
                <a:latin typeface="Aptos"/>
              </a:rPr>
              <a:t>LR, SVM, RF, pipelines, cross-validation and metrics.</a:t>
            </a:r>
          </a:p>
        </p:txBody>
      </p:sp>
      <p:sp>
        <p:nvSpPr>
          <p:cNvPr id="419" name="Rectangle 418"/>
          <p:cNvSpPr/>
          <p:nvPr/>
        </p:nvSpPr>
        <p:spPr>
          <a:xfrm>
            <a:off x="566928" y="3209544"/>
            <a:ext cx="14173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Rectangle 419"/>
          <p:cNvSpPr/>
          <p:nvPr/>
        </p:nvSpPr>
        <p:spPr>
          <a:xfrm>
            <a:off x="1984248" y="3209544"/>
            <a:ext cx="242316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Rectangle 420"/>
          <p:cNvSpPr/>
          <p:nvPr/>
        </p:nvSpPr>
        <p:spPr>
          <a:xfrm>
            <a:off x="4407408" y="3209544"/>
            <a:ext cx="27889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Rectangle 421"/>
          <p:cNvSpPr/>
          <p:nvPr/>
        </p:nvSpPr>
        <p:spPr>
          <a:xfrm>
            <a:off x="7196328" y="3209544"/>
            <a:ext cx="46177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TextBox 422"/>
          <p:cNvSpPr txBox="1"/>
          <p:nvPr/>
        </p:nvSpPr>
        <p:spPr>
          <a:xfrm>
            <a:off x="621792" y="3273551"/>
            <a:ext cx="1307592" cy="274320"/>
          </a:xfrm>
          <a:prstGeom prst="rect">
            <a:avLst/>
          </a:prstGeom>
          <a:noFill/>
        </p:spPr>
        <p:txBody>
          <a:bodyPr wrap="square">
            <a:spAutoFit/>
          </a:bodyPr>
          <a:lstStyle/>
          <a:p>
            <a:pPr algn="l"/>
            <a:endParaRPr/>
          </a:p>
        </p:txBody>
      </p:sp>
      <p:sp>
        <p:nvSpPr>
          <p:cNvPr id="424" name="TextBox 423"/>
          <p:cNvSpPr txBox="1"/>
          <p:nvPr/>
        </p:nvSpPr>
        <p:spPr>
          <a:xfrm>
            <a:off x="2039112" y="3273551"/>
            <a:ext cx="2313432" cy="274320"/>
          </a:xfrm>
          <a:prstGeom prst="rect">
            <a:avLst/>
          </a:prstGeom>
          <a:noFill/>
        </p:spPr>
        <p:txBody>
          <a:bodyPr wrap="square">
            <a:spAutoFit/>
          </a:bodyPr>
          <a:lstStyle/>
          <a:p>
            <a:pPr algn="l"/>
            <a:r>
              <a:rPr sz="960" b="1">
                <a:solidFill>
                  <a:srgbClr val="0A9194"/>
                </a:solidFill>
                <a:latin typeface="Aptos"/>
              </a:rPr>
              <a:t>XGBoost / LightGBM</a:t>
            </a:r>
          </a:p>
        </p:txBody>
      </p:sp>
      <p:sp>
        <p:nvSpPr>
          <p:cNvPr id="425" name="TextBox 424"/>
          <p:cNvSpPr txBox="1"/>
          <p:nvPr/>
        </p:nvSpPr>
        <p:spPr>
          <a:xfrm>
            <a:off x="4462272" y="3259836"/>
            <a:ext cx="2679191" cy="283464"/>
          </a:xfrm>
          <a:prstGeom prst="rect">
            <a:avLst/>
          </a:prstGeom>
          <a:noFill/>
        </p:spPr>
        <p:txBody>
          <a:bodyPr wrap="square">
            <a:spAutoFit/>
          </a:bodyPr>
          <a:lstStyle/>
          <a:p>
            <a:pPr algn="l"/>
            <a:r>
              <a:rPr sz="930" b="0">
                <a:solidFill>
                  <a:srgbClr val="263648"/>
                </a:solidFill>
                <a:latin typeface="Aptos"/>
              </a:rPr>
              <a:t>Gradient-boosted decision-tree frameworks.</a:t>
            </a:r>
          </a:p>
        </p:txBody>
      </p:sp>
      <p:sp>
        <p:nvSpPr>
          <p:cNvPr id="426" name="TextBox 425"/>
          <p:cNvSpPr txBox="1"/>
          <p:nvPr/>
        </p:nvSpPr>
        <p:spPr>
          <a:xfrm>
            <a:off x="7251192" y="3259836"/>
            <a:ext cx="4507992" cy="283464"/>
          </a:xfrm>
          <a:prstGeom prst="rect">
            <a:avLst/>
          </a:prstGeom>
          <a:noFill/>
        </p:spPr>
        <p:txBody>
          <a:bodyPr wrap="square">
            <a:spAutoFit/>
          </a:bodyPr>
          <a:lstStyle/>
          <a:p>
            <a:pPr algn="l"/>
            <a:r>
              <a:rPr sz="930" b="0">
                <a:solidFill>
                  <a:srgbClr val="263648"/>
                </a:solidFill>
                <a:latin typeface="Aptos"/>
              </a:rPr>
              <a:t>Strong nonlinear tabular baseline models.</a:t>
            </a:r>
          </a:p>
        </p:txBody>
      </p:sp>
      <p:sp>
        <p:nvSpPr>
          <p:cNvPr id="427" name="Rectangle 426"/>
          <p:cNvSpPr/>
          <p:nvPr/>
        </p:nvSpPr>
        <p:spPr>
          <a:xfrm>
            <a:off x="566928" y="3557015"/>
            <a:ext cx="14173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Rectangle 427"/>
          <p:cNvSpPr/>
          <p:nvPr/>
        </p:nvSpPr>
        <p:spPr>
          <a:xfrm>
            <a:off x="1984248" y="3557015"/>
            <a:ext cx="242316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Rectangle 428"/>
          <p:cNvSpPr/>
          <p:nvPr/>
        </p:nvSpPr>
        <p:spPr>
          <a:xfrm>
            <a:off x="4407408" y="3557015"/>
            <a:ext cx="27889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Rectangle 429"/>
          <p:cNvSpPr/>
          <p:nvPr/>
        </p:nvSpPr>
        <p:spPr>
          <a:xfrm>
            <a:off x="7196328" y="3557015"/>
            <a:ext cx="46177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TextBox 430"/>
          <p:cNvSpPr txBox="1"/>
          <p:nvPr/>
        </p:nvSpPr>
        <p:spPr>
          <a:xfrm>
            <a:off x="621792" y="3621023"/>
            <a:ext cx="1307592" cy="274320"/>
          </a:xfrm>
          <a:prstGeom prst="rect">
            <a:avLst/>
          </a:prstGeom>
          <a:noFill/>
        </p:spPr>
        <p:txBody>
          <a:bodyPr wrap="square">
            <a:spAutoFit/>
          </a:bodyPr>
          <a:lstStyle/>
          <a:p>
            <a:pPr algn="l"/>
            <a:r>
              <a:rPr sz="980" b="1">
                <a:solidFill>
                  <a:srgbClr val="0C385C"/>
                </a:solidFill>
                <a:latin typeface="Aptos"/>
              </a:rPr>
              <a:t>Deep Learning</a:t>
            </a:r>
          </a:p>
        </p:txBody>
      </p:sp>
      <p:sp>
        <p:nvSpPr>
          <p:cNvPr id="432" name="TextBox 431"/>
          <p:cNvSpPr txBox="1"/>
          <p:nvPr/>
        </p:nvSpPr>
        <p:spPr>
          <a:xfrm>
            <a:off x="2039112" y="3621023"/>
            <a:ext cx="2313432" cy="274320"/>
          </a:xfrm>
          <a:prstGeom prst="rect">
            <a:avLst/>
          </a:prstGeom>
          <a:noFill/>
        </p:spPr>
        <p:txBody>
          <a:bodyPr wrap="square">
            <a:spAutoFit/>
          </a:bodyPr>
          <a:lstStyle/>
          <a:p>
            <a:pPr algn="l"/>
            <a:r>
              <a:rPr sz="960" b="1">
                <a:solidFill>
                  <a:srgbClr val="0A9194"/>
                </a:solidFill>
                <a:latin typeface="Aptos"/>
              </a:rPr>
              <a:t>PyTorch</a:t>
            </a:r>
          </a:p>
        </p:txBody>
      </p:sp>
      <p:sp>
        <p:nvSpPr>
          <p:cNvPr id="433" name="TextBox 432"/>
          <p:cNvSpPr txBox="1"/>
          <p:nvPr/>
        </p:nvSpPr>
        <p:spPr>
          <a:xfrm>
            <a:off x="4462272" y="3607308"/>
            <a:ext cx="2679191" cy="283464"/>
          </a:xfrm>
          <a:prstGeom prst="rect">
            <a:avLst/>
          </a:prstGeom>
          <a:noFill/>
        </p:spPr>
        <p:txBody>
          <a:bodyPr wrap="square">
            <a:spAutoFit/>
          </a:bodyPr>
          <a:lstStyle/>
          <a:p>
            <a:pPr algn="l"/>
            <a:r>
              <a:rPr sz="930" b="0">
                <a:solidFill>
                  <a:srgbClr val="263648"/>
                </a:solidFill>
                <a:latin typeface="Aptos"/>
              </a:rPr>
              <a:t>Deep-learning framework using tensors and automatic differentiation.</a:t>
            </a:r>
          </a:p>
        </p:txBody>
      </p:sp>
      <p:sp>
        <p:nvSpPr>
          <p:cNvPr id="434" name="TextBox 433"/>
          <p:cNvSpPr txBox="1"/>
          <p:nvPr/>
        </p:nvSpPr>
        <p:spPr>
          <a:xfrm>
            <a:off x="7251192" y="3607308"/>
            <a:ext cx="4507992" cy="283464"/>
          </a:xfrm>
          <a:prstGeom prst="rect">
            <a:avLst/>
          </a:prstGeom>
          <a:noFill/>
        </p:spPr>
        <p:txBody>
          <a:bodyPr wrap="square">
            <a:spAutoFit/>
          </a:bodyPr>
          <a:lstStyle/>
          <a:p>
            <a:pPr algn="l"/>
            <a:r>
              <a:rPr sz="930" b="0">
                <a:solidFill>
                  <a:srgbClr val="263648"/>
                </a:solidFill>
                <a:latin typeface="Aptos"/>
              </a:rPr>
              <a:t>MLP, temporal models and learned multimodal fusion.</a:t>
            </a:r>
          </a:p>
        </p:txBody>
      </p:sp>
      <p:sp>
        <p:nvSpPr>
          <p:cNvPr id="435" name="Rectangle 434"/>
          <p:cNvSpPr/>
          <p:nvPr/>
        </p:nvSpPr>
        <p:spPr>
          <a:xfrm>
            <a:off x="566928" y="3904487"/>
            <a:ext cx="14173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Rectangle 435"/>
          <p:cNvSpPr/>
          <p:nvPr/>
        </p:nvSpPr>
        <p:spPr>
          <a:xfrm>
            <a:off x="1984248" y="3904487"/>
            <a:ext cx="242316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 name="Rectangle 436"/>
          <p:cNvSpPr/>
          <p:nvPr/>
        </p:nvSpPr>
        <p:spPr>
          <a:xfrm>
            <a:off x="4407408" y="3904487"/>
            <a:ext cx="27889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 name="Rectangle 437"/>
          <p:cNvSpPr/>
          <p:nvPr/>
        </p:nvSpPr>
        <p:spPr>
          <a:xfrm>
            <a:off x="7196328" y="3904487"/>
            <a:ext cx="46177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 name="TextBox 438"/>
          <p:cNvSpPr txBox="1"/>
          <p:nvPr/>
        </p:nvSpPr>
        <p:spPr>
          <a:xfrm>
            <a:off x="621792" y="3968496"/>
            <a:ext cx="1307592" cy="274320"/>
          </a:xfrm>
          <a:prstGeom prst="rect">
            <a:avLst/>
          </a:prstGeom>
          <a:noFill/>
        </p:spPr>
        <p:txBody>
          <a:bodyPr wrap="square">
            <a:spAutoFit/>
          </a:bodyPr>
          <a:lstStyle/>
          <a:p>
            <a:pPr algn="l"/>
            <a:r>
              <a:rPr sz="980" b="1">
                <a:solidFill>
                  <a:srgbClr val="0C385C"/>
                </a:solidFill>
                <a:latin typeface="Aptos"/>
              </a:rPr>
              <a:t>Neuroimaging</a:t>
            </a:r>
          </a:p>
        </p:txBody>
      </p:sp>
      <p:sp>
        <p:nvSpPr>
          <p:cNvPr id="440" name="TextBox 439"/>
          <p:cNvSpPr txBox="1"/>
          <p:nvPr/>
        </p:nvSpPr>
        <p:spPr>
          <a:xfrm>
            <a:off x="2039112" y="3968496"/>
            <a:ext cx="2313432" cy="274320"/>
          </a:xfrm>
          <a:prstGeom prst="rect">
            <a:avLst/>
          </a:prstGeom>
          <a:noFill/>
        </p:spPr>
        <p:txBody>
          <a:bodyPr wrap="square">
            <a:spAutoFit/>
          </a:bodyPr>
          <a:lstStyle/>
          <a:p>
            <a:pPr algn="l"/>
            <a:r>
              <a:rPr sz="960" b="1">
                <a:solidFill>
                  <a:srgbClr val="0A9194"/>
                </a:solidFill>
                <a:latin typeface="Aptos"/>
              </a:rPr>
              <a:t>MONAI / NiBabel</a:t>
            </a:r>
          </a:p>
        </p:txBody>
      </p:sp>
      <p:sp>
        <p:nvSpPr>
          <p:cNvPr id="441" name="TextBox 440"/>
          <p:cNvSpPr txBox="1"/>
          <p:nvPr/>
        </p:nvSpPr>
        <p:spPr>
          <a:xfrm>
            <a:off x="4462272" y="3954779"/>
            <a:ext cx="2679191" cy="283464"/>
          </a:xfrm>
          <a:prstGeom prst="rect">
            <a:avLst/>
          </a:prstGeom>
          <a:noFill/>
        </p:spPr>
        <p:txBody>
          <a:bodyPr wrap="square">
            <a:spAutoFit/>
          </a:bodyPr>
          <a:lstStyle/>
          <a:p>
            <a:pPr algn="l"/>
            <a:r>
              <a:rPr sz="930" b="0">
                <a:solidFill>
                  <a:srgbClr val="263648"/>
                </a:solidFill>
                <a:latin typeface="Aptos"/>
              </a:rPr>
              <a:t>Medical-imaging DL toolkit / neuroimaging file I/O library.</a:t>
            </a:r>
          </a:p>
        </p:txBody>
      </p:sp>
      <p:sp>
        <p:nvSpPr>
          <p:cNvPr id="442" name="TextBox 441"/>
          <p:cNvSpPr txBox="1"/>
          <p:nvPr/>
        </p:nvSpPr>
        <p:spPr>
          <a:xfrm>
            <a:off x="7251192" y="3954779"/>
            <a:ext cx="4507992" cy="283464"/>
          </a:xfrm>
          <a:prstGeom prst="rect">
            <a:avLst/>
          </a:prstGeom>
          <a:noFill/>
        </p:spPr>
        <p:txBody>
          <a:bodyPr wrap="square">
            <a:spAutoFit/>
          </a:bodyPr>
          <a:lstStyle/>
          <a:p>
            <a:pPr algn="l"/>
            <a:r>
              <a:rPr sz="930" b="0">
                <a:solidFill>
                  <a:srgbClr val="263648"/>
                </a:solidFill>
                <a:latin typeface="Aptos"/>
              </a:rPr>
              <a:t>Optional advanced processing of 3D MRI/PET images.</a:t>
            </a:r>
          </a:p>
        </p:txBody>
      </p:sp>
      <p:sp>
        <p:nvSpPr>
          <p:cNvPr id="443" name="Rectangle 442"/>
          <p:cNvSpPr/>
          <p:nvPr/>
        </p:nvSpPr>
        <p:spPr>
          <a:xfrm>
            <a:off x="566928" y="4251959"/>
            <a:ext cx="14173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 name="Rectangle 443"/>
          <p:cNvSpPr/>
          <p:nvPr/>
        </p:nvSpPr>
        <p:spPr>
          <a:xfrm>
            <a:off x="1984248" y="4251959"/>
            <a:ext cx="242316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Rectangle 444"/>
          <p:cNvSpPr/>
          <p:nvPr/>
        </p:nvSpPr>
        <p:spPr>
          <a:xfrm>
            <a:off x="4407408" y="4251959"/>
            <a:ext cx="27889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Rectangle 445"/>
          <p:cNvSpPr/>
          <p:nvPr/>
        </p:nvSpPr>
        <p:spPr>
          <a:xfrm>
            <a:off x="7196328" y="4251959"/>
            <a:ext cx="46177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TextBox 446"/>
          <p:cNvSpPr txBox="1"/>
          <p:nvPr/>
        </p:nvSpPr>
        <p:spPr>
          <a:xfrm>
            <a:off x="621792" y="4315968"/>
            <a:ext cx="1307592" cy="274320"/>
          </a:xfrm>
          <a:prstGeom prst="rect">
            <a:avLst/>
          </a:prstGeom>
          <a:noFill/>
        </p:spPr>
        <p:txBody>
          <a:bodyPr wrap="square">
            <a:spAutoFit/>
          </a:bodyPr>
          <a:lstStyle/>
          <a:p>
            <a:pPr algn="l"/>
            <a:r>
              <a:rPr sz="980" b="1">
                <a:solidFill>
                  <a:srgbClr val="0C385C"/>
                </a:solidFill>
                <a:latin typeface="Aptos"/>
              </a:rPr>
              <a:t>Explainability</a:t>
            </a:r>
          </a:p>
        </p:txBody>
      </p:sp>
      <p:sp>
        <p:nvSpPr>
          <p:cNvPr id="448" name="TextBox 447"/>
          <p:cNvSpPr txBox="1"/>
          <p:nvPr/>
        </p:nvSpPr>
        <p:spPr>
          <a:xfrm>
            <a:off x="2039112" y="4315968"/>
            <a:ext cx="2313432" cy="274320"/>
          </a:xfrm>
          <a:prstGeom prst="rect">
            <a:avLst/>
          </a:prstGeom>
          <a:noFill/>
        </p:spPr>
        <p:txBody>
          <a:bodyPr wrap="square">
            <a:spAutoFit/>
          </a:bodyPr>
          <a:lstStyle/>
          <a:p>
            <a:pPr algn="l"/>
            <a:r>
              <a:rPr sz="960" b="1">
                <a:solidFill>
                  <a:srgbClr val="0A9194"/>
                </a:solidFill>
                <a:latin typeface="Aptos"/>
              </a:rPr>
              <a:t>SHAP / Integrated Gradients</a:t>
            </a:r>
          </a:p>
        </p:txBody>
      </p:sp>
      <p:sp>
        <p:nvSpPr>
          <p:cNvPr id="449" name="TextBox 448"/>
          <p:cNvSpPr txBox="1"/>
          <p:nvPr/>
        </p:nvSpPr>
        <p:spPr>
          <a:xfrm>
            <a:off x="4462272" y="4302251"/>
            <a:ext cx="2679191" cy="283464"/>
          </a:xfrm>
          <a:prstGeom prst="rect">
            <a:avLst/>
          </a:prstGeom>
          <a:noFill/>
        </p:spPr>
        <p:txBody>
          <a:bodyPr wrap="square">
            <a:spAutoFit/>
          </a:bodyPr>
          <a:lstStyle/>
          <a:p>
            <a:pPr algn="l"/>
            <a:r>
              <a:rPr sz="930" b="0">
                <a:solidFill>
                  <a:srgbClr val="263648"/>
                </a:solidFill>
                <a:latin typeface="Aptos"/>
              </a:rPr>
              <a:t>Methods that attribute model predictions to input features.</a:t>
            </a:r>
          </a:p>
        </p:txBody>
      </p:sp>
      <p:sp>
        <p:nvSpPr>
          <p:cNvPr id="450" name="TextBox 449"/>
          <p:cNvSpPr txBox="1"/>
          <p:nvPr/>
        </p:nvSpPr>
        <p:spPr>
          <a:xfrm>
            <a:off x="7251192" y="4302251"/>
            <a:ext cx="4507992" cy="283464"/>
          </a:xfrm>
          <a:prstGeom prst="rect">
            <a:avLst/>
          </a:prstGeom>
          <a:noFill/>
        </p:spPr>
        <p:txBody>
          <a:bodyPr wrap="square">
            <a:spAutoFit/>
          </a:bodyPr>
          <a:lstStyle/>
          <a:p>
            <a:pPr algn="l"/>
            <a:r>
              <a:rPr sz="930" b="0">
                <a:solidFill>
                  <a:srgbClr val="263648"/>
                </a:solidFill>
                <a:latin typeface="Aptos"/>
              </a:rPr>
              <a:t>Global/local explanations for tree and neural models.</a:t>
            </a:r>
          </a:p>
        </p:txBody>
      </p:sp>
      <p:sp>
        <p:nvSpPr>
          <p:cNvPr id="451" name="Rectangle 450"/>
          <p:cNvSpPr/>
          <p:nvPr/>
        </p:nvSpPr>
        <p:spPr>
          <a:xfrm>
            <a:off x="566928" y="4599431"/>
            <a:ext cx="14173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Rectangle 451"/>
          <p:cNvSpPr/>
          <p:nvPr/>
        </p:nvSpPr>
        <p:spPr>
          <a:xfrm>
            <a:off x="1984248" y="4599431"/>
            <a:ext cx="242316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 name="Rectangle 452"/>
          <p:cNvSpPr/>
          <p:nvPr/>
        </p:nvSpPr>
        <p:spPr>
          <a:xfrm>
            <a:off x="4407408" y="4599431"/>
            <a:ext cx="27889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 name="Rectangle 453"/>
          <p:cNvSpPr/>
          <p:nvPr/>
        </p:nvSpPr>
        <p:spPr>
          <a:xfrm>
            <a:off x="7196328" y="4599431"/>
            <a:ext cx="46177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 name="TextBox 454"/>
          <p:cNvSpPr txBox="1"/>
          <p:nvPr/>
        </p:nvSpPr>
        <p:spPr>
          <a:xfrm>
            <a:off x="621792" y="4663440"/>
            <a:ext cx="1307592" cy="274320"/>
          </a:xfrm>
          <a:prstGeom prst="rect">
            <a:avLst/>
          </a:prstGeom>
          <a:noFill/>
        </p:spPr>
        <p:txBody>
          <a:bodyPr wrap="square">
            <a:spAutoFit/>
          </a:bodyPr>
          <a:lstStyle/>
          <a:p>
            <a:pPr algn="l"/>
            <a:r>
              <a:rPr sz="980" b="1">
                <a:solidFill>
                  <a:srgbClr val="0C385C"/>
                </a:solidFill>
                <a:latin typeface="Aptos"/>
              </a:rPr>
              <a:t>Storage</a:t>
            </a:r>
          </a:p>
        </p:txBody>
      </p:sp>
      <p:sp>
        <p:nvSpPr>
          <p:cNvPr id="456" name="TextBox 455"/>
          <p:cNvSpPr txBox="1"/>
          <p:nvPr/>
        </p:nvSpPr>
        <p:spPr>
          <a:xfrm>
            <a:off x="2039112" y="4663440"/>
            <a:ext cx="2313432" cy="274320"/>
          </a:xfrm>
          <a:prstGeom prst="rect">
            <a:avLst/>
          </a:prstGeom>
          <a:noFill/>
        </p:spPr>
        <p:txBody>
          <a:bodyPr wrap="square">
            <a:spAutoFit/>
          </a:bodyPr>
          <a:lstStyle/>
          <a:p>
            <a:pPr algn="l"/>
            <a:r>
              <a:rPr sz="960" b="1">
                <a:solidFill>
                  <a:srgbClr val="0A9194"/>
                </a:solidFill>
                <a:latin typeface="Aptos"/>
              </a:rPr>
              <a:t>Parquet / PostgreSQL</a:t>
            </a:r>
          </a:p>
        </p:txBody>
      </p:sp>
      <p:sp>
        <p:nvSpPr>
          <p:cNvPr id="457" name="TextBox 456"/>
          <p:cNvSpPr txBox="1"/>
          <p:nvPr/>
        </p:nvSpPr>
        <p:spPr>
          <a:xfrm>
            <a:off x="4462272" y="4649723"/>
            <a:ext cx="2679191" cy="283464"/>
          </a:xfrm>
          <a:prstGeom prst="rect">
            <a:avLst/>
          </a:prstGeom>
          <a:noFill/>
        </p:spPr>
        <p:txBody>
          <a:bodyPr wrap="square">
            <a:spAutoFit/>
          </a:bodyPr>
          <a:lstStyle/>
          <a:p>
            <a:pPr algn="l"/>
            <a:r>
              <a:rPr sz="930" b="0">
                <a:solidFill>
                  <a:srgbClr val="263648"/>
                </a:solidFill>
                <a:latin typeface="Aptos"/>
              </a:rPr>
              <a:t>Columnar file format / relational database system.</a:t>
            </a:r>
          </a:p>
        </p:txBody>
      </p:sp>
      <p:sp>
        <p:nvSpPr>
          <p:cNvPr id="458" name="TextBox 457"/>
          <p:cNvSpPr txBox="1"/>
          <p:nvPr/>
        </p:nvSpPr>
        <p:spPr>
          <a:xfrm>
            <a:off x="7251192" y="4649723"/>
            <a:ext cx="4507992" cy="283464"/>
          </a:xfrm>
          <a:prstGeom prst="rect">
            <a:avLst/>
          </a:prstGeom>
          <a:noFill/>
        </p:spPr>
        <p:txBody>
          <a:bodyPr wrap="square">
            <a:spAutoFit/>
          </a:bodyPr>
          <a:lstStyle/>
          <a:p>
            <a:pPr algn="l"/>
            <a:r>
              <a:rPr sz="930" b="0">
                <a:solidFill>
                  <a:srgbClr val="263648"/>
                </a:solidFill>
                <a:latin typeface="Aptos"/>
              </a:rPr>
              <a:t>Processed analytical datasets, metadata and provenance.</a:t>
            </a:r>
          </a:p>
        </p:txBody>
      </p:sp>
      <p:sp>
        <p:nvSpPr>
          <p:cNvPr id="459" name="Rectangle 458"/>
          <p:cNvSpPr/>
          <p:nvPr/>
        </p:nvSpPr>
        <p:spPr>
          <a:xfrm>
            <a:off x="566928" y="4946903"/>
            <a:ext cx="14173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Rectangle 459"/>
          <p:cNvSpPr/>
          <p:nvPr/>
        </p:nvSpPr>
        <p:spPr>
          <a:xfrm>
            <a:off x="1984248" y="4946903"/>
            <a:ext cx="242316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 name="Rectangle 460"/>
          <p:cNvSpPr/>
          <p:nvPr/>
        </p:nvSpPr>
        <p:spPr>
          <a:xfrm>
            <a:off x="4407408" y="4946903"/>
            <a:ext cx="27889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Rectangle 461"/>
          <p:cNvSpPr/>
          <p:nvPr/>
        </p:nvSpPr>
        <p:spPr>
          <a:xfrm>
            <a:off x="7196328" y="4946903"/>
            <a:ext cx="46177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 name="TextBox 462"/>
          <p:cNvSpPr txBox="1"/>
          <p:nvPr/>
        </p:nvSpPr>
        <p:spPr>
          <a:xfrm>
            <a:off x="621792" y="5010912"/>
            <a:ext cx="1307592" cy="274320"/>
          </a:xfrm>
          <a:prstGeom prst="rect">
            <a:avLst/>
          </a:prstGeom>
          <a:noFill/>
        </p:spPr>
        <p:txBody>
          <a:bodyPr wrap="square">
            <a:spAutoFit/>
          </a:bodyPr>
          <a:lstStyle/>
          <a:p>
            <a:pPr algn="l"/>
            <a:r>
              <a:rPr sz="980" b="1">
                <a:solidFill>
                  <a:srgbClr val="0C385C"/>
                </a:solidFill>
                <a:latin typeface="Aptos"/>
              </a:rPr>
              <a:t>Services</a:t>
            </a:r>
          </a:p>
        </p:txBody>
      </p:sp>
      <p:sp>
        <p:nvSpPr>
          <p:cNvPr id="464" name="TextBox 463"/>
          <p:cNvSpPr txBox="1"/>
          <p:nvPr/>
        </p:nvSpPr>
        <p:spPr>
          <a:xfrm>
            <a:off x="2039112" y="5010912"/>
            <a:ext cx="2313432" cy="274320"/>
          </a:xfrm>
          <a:prstGeom prst="rect">
            <a:avLst/>
          </a:prstGeom>
          <a:noFill/>
        </p:spPr>
        <p:txBody>
          <a:bodyPr wrap="square">
            <a:spAutoFit/>
          </a:bodyPr>
          <a:lstStyle/>
          <a:p>
            <a:pPr algn="l"/>
            <a:r>
              <a:rPr sz="960" b="1">
                <a:solidFill>
                  <a:srgbClr val="0A9194"/>
                </a:solidFill>
                <a:latin typeface="Aptos"/>
              </a:rPr>
              <a:t>FastAPI</a:t>
            </a:r>
          </a:p>
        </p:txBody>
      </p:sp>
      <p:sp>
        <p:nvSpPr>
          <p:cNvPr id="465" name="TextBox 464"/>
          <p:cNvSpPr txBox="1"/>
          <p:nvPr/>
        </p:nvSpPr>
        <p:spPr>
          <a:xfrm>
            <a:off x="4462272" y="4997195"/>
            <a:ext cx="2679191" cy="283464"/>
          </a:xfrm>
          <a:prstGeom prst="rect">
            <a:avLst/>
          </a:prstGeom>
          <a:noFill/>
        </p:spPr>
        <p:txBody>
          <a:bodyPr wrap="square">
            <a:spAutoFit/>
          </a:bodyPr>
          <a:lstStyle/>
          <a:p>
            <a:pPr algn="l"/>
            <a:r>
              <a:rPr sz="930" b="0">
                <a:solidFill>
                  <a:srgbClr val="263648"/>
                </a:solidFill>
                <a:latin typeface="Aptos"/>
              </a:rPr>
              <a:t>Python framework for building web APIs.</a:t>
            </a:r>
          </a:p>
        </p:txBody>
      </p:sp>
      <p:sp>
        <p:nvSpPr>
          <p:cNvPr id="466" name="TextBox 465"/>
          <p:cNvSpPr txBox="1"/>
          <p:nvPr/>
        </p:nvSpPr>
        <p:spPr>
          <a:xfrm>
            <a:off x="7251192" y="4997195"/>
            <a:ext cx="4507992" cy="283464"/>
          </a:xfrm>
          <a:prstGeom prst="rect">
            <a:avLst/>
          </a:prstGeom>
          <a:noFill/>
        </p:spPr>
        <p:txBody>
          <a:bodyPr wrap="square">
            <a:spAutoFit/>
          </a:bodyPr>
          <a:lstStyle/>
          <a:p>
            <a:pPr algn="l"/>
            <a:r>
              <a:rPr sz="930" b="0">
                <a:solidFill>
                  <a:srgbClr val="263648"/>
                </a:solidFill>
                <a:latin typeface="Aptos"/>
              </a:rPr>
              <a:t>Optional service layer exposing model/data functions.</a:t>
            </a:r>
          </a:p>
        </p:txBody>
      </p:sp>
      <p:sp>
        <p:nvSpPr>
          <p:cNvPr id="467" name="Rectangle 466"/>
          <p:cNvSpPr/>
          <p:nvPr/>
        </p:nvSpPr>
        <p:spPr>
          <a:xfrm>
            <a:off x="566928" y="5294375"/>
            <a:ext cx="14173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68" name="Rectangle 467"/>
          <p:cNvSpPr/>
          <p:nvPr/>
        </p:nvSpPr>
        <p:spPr>
          <a:xfrm>
            <a:off x="1984248" y="5294375"/>
            <a:ext cx="242316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 name="Rectangle 468"/>
          <p:cNvSpPr/>
          <p:nvPr/>
        </p:nvSpPr>
        <p:spPr>
          <a:xfrm>
            <a:off x="4407408" y="5294375"/>
            <a:ext cx="27889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 name="Rectangle 469"/>
          <p:cNvSpPr/>
          <p:nvPr/>
        </p:nvSpPr>
        <p:spPr>
          <a:xfrm>
            <a:off x="7196328" y="5294375"/>
            <a:ext cx="4617720" cy="347472"/>
          </a:xfrm>
          <a:prstGeom prst="rect">
            <a:avLst/>
          </a:prstGeom>
          <a:solidFill>
            <a:srgbClr val="F5F8FB"/>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 name="TextBox 470"/>
          <p:cNvSpPr txBox="1"/>
          <p:nvPr/>
        </p:nvSpPr>
        <p:spPr>
          <a:xfrm>
            <a:off x="621792" y="5358383"/>
            <a:ext cx="1307592" cy="274320"/>
          </a:xfrm>
          <a:prstGeom prst="rect">
            <a:avLst/>
          </a:prstGeom>
          <a:noFill/>
        </p:spPr>
        <p:txBody>
          <a:bodyPr wrap="square">
            <a:spAutoFit/>
          </a:bodyPr>
          <a:lstStyle/>
          <a:p>
            <a:pPr algn="l"/>
            <a:r>
              <a:rPr sz="980" b="1">
                <a:solidFill>
                  <a:srgbClr val="0C385C"/>
                </a:solidFill>
                <a:latin typeface="Aptos"/>
              </a:rPr>
              <a:t>Dashboard</a:t>
            </a:r>
          </a:p>
        </p:txBody>
      </p:sp>
      <p:sp>
        <p:nvSpPr>
          <p:cNvPr id="472" name="TextBox 471"/>
          <p:cNvSpPr txBox="1"/>
          <p:nvPr/>
        </p:nvSpPr>
        <p:spPr>
          <a:xfrm>
            <a:off x="2039112" y="5358383"/>
            <a:ext cx="2313432" cy="274320"/>
          </a:xfrm>
          <a:prstGeom prst="rect">
            <a:avLst/>
          </a:prstGeom>
          <a:noFill/>
        </p:spPr>
        <p:txBody>
          <a:bodyPr wrap="square">
            <a:spAutoFit/>
          </a:bodyPr>
          <a:lstStyle/>
          <a:p>
            <a:pPr algn="l"/>
            <a:r>
              <a:rPr sz="960" b="1">
                <a:solidFill>
                  <a:srgbClr val="0A9194"/>
                </a:solidFill>
                <a:latin typeface="Aptos"/>
              </a:rPr>
              <a:t>Plotly / Dash</a:t>
            </a:r>
          </a:p>
        </p:txBody>
      </p:sp>
      <p:sp>
        <p:nvSpPr>
          <p:cNvPr id="473" name="TextBox 472"/>
          <p:cNvSpPr txBox="1"/>
          <p:nvPr/>
        </p:nvSpPr>
        <p:spPr>
          <a:xfrm>
            <a:off x="4462272" y="5344667"/>
            <a:ext cx="2679191" cy="283464"/>
          </a:xfrm>
          <a:prstGeom prst="rect">
            <a:avLst/>
          </a:prstGeom>
          <a:noFill/>
        </p:spPr>
        <p:txBody>
          <a:bodyPr wrap="square">
            <a:spAutoFit/>
          </a:bodyPr>
          <a:lstStyle/>
          <a:p>
            <a:pPr algn="l"/>
            <a:r>
              <a:rPr sz="930" b="0">
                <a:solidFill>
                  <a:srgbClr val="263648"/>
                </a:solidFill>
                <a:latin typeface="Aptos"/>
              </a:rPr>
              <a:t>Interactive plotting library / Python dashboard framework.</a:t>
            </a:r>
          </a:p>
        </p:txBody>
      </p:sp>
      <p:sp>
        <p:nvSpPr>
          <p:cNvPr id="474" name="TextBox 473"/>
          <p:cNvSpPr txBox="1"/>
          <p:nvPr/>
        </p:nvSpPr>
        <p:spPr>
          <a:xfrm>
            <a:off x="7251192" y="5344667"/>
            <a:ext cx="4507992" cy="283464"/>
          </a:xfrm>
          <a:prstGeom prst="rect">
            <a:avLst/>
          </a:prstGeom>
          <a:noFill/>
        </p:spPr>
        <p:txBody>
          <a:bodyPr wrap="square">
            <a:spAutoFit/>
          </a:bodyPr>
          <a:lstStyle/>
          <a:p>
            <a:pPr algn="l"/>
            <a:r>
              <a:rPr sz="930" b="0">
                <a:solidFill>
                  <a:srgbClr val="263648"/>
                </a:solidFill>
                <a:latin typeface="Aptos"/>
              </a:rPr>
              <a:t>Research dashboard, trajectories, comparisons and forecasts.</a:t>
            </a:r>
          </a:p>
        </p:txBody>
      </p:sp>
      <p:sp>
        <p:nvSpPr>
          <p:cNvPr id="475" name="Rectangle 474"/>
          <p:cNvSpPr/>
          <p:nvPr/>
        </p:nvSpPr>
        <p:spPr>
          <a:xfrm>
            <a:off x="566928" y="5641847"/>
            <a:ext cx="14173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6" name="Rectangle 475"/>
          <p:cNvSpPr/>
          <p:nvPr/>
        </p:nvSpPr>
        <p:spPr>
          <a:xfrm>
            <a:off x="1984248" y="5641847"/>
            <a:ext cx="242316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7" name="Rectangle 476"/>
          <p:cNvSpPr/>
          <p:nvPr/>
        </p:nvSpPr>
        <p:spPr>
          <a:xfrm>
            <a:off x="4407408" y="5641847"/>
            <a:ext cx="27889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Rectangle 477"/>
          <p:cNvSpPr/>
          <p:nvPr/>
        </p:nvSpPr>
        <p:spPr>
          <a:xfrm>
            <a:off x="7196328" y="5641847"/>
            <a:ext cx="4617720" cy="347472"/>
          </a:xfrm>
          <a:prstGeom prst="rect">
            <a:avLst/>
          </a:prstGeom>
          <a:solidFill>
            <a:srgbClr val="FFFFFF"/>
          </a:solidFill>
          <a:ln>
            <a:solidFill>
              <a:srgbClr val="CFD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9" name="TextBox 478"/>
          <p:cNvSpPr txBox="1"/>
          <p:nvPr/>
        </p:nvSpPr>
        <p:spPr>
          <a:xfrm>
            <a:off x="621792" y="5705855"/>
            <a:ext cx="1307592" cy="274320"/>
          </a:xfrm>
          <a:prstGeom prst="rect">
            <a:avLst/>
          </a:prstGeom>
          <a:noFill/>
        </p:spPr>
        <p:txBody>
          <a:bodyPr wrap="square">
            <a:spAutoFit/>
          </a:bodyPr>
          <a:lstStyle/>
          <a:p>
            <a:pPr algn="l"/>
            <a:r>
              <a:rPr sz="980" b="1">
                <a:solidFill>
                  <a:srgbClr val="0C385C"/>
                </a:solidFill>
                <a:latin typeface="Aptos"/>
              </a:rPr>
              <a:t>Experiments</a:t>
            </a:r>
          </a:p>
        </p:txBody>
      </p:sp>
      <p:sp>
        <p:nvSpPr>
          <p:cNvPr id="480" name="TextBox 479"/>
          <p:cNvSpPr txBox="1"/>
          <p:nvPr/>
        </p:nvSpPr>
        <p:spPr>
          <a:xfrm>
            <a:off x="2039112" y="5705855"/>
            <a:ext cx="2313432" cy="274320"/>
          </a:xfrm>
          <a:prstGeom prst="rect">
            <a:avLst/>
          </a:prstGeom>
          <a:noFill/>
        </p:spPr>
        <p:txBody>
          <a:bodyPr wrap="square">
            <a:spAutoFit/>
          </a:bodyPr>
          <a:lstStyle/>
          <a:p>
            <a:pPr algn="l"/>
            <a:r>
              <a:rPr sz="960" b="1">
                <a:solidFill>
                  <a:srgbClr val="0A9194"/>
                </a:solidFill>
                <a:latin typeface="Aptos"/>
              </a:rPr>
              <a:t>MLflow</a:t>
            </a:r>
          </a:p>
        </p:txBody>
      </p:sp>
      <p:sp>
        <p:nvSpPr>
          <p:cNvPr id="481" name="TextBox 480"/>
          <p:cNvSpPr txBox="1"/>
          <p:nvPr/>
        </p:nvSpPr>
        <p:spPr>
          <a:xfrm>
            <a:off x="4462272" y="5692139"/>
            <a:ext cx="2679191" cy="283464"/>
          </a:xfrm>
          <a:prstGeom prst="rect">
            <a:avLst/>
          </a:prstGeom>
          <a:noFill/>
        </p:spPr>
        <p:txBody>
          <a:bodyPr wrap="square">
            <a:spAutoFit/>
          </a:bodyPr>
          <a:lstStyle/>
          <a:p>
            <a:pPr algn="l"/>
            <a:r>
              <a:rPr sz="930" b="0">
                <a:solidFill>
                  <a:srgbClr val="263648"/>
                </a:solidFill>
                <a:latin typeface="Aptos"/>
              </a:rPr>
              <a:t>Experiment tracking and model-management platform.</a:t>
            </a:r>
          </a:p>
        </p:txBody>
      </p:sp>
      <p:sp>
        <p:nvSpPr>
          <p:cNvPr id="482" name="TextBox 481"/>
          <p:cNvSpPr txBox="1"/>
          <p:nvPr/>
        </p:nvSpPr>
        <p:spPr>
          <a:xfrm>
            <a:off x="7251192" y="5692139"/>
            <a:ext cx="4507992" cy="283464"/>
          </a:xfrm>
          <a:prstGeom prst="rect">
            <a:avLst/>
          </a:prstGeom>
          <a:noFill/>
        </p:spPr>
        <p:txBody>
          <a:bodyPr wrap="square">
            <a:spAutoFit/>
          </a:bodyPr>
          <a:lstStyle/>
          <a:p>
            <a:pPr algn="l"/>
            <a:r>
              <a:rPr sz="930" b="0">
                <a:solidFill>
                  <a:srgbClr val="263648"/>
                </a:solidFill>
                <a:latin typeface="Aptos"/>
              </a:rPr>
              <a:t>Optional registry for parameters, metrics, runs and artifacts.</a:t>
            </a:r>
          </a:p>
        </p:txBody>
      </p:sp>
      <p:sp>
        <p:nvSpPr>
          <p:cNvPr id="483" name="TextBox 482"/>
          <p:cNvSpPr txBox="1"/>
          <p:nvPr/>
        </p:nvSpPr>
        <p:spPr>
          <a:xfrm>
            <a:off x="566928" y="6048756"/>
            <a:ext cx="2103120" cy="228600"/>
          </a:xfrm>
          <a:prstGeom prst="rect">
            <a:avLst/>
          </a:prstGeom>
          <a:noFill/>
        </p:spPr>
        <p:txBody>
          <a:bodyPr wrap="square">
            <a:spAutoFit/>
          </a:bodyPr>
          <a:lstStyle/>
          <a:p>
            <a:pPr algn="l"/>
            <a:r>
              <a:rPr sz="1050" b="1" dirty="0">
                <a:solidFill>
                  <a:srgbClr val="704EB8"/>
                </a:solidFill>
                <a:latin typeface="Aptos"/>
              </a:rPr>
              <a:t>ACRONYM / TERM LEGEND</a:t>
            </a:r>
          </a:p>
        </p:txBody>
      </p:sp>
      <p:sp>
        <p:nvSpPr>
          <p:cNvPr id="484" name="TextBox 483"/>
          <p:cNvSpPr txBox="1"/>
          <p:nvPr/>
        </p:nvSpPr>
        <p:spPr>
          <a:xfrm>
            <a:off x="2270760" y="6025642"/>
            <a:ext cx="9098280" cy="438912"/>
          </a:xfrm>
          <a:prstGeom prst="rect">
            <a:avLst/>
          </a:prstGeom>
          <a:noFill/>
        </p:spPr>
        <p:txBody>
          <a:bodyPr wrap="square">
            <a:spAutoFit/>
          </a:bodyPr>
          <a:lstStyle/>
          <a:p>
            <a:pPr algn="l"/>
            <a:r>
              <a:rPr sz="960" b="0" dirty="0">
                <a:solidFill>
                  <a:srgbClr val="263648"/>
                </a:solidFill>
                <a:latin typeface="Aptos"/>
              </a:rPr>
              <a:t>ML = Machine Learning  •  LR = Logistic Regression  •  SVM = Support Vector Machine  •  RF = Random Forest  •  MLP = Multilayer Perceptron  •  API = Application Programming Interface  •  MRI = Magnetic Resonance Imaging  •  PET = Positron Emission Tomography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3558"/>
        </a:solidFill>
        <a:effectLst/>
      </p:bgPr>
    </p:bg>
    <p:spTree>
      <p:nvGrpSpPr>
        <p:cNvPr id="1" name=""/>
        <p:cNvGrpSpPr/>
        <p:nvPr/>
      </p:nvGrpSpPr>
      <p:grpSpPr>
        <a:xfrm>
          <a:off x="0" y="0"/>
          <a:ext cx="0" cy="0"/>
          <a:chOff x="0" y="0"/>
          <a:chExt cx="0" cy="0"/>
        </a:xfrm>
      </p:grpSpPr>
      <p:sp>
        <p:nvSpPr>
          <p:cNvPr id="384" name="Text 0"/>
          <p:cNvSpPr/>
          <p:nvPr/>
        </p:nvSpPr>
        <p:spPr>
          <a:xfrm>
            <a:off x="640080" y="1005840"/>
            <a:ext cx="10969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400" b="1" u="none" strike="noStrike">
                <a:solidFill>
                  <a:srgbClr val="19A7A0"/>
                </a:solidFill>
                <a:effectLst/>
                <a:uFillTx/>
                <a:latin typeface="Aptos"/>
              </a:rPr>
              <a:t>04</a:t>
            </a:r>
            <a:endParaRPr lang="en-US" sz="4400" b="0" u="none" strike="noStrike">
              <a:solidFill>
                <a:srgbClr val="FFFFFF"/>
              </a:solidFill>
              <a:effectLst/>
              <a:uFillTx/>
              <a:latin typeface="Arial"/>
            </a:endParaRPr>
          </a:p>
        </p:txBody>
      </p:sp>
      <p:sp>
        <p:nvSpPr>
          <p:cNvPr id="385" name="Text 1"/>
          <p:cNvSpPr/>
          <p:nvPr/>
        </p:nvSpPr>
        <p:spPr>
          <a:xfrm>
            <a:off x="640080" y="1874520"/>
            <a:ext cx="105152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u="none" strike="noStrike">
                <a:solidFill>
                  <a:srgbClr val="FFFFFF"/>
                </a:solidFill>
                <a:effectLst/>
                <a:uFillTx/>
                <a:latin typeface="Aptos"/>
              </a:rPr>
              <a:t>Implementation roadmap</a:t>
            </a:r>
            <a:endParaRPr lang="en-US" sz="3400" b="0" u="none" strike="noStrike">
              <a:solidFill>
                <a:srgbClr val="FFFFFF"/>
              </a:solidFill>
              <a:effectLst/>
              <a:uFillTx/>
              <a:latin typeface="Arial"/>
            </a:endParaRPr>
          </a:p>
        </p:txBody>
      </p:sp>
      <p:sp>
        <p:nvSpPr>
          <p:cNvPr id="386" name="Text 2"/>
          <p:cNvSpPr/>
          <p:nvPr/>
        </p:nvSpPr>
        <p:spPr>
          <a:xfrm>
            <a:off x="658440" y="2743200"/>
            <a:ext cx="98751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u="none" strike="noStrike">
                <a:solidFill>
                  <a:srgbClr val="DCE7EF"/>
                </a:solidFill>
                <a:effectLst/>
                <a:uFillTx/>
                <a:latin typeface="Aptos"/>
              </a:rPr>
              <a:t>Implement in layers: local data → cohort → five base learners → ensemble comparison → longitudinal prediction → trustworthiness → dashboard → reproducibility package.</a:t>
            </a:r>
            <a:endParaRPr lang="en-US" sz="2000" b="0" u="none" strike="noStrike">
              <a:solidFill>
                <a:srgbClr val="FFFFFF"/>
              </a:solidFill>
              <a:effectLst/>
              <a:uFillTx/>
              <a:latin typeface="Arial"/>
            </a:endParaRPr>
          </a:p>
        </p:txBody>
      </p:sp>
      <p:sp>
        <p:nvSpPr>
          <p:cNvPr id="387" name="PlaceHolder 1"/>
          <p:cNvSpPr>
            <a:spLocks noGrp="1"/>
          </p:cNvSpPr>
          <p:nvPr>
            <p:ph type="sldNum" idx="18"/>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23</a:t>
            </a:r>
            <a:endParaRPr lang="en-US" sz="800" b="0" u="none" strike="noStrike">
              <a:solidFill>
                <a:srgbClr val="FFFFFF"/>
              </a:solidFill>
              <a:effectLst/>
              <a:uFillTx/>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Phase 0 — Project setup and governance</a:t>
            </a:r>
            <a:endParaRPr lang="en-US" sz="2800" b="0" u="none" strike="noStrike">
              <a:solidFill>
                <a:srgbClr val="000000"/>
              </a:solidFill>
              <a:effectLst/>
              <a:uFillTx/>
              <a:latin typeface="Arial"/>
            </a:endParaRPr>
          </a:p>
        </p:txBody>
      </p:sp>
      <p:sp>
        <p:nvSpPr>
          <p:cNvPr id="390" name="Text 2"/>
          <p:cNvSpPr/>
          <p:nvPr/>
        </p:nvSpPr>
        <p:spPr>
          <a:xfrm>
            <a:off x="731520" y="1325880"/>
            <a:ext cx="6583320" cy="4480200"/>
          </a:xfrm>
          <a:prstGeom prst="rect">
            <a:avLst/>
          </a:prstGeom>
          <a:noFill/>
          <a:ln w="0">
            <a:noFill/>
          </a:ln>
        </p:spPr>
        <p:style>
          <a:lnRef idx="0">
            <a:scrgbClr r="0" g="0" b="0"/>
          </a:lnRef>
          <a:fillRef idx="0">
            <a:scrgbClr r="0" g="0" b="0"/>
          </a:fillRef>
          <a:effectRef idx="0">
            <a:scrgbClr r="0" g="0" b="0"/>
          </a:effectRef>
          <a:fontRef idx="minor"/>
        </p:style>
        <p:txBody>
          <a:bodyPr lIns="38160" tIns="38160" rIns="38160" bIns="38160" anchor="t">
            <a:noAutofit/>
          </a:bodyPr>
          <a:lstStyle/>
          <a:p>
            <a:pPr marL="228600" indent="-228600" defTabSz="914400">
              <a:lnSpc>
                <a:spcPct val="100000"/>
              </a:lnSpc>
              <a:buClr>
                <a:srgbClr val="203040"/>
              </a:buClr>
              <a:buFont typeface="Symbol" charset="2"/>
              <a:buChar char=""/>
            </a:pPr>
            <a:r>
              <a:rPr lang="en-US" sz="1700" b="0" u="none" strike="noStrike">
                <a:solidFill>
                  <a:srgbClr val="203040"/>
                </a:solidFill>
                <a:effectLst/>
                <a:uFillTx/>
                <a:latin typeface="Aptos"/>
              </a:rPr>
              <a:t>Confirm the approved ADNI files have been downloaded manually and stored securely.</a:t>
            </a:r>
            <a:endParaRPr lang="en-US" sz="170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700" b="0" u="none" strike="noStrike">
                <a:solidFill>
                  <a:srgbClr val="203040"/>
                </a:solidFill>
                <a:effectLst/>
                <a:uFillTx/>
                <a:latin typeface="Aptos"/>
              </a:rPr>
              <a:t>Create Git repository, Python environment and project directory structure.</a:t>
            </a:r>
            <a:endParaRPr lang="en-US" sz="170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700" b="0" u="none" strike="noStrike">
                <a:solidFill>
                  <a:srgbClr val="203040"/>
                </a:solidFill>
                <a:effectLst/>
                <a:uFillTx/>
                <a:latin typeface="Aptos"/>
              </a:rPr>
              <a:t>Place the data dictionary and selected ADNI files in the agreed local data folders.</a:t>
            </a:r>
            <a:endParaRPr lang="en-US" sz="170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700" b="0" u="none" strike="noStrike">
                <a:solidFill>
                  <a:srgbClr val="203040"/>
                </a:solidFill>
                <a:effectLst/>
                <a:uFillTx/>
                <a:latin typeface="Aptos"/>
              </a:rPr>
              <a:t>Create a local provenance manifest: file, phase/release, download date, processing version, checksum if practical.</a:t>
            </a:r>
            <a:endParaRPr lang="en-US" sz="170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700" b="0" u="none" strike="noStrike">
                <a:solidFill>
                  <a:srgbClr val="203040"/>
                </a:solidFill>
                <a:effectLst/>
                <a:uFillTx/>
                <a:latin typeface="Aptos"/>
              </a:rPr>
              <a:t>Define coding conventions, configuration format, random-seed policy and experiment naming.</a:t>
            </a:r>
            <a:endParaRPr lang="en-US" sz="1700" b="0" u="none" strike="noStrike">
              <a:solidFill>
                <a:srgbClr val="000000"/>
              </a:solidFill>
              <a:effectLst/>
              <a:uFillTx/>
              <a:latin typeface="Arial"/>
            </a:endParaRPr>
          </a:p>
        </p:txBody>
      </p:sp>
      <p:sp>
        <p:nvSpPr>
          <p:cNvPr id="391" name="Shape 3"/>
          <p:cNvSpPr/>
          <p:nvPr/>
        </p:nvSpPr>
        <p:spPr>
          <a:xfrm>
            <a:off x="7818120" y="1508760"/>
            <a:ext cx="3382920" cy="3245760"/>
          </a:xfrm>
          <a:prstGeom prst="roundRect">
            <a:avLst>
              <a:gd name="adj" fmla="val 1690"/>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92" name="Shape 4"/>
          <p:cNvSpPr/>
          <p:nvPr/>
        </p:nvSpPr>
        <p:spPr>
          <a:xfrm>
            <a:off x="7818120" y="1508760"/>
            <a:ext cx="72720" cy="3245760"/>
          </a:xfrm>
          <a:prstGeom prst="rect">
            <a:avLst/>
          </a:prstGeom>
          <a:solidFill>
            <a:srgbClr val="C65353"/>
          </a:solidFill>
          <a:ln w="12700">
            <a:solidFill>
              <a:srgbClr val="C653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393" name="Text 5"/>
          <p:cNvSpPr/>
          <p:nvPr/>
        </p:nvSpPr>
        <p:spPr>
          <a:xfrm>
            <a:off x="8001000" y="1654920"/>
            <a:ext cx="30628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C65353"/>
                </a:solidFill>
                <a:effectLst/>
                <a:uFillTx/>
                <a:latin typeface="Aptos"/>
              </a:rPr>
              <a:t>Exit criterion</a:t>
            </a:r>
            <a:endParaRPr lang="en-US" sz="1500" b="0" u="none" strike="noStrike">
              <a:solidFill>
                <a:srgbClr val="000000"/>
              </a:solidFill>
              <a:effectLst/>
              <a:uFillTx/>
              <a:latin typeface="Arial"/>
            </a:endParaRPr>
          </a:p>
        </p:txBody>
      </p:sp>
      <p:sp>
        <p:nvSpPr>
          <p:cNvPr id="394" name="Text 6"/>
          <p:cNvSpPr/>
          <p:nvPr/>
        </p:nvSpPr>
        <p:spPr>
          <a:xfrm>
            <a:off x="8001000" y="2039040"/>
            <a:ext cx="3035520" cy="2605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A fresh clone can create the environment; local ADNI files are discoverable through configuration; raw data are not committed to public version control.</a:t>
            </a:r>
            <a:endParaRPr lang="en-US" sz="1250" b="0" u="none" strike="noStrike">
              <a:solidFill>
                <a:srgbClr val="000000"/>
              </a:solidFill>
              <a:effectLst/>
              <a:uFillTx/>
              <a:latin typeface="Arial"/>
            </a:endParaRPr>
          </a:p>
        </p:txBody>
      </p:sp>
      <p:sp>
        <p:nvSpPr>
          <p:cNvPr id="395" name="PlaceHolder 1"/>
          <p:cNvSpPr>
            <a:spLocks noGrp="1"/>
          </p:cNvSpPr>
          <p:nvPr>
            <p:ph type="sldNum" idx="19"/>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24</a:t>
            </a:r>
            <a:endParaRPr lang="en-US" sz="800" b="0" u="none" strike="noStrike">
              <a:solidFill>
                <a:srgbClr val="000000"/>
              </a:solidFill>
              <a:effectLst/>
              <a:uFillTx/>
              <a:latin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Phase 1 — Cohort construction</a:t>
            </a:r>
            <a:endParaRPr lang="en-US" sz="2800" b="0" u="none" strike="noStrike">
              <a:solidFill>
                <a:srgbClr val="000000"/>
              </a:solidFill>
              <a:effectLst/>
              <a:uFillTx/>
              <a:latin typeface="Arial"/>
            </a:endParaRPr>
          </a:p>
        </p:txBody>
      </p:sp>
      <p:sp>
        <p:nvSpPr>
          <p:cNvPr id="398" name="Text 2"/>
          <p:cNvSpPr/>
          <p:nvPr/>
        </p:nvSpPr>
        <p:spPr>
          <a:xfrm>
            <a:off x="731520" y="1280160"/>
            <a:ext cx="6674760" cy="4663080"/>
          </a:xfrm>
          <a:prstGeom prst="rect">
            <a:avLst/>
          </a:prstGeom>
          <a:noFill/>
          <a:ln w="0">
            <a:noFill/>
          </a:ln>
        </p:spPr>
        <p:style>
          <a:lnRef idx="0">
            <a:scrgbClr r="0" g="0" b="0"/>
          </a:lnRef>
          <a:fillRef idx="0">
            <a:scrgbClr r="0" g="0" b="0"/>
          </a:fillRef>
          <a:effectRef idx="0">
            <a:scrgbClr r="0" g="0" b="0"/>
          </a:effectRef>
          <a:fontRef idx="minor"/>
        </p:style>
        <p:txBody>
          <a:bodyPr lIns="38160" tIns="38160" rIns="38160" bIns="38160" anchor="t">
            <a:noAutofit/>
          </a:bodyPr>
          <a:lstStyle/>
          <a:p>
            <a:pPr marL="228600" indent="-228600" defTabSz="914400">
              <a:lnSpc>
                <a:spcPct val="100000"/>
              </a:lnSpc>
              <a:buClr>
                <a:srgbClr val="203040"/>
              </a:buClr>
              <a:buFont typeface="Symbol" charset="2"/>
              <a:buChar char=""/>
            </a:pPr>
            <a:r>
              <a:rPr lang="en-US" sz="1650" b="0" u="none" strike="noStrike">
                <a:solidFill>
                  <a:srgbClr val="203040"/>
                </a:solidFill>
                <a:effectLst/>
                <a:uFillTx/>
                <a:latin typeface="Aptos"/>
              </a:rPr>
              <a:t>Import the provided diagnosis, demographics and core cognitive tables first.</a:t>
            </a:r>
            <a:endParaRPr lang="en-US" sz="165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650" b="0" u="none" strike="noStrike">
                <a:solidFill>
                  <a:srgbClr val="203040"/>
                </a:solidFill>
                <a:effectLst/>
                <a:uFillTx/>
                <a:latin typeface="Aptos"/>
              </a:rPr>
              <a:t>Normalize participant identifiers, visit codes and dates without destroying original values.</a:t>
            </a:r>
            <a:endParaRPr lang="en-US" sz="165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650" b="0" u="none" strike="noStrike">
                <a:solidFill>
                  <a:srgbClr val="203040"/>
                </a:solidFill>
                <a:effectLst/>
                <a:uFillTx/>
                <a:latin typeface="Aptos"/>
              </a:rPr>
              <a:t>Create a canonical visit timeline for every participant.</a:t>
            </a:r>
            <a:endParaRPr lang="en-US" sz="165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650" b="0" u="none" strike="noStrike">
                <a:solidFill>
                  <a:srgbClr val="203040"/>
                </a:solidFill>
                <a:effectLst/>
                <a:uFillTx/>
                <a:latin typeface="Aptos"/>
              </a:rPr>
              <a:t>Define CN/MCI/AD label rules and document phase-specific diagnosis mappings.</a:t>
            </a:r>
            <a:endParaRPr lang="en-US" sz="165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650" b="0" u="none" strike="noStrike">
                <a:solidFill>
                  <a:srgbClr val="203040"/>
                </a:solidFill>
                <a:effectLst/>
                <a:uFillTx/>
                <a:latin typeface="Aptos"/>
              </a:rPr>
              <a:t>Produce cohort attrition tables: downloaded → eligible → included → excluded, with reasons.</a:t>
            </a:r>
            <a:endParaRPr lang="en-US" sz="165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650" b="0" u="none" strike="noStrike">
                <a:solidFill>
                  <a:srgbClr val="203040"/>
                </a:solidFill>
                <a:effectLst/>
                <a:uFillTx/>
                <a:latin typeface="Aptos"/>
              </a:rPr>
              <a:t>Add modality-availability flags for every participant/visit.</a:t>
            </a:r>
            <a:endParaRPr lang="en-US" sz="1650" b="0" u="none" strike="noStrike">
              <a:solidFill>
                <a:srgbClr val="000000"/>
              </a:solidFill>
              <a:effectLst/>
              <a:uFillTx/>
              <a:latin typeface="Arial"/>
            </a:endParaRPr>
          </a:p>
        </p:txBody>
      </p:sp>
      <p:sp>
        <p:nvSpPr>
          <p:cNvPr id="399" name="Shape 3"/>
          <p:cNvSpPr/>
          <p:nvPr/>
        </p:nvSpPr>
        <p:spPr>
          <a:xfrm>
            <a:off x="7818120" y="1463040"/>
            <a:ext cx="3382920" cy="3382920"/>
          </a:xfrm>
          <a:prstGeom prst="roundRect">
            <a:avLst>
              <a:gd name="adj" fmla="val 1622"/>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400" name="Shape 4"/>
          <p:cNvSpPr/>
          <p:nvPr/>
        </p:nvSpPr>
        <p:spPr>
          <a:xfrm>
            <a:off x="7818120" y="1463040"/>
            <a:ext cx="72720" cy="338292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401" name="Text 5"/>
          <p:cNvSpPr/>
          <p:nvPr/>
        </p:nvSpPr>
        <p:spPr>
          <a:xfrm>
            <a:off x="8001000" y="1609200"/>
            <a:ext cx="30628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F8B8D"/>
                </a:solidFill>
                <a:effectLst/>
                <a:uFillTx/>
                <a:latin typeface="Aptos"/>
              </a:rPr>
              <a:t>Deliverable D1</a:t>
            </a:r>
            <a:endParaRPr lang="en-US" sz="1500" b="0" u="none" strike="noStrike">
              <a:solidFill>
                <a:srgbClr val="000000"/>
              </a:solidFill>
              <a:effectLst/>
              <a:uFillTx/>
              <a:latin typeface="Arial"/>
            </a:endParaRPr>
          </a:p>
        </p:txBody>
      </p:sp>
      <p:sp>
        <p:nvSpPr>
          <p:cNvPr id="402" name="Text 6"/>
          <p:cNvSpPr/>
          <p:nvPr/>
        </p:nvSpPr>
        <p:spPr>
          <a:xfrm>
            <a:off x="8001000" y="1993320"/>
            <a:ext cx="3035520" cy="274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Data &amp; cohort specification containing variables, inclusion/exclusion rules, labels, horizons and provenance.</a:t>
            </a:r>
            <a:endParaRPr lang="en-US" sz="1250" b="0" u="none" strike="noStrike">
              <a:solidFill>
                <a:srgbClr val="000000"/>
              </a:solidFill>
              <a:effectLst/>
              <a:uFillTx/>
              <a:latin typeface="Arial"/>
            </a:endParaRPr>
          </a:p>
        </p:txBody>
      </p:sp>
      <p:sp>
        <p:nvSpPr>
          <p:cNvPr id="403" name="PlaceHolder 1"/>
          <p:cNvSpPr>
            <a:spLocks noGrp="1"/>
          </p:cNvSpPr>
          <p:nvPr>
            <p:ph type="sldNum" idx="20"/>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25</a:t>
            </a:r>
            <a:endParaRPr lang="en-US" sz="800" b="0" u="none" strike="noStrike">
              <a:solidFill>
                <a:srgbClr val="000000"/>
              </a:solidFill>
              <a:effectLst/>
              <a:uFillTx/>
              <a:latin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TextBox 2"/>
          <p:cNvSpPr/>
          <p:nvPr/>
        </p:nvSpPr>
        <p:spPr>
          <a:xfrm>
            <a:off x="502920" y="621720"/>
            <a:ext cx="11155320" cy="5666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2700" b="1" u="none" strike="noStrike">
                <a:solidFill>
                  <a:srgbClr val="082A43"/>
                </a:solidFill>
                <a:effectLst/>
                <a:uFillTx/>
                <a:latin typeface="Aptos"/>
              </a:rPr>
              <a:t>Phase 2 — Five base learners</a:t>
            </a:r>
            <a:endParaRPr lang="en-US" sz="2700" b="0" u="none" strike="noStrike">
              <a:solidFill>
                <a:srgbClr val="000000"/>
              </a:solidFill>
              <a:effectLst/>
              <a:uFillTx/>
              <a:latin typeface="Arial"/>
            </a:endParaRPr>
          </a:p>
        </p:txBody>
      </p:sp>
      <p:sp>
        <p:nvSpPr>
          <p:cNvPr id="406" name="TextBox 3"/>
          <p:cNvSpPr/>
          <p:nvPr/>
        </p:nvSpPr>
        <p:spPr>
          <a:xfrm>
            <a:off x="530280" y="122544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5A6973"/>
                </a:solidFill>
                <a:effectLst/>
                <a:uFillTx/>
                <a:latin typeface="Aptos"/>
              </a:rPr>
              <a:t>Train the same five model families under the same patient-level split and preprocessing protocol.</a:t>
            </a:r>
            <a:endParaRPr lang="en-US" sz="1300" b="0" u="none" strike="noStrike">
              <a:solidFill>
                <a:srgbClr val="000000"/>
              </a:solidFill>
              <a:effectLst/>
              <a:uFillTx/>
              <a:latin typeface="Arial"/>
            </a:endParaRPr>
          </a:p>
        </p:txBody>
      </p:sp>
      <p:cxnSp>
        <p:nvCxnSpPr>
          <p:cNvPr id="407" name="Connector 4"/>
          <p:cNvCxnSpPr/>
          <p:nvPr/>
        </p:nvCxnSpPr>
        <p:spPr>
          <a:xfrm>
            <a:off x="502920" y="1764720"/>
            <a:ext cx="11156040" cy="360"/>
          </a:xfrm>
          <a:prstGeom prst="straightConnector1">
            <a:avLst/>
          </a:prstGeom>
          <a:ln w="17780">
            <a:solidFill>
              <a:srgbClr val="008197"/>
            </a:solidFill>
          </a:ln>
        </p:spPr>
      </p:cxnSp>
      <p:sp>
        <p:nvSpPr>
          <p:cNvPr id="408" name="Rounded Rectangle 5"/>
          <p:cNvSpPr/>
          <p:nvPr/>
        </p:nvSpPr>
        <p:spPr>
          <a:xfrm>
            <a:off x="502920" y="2148840"/>
            <a:ext cx="1874160" cy="86832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r>
              <a:rPr lang="en-US" sz="1700" b="1" u="none" strike="noStrike">
                <a:solidFill>
                  <a:srgbClr val="FFFFFF"/>
                </a:solidFill>
                <a:effectLst/>
                <a:uFillTx/>
                <a:latin typeface="Aptos"/>
              </a:rPr>
              <a:t>Logistic</a:t>
            </a:r>
            <a:endParaRPr lang="en-US" sz="1700" b="0" u="none" strike="noStrike">
              <a:solidFill>
                <a:srgbClr val="FFFFFF"/>
              </a:solidFill>
              <a:effectLst/>
              <a:uFillTx/>
              <a:latin typeface="Arial"/>
            </a:endParaRPr>
          </a:p>
          <a:p>
            <a:pPr algn="ctr" defTabSz="914400">
              <a:lnSpc>
                <a:spcPct val="100000"/>
              </a:lnSpc>
            </a:pPr>
            <a:r>
              <a:rPr lang="en-US" sz="1700" b="1" u="none" strike="noStrike">
                <a:solidFill>
                  <a:srgbClr val="FFFFFF"/>
                </a:solidFill>
                <a:effectLst/>
                <a:uFillTx/>
                <a:latin typeface="Aptos"/>
              </a:rPr>
              <a:t>Regression</a:t>
            </a:r>
            <a:endParaRPr lang="en-US" sz="1700" b="0" u="none" strike="noStrike">
              <a:solidFill>
                <a:srgbClr val="FFFFFF"/>
              </a:solidFill>
              <a:effectLst/>
              <a:uFillTx/>
              <a:latin typeface="Arial"/>
            </a:endParaRPr>
          </a:p>
        </p:txBody>
      </p:sp>
      <p:sp>
        <p:nvSpPr>
          <p:cNvPr id="409" name="TextBox 6"/>
          <p:cNvSpPr/>
          <p:nvPr/>
        </p:nvSpPr>
        <p:spPr>
          <a:xfrm>
            <a:off x="502920" y="3090600"/>
            <a:ext cx="1874160" cy="2739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1" u="none" strike="noStrike">
                <a:solidFill>
                  <a:srgbClr val="5A6973"/>
                </a:solidFill>
                <a:effectLst/>
                <a:uFillTx/>
                <a:latin typeface="Aptos"/>
              </a:rPr>
              <a:t>M1</a:t>
            </a:r>
            <a:endParaRPr lang="en-US" sz="1100" b="0" u="none" strike="noStrike">
              <a:solidFill>
                <a:srgbClr val="000000"/>
              </a:solidFill>
              <a:effectLst/>
              <a:uFillTx/>
              <a:latin typeface="Arial"/>
            </a:endParaRPr>
          </a:p>
        </p:txBody>
      </p:sp>
      <p:sp>
        <p:nvSpPr>
          <p:cNvPr id="410" name="TextBox 7"/>
          <p:cNvSpPr/>
          <p:nvPr/>
        </p:nvSpPr>
        <p:spPr>
          <a:xfrm>
            <a:off x="502920" y="3401640"/>
            <a:ext cx="187416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200" b="0" u="none" strike="noStrike">
                <a:solidFill>
                  <a:srgbClr val="1E2D37"/>
                </a:solidFill>
                <a:effectLst/>
                <a:uFillTx/>
                <a:latin typeface="Aptos"/>
              </a:rPr>
              <a:t>linear + transparent</a:t>
            </a:r>
            <a:endParaRPr lang="en-US" sz="1200" b="0" u="none" strike="noStrike">
              <a:solidFill>
                <a:srgbClr val="000000"/>
              </a:solidFill>
              <a:effectLst/>
              <a:uFillTx/>
              <a:latin typeface="Arial"/>
            </a:endParaRPr>
          </a:p>
        </p:txBody>
      </p:sp>
      <p:sp>
        <p:nvSpPr>
          <p:cNvPr id="411" name="Rounded Rectangle 8"/>
          <p:cNvSpPr/>
          <p:nvPr/>
        </p:nvSpPr>
        <p:spPr>
          <a:xfrm>
            <a:off x="2788920" y="2148840"/>
            <a:ext cx="1874160" cy="86832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700" b="1" u="none" strike="noStrike">
                <a:solidFill>
                  <a:srgbClr val="FFFFFF"/>
                </a:solidFill>
                <a:effectLst/>
                <a:uFillTx/>
                <a:latin typeface="Aptos"/>
              </a:rPr>
              <a:t>SVM (RBF)</a:t>
            </a:r>
            <a:endParaRPr lang="en-US" sz="1700" b="0" u="none" strike="noStrike">
              <a:solidFill>
                <a:srgbClr val="FFFFFF"/>
              </a:solidFill>
              <a:effectLst/>
              <a:uFillTx/>
              <a:latin typeface="Arial"/>
            </a:endParaRPr>
          </a:p>
        </p:txBody>
      </p:sp>
      <p:sp>
        <p:nvSpPr>
          <p:cNvPr id="412" name="TextBox 9"/>
          <p:cNvSpPr/>
          <p:nvPr/>
        </p:nvSpPr>
        <p:spPr>
          <a:xfrm>
            <a:off x="2788920" y="3090600"/>
            <a:ext cx="1874160" cy="2739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1" u="none" strike="noStrike">
                <a:solidFill>
                  <a:srgbClr val="5A6973"/>
                </a:solidFill>
                <a:effectLst/>
                <a:uFillTx/>
                <a:latin typeface="Aptos"/>
              </a:rPr>
              <a:t>M2</a:t>
            </a:r>
            <a:endParaRPr lang="en-US" sz="1100" b="0" u="none" strike="noStrike">
              <a:solidFill>
                <a:srgbClr val="000000"/>
              </a:solidFill>
              <a:effectLst/>
              <a:uFillTx/>
              <a:latin typeface="Arial"/>
            </a:endParaRPr>
          </a:p>
        </p:txBody>
      </p:sp>
      <p:sp>
        <p:nvSpPr>
          <p:cNvPr id="413" name="TextBox 10"/>
          <p:cNvSpPr/>
          <p:nvPr/>
        </p:nvSpPr>
        <p:spPr>
          <a:xfrm>
            <a:off x="2788920" y="3401640"/>
            <a:ext cx="187416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200" b="0" u="none" strike="noStrike">
                <a:solidFill>
                  <a:srgbClr val="1E2D37"/>
                </a:solidFill>
                <a:effectLst/>
                <a:uFillTx/>
                <a:latin typeface="Aptos"/>
              </a:rPr>
              <a:t>nonlinear margin</a:t>
            </a:r>
            <a:endParaRPr lang="en-US" sz="1200" b="0" u="none" strike="noStrike">
              <a:solidFill>
                <a:srgbClr val="000000"/>
              </a:solidFill>
              <a:effectLst/>
              <a:uFillTx/>
              <a:latin typeface="Arial"/>
            </a:endParaRPr>
          </a:p>
        </p:txBody>
      </p:sp>
      <p:sp>
        <p:nvSpPr>
          <p:cNvPr id="414" name="Rounded Rectangle 11"/>
          <p:cNvSpPr/>
          <p:nvPr/>
        </p:nvSpPr>
        <p:spPr>
          <a:xfrm>
            <a:off x="5074920" y="2148840"/>
            <a:ext cx="1874160" cy="868320"/>
          </a:xfrm>
          <a:prstGeom prst="roundRect">
            <a:avLst>
              <a:gd name="adj" fmla="val 16667"/>
            </a:avLst>
          </a:prstGeom>
          <a:solidFill>
            <a:srgbClr val="229777"/>
          </a:solidFill>
          <a:ln>
            <a:solidFill>
              <a:srgbClr val="22977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r>
              <a:rPr lang="en-US" sz="1700" b="1" u="none" strike="noStrike">
                <a:solidFill>
                  <a:srgbClr val="FFFFFF"/>
                </a:solidFill>
                <a:effectLst/>
                <a:uFillTx/>
                <a:latin typeface="Aptos"/>
              </a:rPr>
              <a:t>Random</a:t>
            </a:r>
            <a:endParaRPr lang="en-US" sz="1700" b="0" u="none" strike="noStrike">
              <a:solidFill>
                <a:srgbClr val="FFFFFF"/>
              </a:solidFill>
              <a:effectLst/>
              <a:uFillTx/>
              <a:latin typeface="Arial"/>
            </a:endParaRPr>
          </a:p>
          <a:p>
            <a:pPr algn="ctr" defTabSz="914400">
              <a:lnSpc>
                <a:spcPct val="100000"/>
              </a:lnSpc>
            </a:pPr>
            <a:r>
              <a:rPr lang="en-US" sz="1700" b="1" u="none" strike="noStrike">
                <a:solidFill>
                  <a:srgbClr val="FFFFFF"/>
                </a:solidFill>
                <a:effectLst/>
                <a:uFillTx/>
                <a:latin typeface="Aptos"/>
              </a:rPr>
              <a:t>Forest</a:t>
            </a:r>
            <a:endParaRPr lang="en-US" sz="1700" b="0" u="none" strike="noStrike">
              <a:solidFill>
                <a:srgbClr val="FFFFFF"/>
              </a:solidFill>
              <a:effectLst/>
              <a:uFillTx/>
              <a:latin typeface="Arial"/>
            </a:endParaRPr>
          </a:p>
        </p:txBody>
      </p:sp>
      <p:sp>
        <p:nvSpPr>
          <p:cNvPr id="415" name="TextBox 12"/>
          <p:cNvSpPr/>
          <p:nvPr/>
        </p:nvSpPr>
        <p:spPr>
          <a:xfrm>
            <a:off x="5074920" y="3090600"/>
            <a:ext cx="1874160" cy="2739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1" u="none" strike="noStrike">
                <a:solidFill>
                  <a:srgbClr val="5A6973"/>
                </a:solidFill>
                <a:effectLst/>
                <a:uFillTx/>
                <a:latin typeface="Aptos"/>
              </a:rPr>
              <a:t>M3</a:t>
            </a:r>
            <a:endParaRPr lang="en-US" sz="1100" b="0" u="none" strike="noStrike">
              <a:solidFill>
                <a:srgbClr val="000000"/>
              </a:solidFill>
              <a:effectLst/>
              <a:uFillTx/>
              <a:latin typeface="Arial"/>
            </a:endParaRPr>
          </a:p>
        </p:txBody>
      </p:sp>
      <p:sp>
        <p:nvSpPr>
          <p:cNvPr id="416" name="TextBox 13"/>
          <p:cNvSpPr/>
          <p:nvPr/>
        </p:nvSpPr>
        <p:spPr>
          <a:xfrm>
            <a:off x="5074920" y="3401640"/>
            <a:ext cx="187416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200" b="0" u="none" strike="noStrike">
                <a:solidFill>
                  <a:srgbClr val="1E2D37"/>
                </a:solidFill>
                <a:effectLst/>
                <a:uFillTx/>
                <a:latin typeface="Aptos"/>
              </a:rPr>
              <a:t>bagging / trees</a:t>
            </a:r>
            <a:endParaRPr lang="en-US" sz="1200" b="0" u="none" strike="noStrike">
              <a:solidFill>
                <a:srgbClr val="000000"/>
              </a:solidFill>
              <a:effectLst/>
              <a:uFillTx/>
              <a:latin typeface="Arial"/>
            </a:endParaRPr>
          </a:p>
        </p:txBody>
      </p:sp>
      <p:sp>
        <p:nvSpPr>
          <p:cNvPr id="417" name="Rounded Rectangle 14"/>
          <p:cNvSpPr/>
          <p:nvPr/>
        </p:nvSpPr>
        <p:spPr>
          <a:xfrm>
            <a:off x="7360920" y="2148840"/>
            <a:ext cx="1874160" cy="868320"/>
          </a:xfrm>
          <a:prstGeom prst="roundRect">
            <a:avLst>
              <a:gd name="adj" fmla="val 16667"/>
            </a:avLst>
          </a:prstGeom>
          <a:solidFill>
            <a:srgbClr val="DB9D29"/>
          </a:solidFill>
          <a:ln>
            <a:solidFill>
              <a:srgbClr val="DB9D2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700" b="1" u="none" strike="noStrike">
                <a:solidFill>
                  <a:srgbClr val="FFFFFF"/>
                </a:solidFill>
                <a:effectLst/>
                <a:uFillTx/>
                <a:latin typeface="Aptos"/>
              </a:rPr>
              <a:t>XGBoost</a:t>
            </a:r>
            <a:endParaRPr lang="en-US" sz="1700" b="0" u="none" strike="noStrike">
              <a:solidFill>
                <a:srgbClr val="000000"/>
              </a:solidFill>
              <a:effectLst/>
              <a:uFillTx/>
              <a:latin typeface="Arial"/>
            </a:endParaRPr>
          </a:p>
        </p:txBody>
      </p:sp>
      <p:sp>
        <p:nvSpPr>
          <p:cNvPr id="418" name="TextBox 15"/>
          <p:cNvSpPr/>
          <p:nvPr/>
        </p:nvSpPr>
        <p:spPr>
          <a:xfrm>
            <a:off x="7360920" y="3090600"/>
            <a:ext cx="1874160" cy="2739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1" u="none" strike="noStrike">
                <a:solidFill>
                  <a:srgbClr val="5A6973"/>
                </a:solidFill>
                <a:effectLst/>
                <a:uFillTx/>
                <a:latin typeface="Aptos"/>
              </a:rPr>
              <a:t>M4</a:t>
            </a:r>
            <a:endParaRPr lang="en-US" sz="1100" b="0" u="none" strike="noStrike">
              <a:solidFill>
                <a:srgbClr val="000000"/>
              </a:solidFill>
              <a:effectLst/>
              <a:uFillTx/>
              <a:latin typeface="Arial"/>
            </a:endParaRPr>
          </a:p>
        </p:txBody>
      </p:sp>
      <p:sp>
        <p:nvSpPr>
          <p:cNvPr id="419" name="TextBox 16"/>
          <p:cNvSpPr/>
          <p:nvPr/>
        </p:nvSpPr>
        <p:spPr>
          <a:xfrm>
            <a:off x="7360920" y="3401640"/>
            <a:ext cx="187416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200" b="0" u="none" strike="noStrike">
                <a:solidFill>
                  <a:srgbClr val="1E2D37"/>
                </a:solidFill>
                <a:effectLst/>
                <a:uFillTx/>
                <a:latin typeface="Aptos"/>
              </a:rPr>
              <a:t>gradient boosting</a:t>
            </a:r>
            <a:endParaRPr lang="en-US" sz="1200" b="0" u="none" strike="noStrike">
              <a:solidFill>
                <a:srgbClr val="000000"/>
              </a:solidFill>
              <a:effectLst/>
              <a:uFillTx/>
              <a:latin typeface="Arial"/>
            </a:endParaRPr>
          </a:p>
        </p:txBody>
      </p:sp>
      <p:sp>
        <p:nvSpPr>
          <p:cNvPr id="420" name="Rounded Rectangle 17"/>
          <p:cNvSpPr/>
          <p:nvPr/>
        </p:nvSpPr>
        <p:spPr>
          <a:xfrm>
            <a:off x="9646920" y="2148840"/>
            <a:ext cx="1874160" cy="868320"/>
          </a:xfrm>
          <a:prstGeom prst="roundRect">
            <a:avLst>
              <a:gd name="adj" fmla="val 16667"/>
            </a:avLst>
          </a:prstGeom>
          <a:solidFill>
            <a:srgbClr val="C94F48"/>
          </a:solidFill>
          <a:ln>
            <a:solidFill>
              <a:srgbClr val="C94F48"/>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700" b="1" u="none" strike="noStrike">
                <a:solidFill>
                  <a:srgbClr val="FFFFFF"/>
                </a:solidFill>
                <a:effectLst/>
                <a:uFillTx/>
                <a:latin typeface="Aptos"/>
              </a:rPr>
              <a:t>MLP</a:t>
            </a:r>
            <a:endParaRPr lang="en-US" sz="1700" b="0" u="none" strike="noStrike">
              <a:solidFill>
                <a:srgbClr val="FFFFFF"/>
              </a:solidFill>
              <a:effectLst/>
              <a:uFillTx/>
              <a:latin typeface="Arial"/>
            </a:endParaRPr>
          </a:p>
        </p:txBody>
      </p:sp>
      <p:sp>
        <p:nvSpPr>
          <p:cNvPr id="421" name="TextBox 18"/>
          <p:cNvSpPr/>
          <p:nvPr/>
        </p:nvSpPr>
        <p:spPr>
          <a:xfrm>
            <a:off x="9646920" y="3090600"/>
            <a:ext cx="1874160" cy="2739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1" u="none" strike="noStrike">
                <a:solidFill>
                  <a:srgbClr val="5A6973"/>
                </a:solidFill>
                <a:effectLst/>
                <a:uFillTx/>
                <a:latin typeface="Aptos"/>
              </a:rPr>
              <a:t>M5</a:t>
            </a:r>
            <a:endParaRPr lang="en-US" sz="1100" b="0" u="none" strike="noStrike">
              <a:solidFill>
                <a:srgbClr val="000000"/>
              </a:solidFill>
              <a:effectLst/>
              <a:uFillTx/>
              <a:latin typeface="Arial"/>
            </a:endParaRPr>
          </a:p>
        </p:txBody>
      </p:sp>
      <p:sp>
        <p:nvSpPr>
          <p:cNvPr id="422" name="TextBox 19"/>
          <p:cNvSpPr/>
          <p:nvPr/>
        </p:nvSpPr>
        <p:spPr>
          <a:xfrm>
            <a:off x="9646920" y="3401640"/>
            <a:ext cx="187416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200" b="0" u="none" strike="noStrike">
                <a:solidFill>
                  <a:srgbClr val="1E2D37"/>
                </a:solidFill>
                <a:effectLst/>
                <a:uFillTx/>
                <a:latin typeface="Aptos"/>
              </a:rPr>
              <a:t>neural nonlinear</a:t>
            </a:r>
            <a:endParaRPr lang="en-US" sz="1200" b="0" u="none" strike="noStrike">
              <a:solidFill>
                <a:srgbClr val="000000"/>
              </a:solidFill>
              <a:effectLst/>
              <a:uFillTx/>
              <a:latin typeface="Arial"/>
            </a:endParaRPr>
          </a:p>
        </p:txBody>
      </p:sp>
      <p:sp>
        <p:nvSpPr>
          <p:cNvPr id="423" name="Rounded Rectangle 20"/>
          <p:cNvSpPr/>
          <p:nvPr/>
        </p:nvSpPr>
        <p:spPr>
          <a:xfrm>
            <a:off x="914400" y="4251960"/>
            <a:ext cx="10149480" cy="594000"/>
          </a:xfrm>
          <a:prstGeom prst="roundRect">
            <a:avLst>
              <a:gd name="adj" fmla="val 16667"/>
            </a:avLst>
          </a:prstGeom>
          <a:solidFill>
            <a:srgbClr val="082A43"/>
          </a:solidFill>
          <a:ln>
            <a:solidFill>
              <a:srgbClr val="082A43"/>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800" b="1" u="none" strike="noStrike">
                <a:solidFill>
                  <a:srgbClr val="FFFFFF"/>
                </a:solidFill>
                <a:effectLst/>
                <a:uFillTx/>
                <a:latin typeface="Aptos"/>
              </a:rPr>
              <a:t>Every model outputs probabilities — not only hard class labels</a:t>
            </a:r>
            <a:endParaRPr lang="en-US" sz="1800" b="0" u="none" strike="noStrike">
              <a:solidFill>
                <a:srgbClr val="FFFFFF"/>
              </a:solidFill>
              <a:effectLst/>
              <a:uFillTx/>
              <a:latin typeface="Arial"/>
            </a:endParaRPr>
          </a:p>
        </p:txBody>
      </p:sp>
      <p:sp>
        <p:nvSpPr>
          <p:cNvPr id="424" name="TextBox 21"/>
          <p:cNvSpPr/>
          <p:nvPr/>
        </p:nvSpPr>
        <p:spPr>
          <a:xfrm>
            <a:off x="822960" y="5166360"/>
            <a:ext cx="10332360" cy="6854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600" b="0" u="none" strike="noStrike">
                <a:solidFill>
                  <a:srgbClr val="1E2D37"/>
                </a:solidFill>
                <a:effectLst/>
                <a:uFillTx/>
                <a:latin typeface="Aptos"/>
              </a:rPr>
              <a:t>Fit imputation, scaling and feature selection inside training folds only. Hyperparameters are tuned without using the final test set.</a:t>
            </a:r>
            <a:endParaRPr lang="en-US" sz="1600" b="0" u="none" strike="noStrike">
              <a:solidFill>
                <a:srgbClr val="000000"/>
              </a:solidFill>
              <a:effectLst/>
              <a:uFillTx/>
              <a:latin typeface="Arial"/>
            </a:endParaRPr>
          </a:p>
        </p:txBody>
      </p:sp>
      <p:sp>
        <p:nvSpPr>
          <p:cNvPr id="425" name="TextBox 22"/>
          <p:cNvSpPr/>
          <p:nvPr/>
        </p:nvSpPr>
        <p:spPr>
          <a:xfrm>
            <a:off x="11384280" y="6537960"/>
            <a:ext cx="319680" cy="200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r" defTabSz="914400">
              <a:lnSpc>
                <a:spcPct val="100000"/>
              </a:lnSpc>
            </a:pPr>
            <a:r>
              <a:rPr sz="850">
                <a:solidFill>
                  <a:srgbClr val="607488"/>
                </a:solidFill>
                <a:latin typeface="Aptos"/>
              </a:rPr>
              <a:t>26</a:t>
            </a:r>
            <a:endParaRPr lang="en-US" sz="90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Phase 3 — Build the multimodal feature space</a:t>
            </a:r>
            <a:endParaRPr lang="en-US" sz="2800" b="0" u="none" strike="noStrike">
              <a:solidFill>
                <a:srgbClr val="000000"/>
              </a:solidFill>
              <a:effectLst/>
              <a:uFillTx/>
              <a:latin typeface="Arial"/>
            </a:endParaRPr>
          </a:p>
        </p:txBody>
      </p:sp>
      <p:sp>
        <p:nvSpPr>
          <p:cNvPr id="428" name="Shape 2"/>
          <p:cNvSpPr/>
          <p:nvPr/>
        </p:nvSpPr>
        <p:spPr>
          <a:xfrm>
            <a:off x="640080" y="1828800"/>
            <a:ext cx="1874160" cy="1234080"/>
          </a:xfrm>
          <a:prstGeom prst="roundRect">
            <a:avLst>
              <a:gd name="adj" fmla="val 16667"/>
            </a:avLst>
          </a:prstGeom>
          <a:solidFill>
            <a:srgbClr val="FFFFFF"/>
          </a:solidFill>
          <a:ln w="254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429" name="Text 3"/>
          <p:cNvSpPr/>
          <p:nvPr/>
        </p:nvSpPr>
        <p:spPr>
          <a:xfrm>
            <a:off x="777240" y="2075760"/>
            <a:ext cx="1599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0F8B8D"/>
                </a:solidFill>
                <a:effectLst/>
                <a:uFillTx/>
                <a:latin typeface="Aptos"/>
              </a:rPr>
              <a:t>Clinical + cognitive</a:t>
            </a:r>
            <a:endParaRPr lang="en-US" sz="1400" b="0" u="none" strike="noStrike">
              <a:solidFill>
                <a:srgbClr val="000000"/>
              </a:solidFill>
              <a:effectLst/>
              <a:uFillTx/>
              <a:latin typeface="Arial"/>
            </a:endParaRPr>
          </a:p>
        </p:txBody>
      </p:sp>
      <p:sp>
        <p:nvSpPr>
          <p:cNvPr id="430" name="Text 4"/>
          <p:cNvSpPr/>
          <p:nvPr/>
        </p:nvSpPr>
        <p:spPr>
          <a:xfrm>
            <a:off x="777240" y="249624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203040"/>
                </a:solidFill>
                <a:effectLst/>
                <a:uFillTx/>
                <a:latin typeface="Aptos"/>
              </a:rPr>
              <a:t>Foundation</a:t>
            </a:r>
            <a:endParaRPr lang="en-US" sz="1150" b="0" u="none" strike="noStrike">
              <a:solidFill>
                <a:srgbClr val="000000"/>
              </a:solidFill>
              <a:effectLst/>
              <a:uFillTx/>
              <a:latin typeface="Arial"/>
            </a:endParaRPr>
          </a:p>
        </p:txBody>
      </p:sp>
      <p:sp>
        <p:nvSpPr>
          <p:cNvPr id="431" name="Shape 5"/>
          <p:cNvSpPr/>
          <p:nvPr/>
        </p:nvSpPr>
        <p:spPr>
          <a:xfrm>
            <a:off x="2514600" y="2441160"/>
            <a:ext cx="338040" cy="360"/>
          </a:xfrm>
          <a:prstGeom prst="line">
            <a:avLst/>
          </a:prstGeom>
          <a:ln w="25400">
            <a:solidFill>
              <a:srgbClr val="9FB3C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432" name="Shape 6"/>
          <p:cNvSpPr/>
          <p:nvPr/>
        </p:nvSpPr>
        <p:spPr>
          <a:xfrm>
            <a:off x="2926080" y="1828800"/>
            <a:ext cx="1874160" cy="1234080"/>
          </a:xfrm>
          <a:prstGeom prst="roundRect">
            <a:avLst>
              <a:gd name="adj" fmla="val 16667"/>
            </a:avLst>
          </a:prstGeom>
          <a:solidFill>
            <a:srgbClr val="FFFFFF"/>
          </a:solidFill>
          <a:ln w="25400">
            <a:solidFill>
              <a:srgbClr val="C653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433" name="Text 7"/>
          <p:cNvSpPr/>
          <p:nvPr/>
        </p:nvSpPr>
        <p:spPr>
          <a:xfrm>
            <a:off x="3063240" y="2075760"/>
            <a:ext cx="1599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C65353"/>
                </a:solidFill>
                <a:effectLst/>
                <a:uFillTx/>
                <a:latin typeface="Aptos"/>
              </a:rPr>
              <a:t>+ APOE</a:t>
            </a:r>
            <a:endParaRPr lang="en-US" sz="1400" b="0" u="none" strike="noStrike">
              <a:solidFill>
                <a:srgbClr val="000000"/>
              </a:solidFill>
              <a:effectLst/>
              <a:uFillTx/>
              <a:latin typeface="Arial"/>
            </a:endParaRPr>
          </a:p>
        </p:txBody>
      </p:sp>
      <p:sp>
        <p:nvSpPr>
          <p:cNvPr id="434" name="Text 8"/>
          <p:cNvSpPr/>
          <p:nvPr/>
        </p:nvSpPr>
        <p:spPr>
          <a:xfrm>
            <a:off x="3063240" y="249624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203040"/>
                </a:solidFill>
                <a:effectLst/>
                <a:uFillTx/>
                <a:latin typeface="Aptos"/>
              </a:rPr>
              <a:t>Static biology</a:t>
            </a:r>
            <a:endParaRPr lang="en-US" sz="1150" b="0" u="none" strike="noStrike">
              <a:solidFill>
                <a:srgbClr val="000000"/>
              </a:solidFill>
              <a:effectLst/>
              <a:uFillTx/>
              <a:latin typeface="Arial"/>
            </a:endParaRPr>
          </a:p>
        </p:txBody>
      </p:sp>
      <p:sp>
        <p:nvSpPr>
          <p:cNvPr id="435" name="Shape 9"/>
          <p:cNvSpPr/>
          <p:nvPr/>
        </p:nvSpPr>
        <p:spPr>
          <a:xfrm>
            <a:off x="4800600" y="2441160"/>
            <a:ext cx="338040" cy="360"/>
          </a:xfrm>
          <a:prstGeom prst="line">
            <a:avLst/>
          </a:prstGeom>
          <a:ln w="25400">
            <a:solidFill>
              <a:srgbClr val="9FB3C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436" name="Shape 10"/>
          <p:cNvSpPr/>
          <p:nvPr/>
        </p:nvSpPr>
        <p:spPr>
          <a:xfrm>
            <a:off x="5212080" y="1828800"/>
            <a:ext cx="1874160" cy="1234080"/>
          </a:xfrm>
          <a:prstGeom prst="roundRect">
            <a:avLst>
              <a:gd name="adj" fmla="val 16667"/>
            </a:avLst>
          </a:prstGeom>
          <a:solidFill>
            <a:srgbClr val="FFFFFF"/>
          </a:solidFill>
          <a:ln w="25400">
            <a:solidFill>
              <a:srgbClr val="2E8B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437" name="Text 11"/>
          <p:cNvSpPr/>
          <p:nvPr/>
        </p:nvSpPr>
        <p:spPr>
          <a:xfrm>
            <a:off x="5349240" y="2075760"/>
            <a:ext cx="1599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2E8B68"/>
                </a:solidFill>
                <a:effectLst/>
                <a:uFillTx/>
                <a:latin typeface="Aptos"/>
              </a:rPr>
              <a:t>+ Biofluid</a:t>
            </a:r>
            <a:endParaRPr lang="en-US" sz="1400" b="0" u="none" strike="noStrike">
              <a:solidFill>
                <a:srgbClr val="000000"/>
              </a:solidFill>
              <a:effectLst/>
              <a:uFillTx/>
              <a:latin typeface="Arial"/>
            </a:endParaRPr>
          </a:p>
        </p:txBody>
      </p:sp>
      <p:sp>
        <p:nvSpPr>
          <p:cNvPr id="438" name="Text 12"/>
          <p:cNvSpPr/>
          <p:nvPr/>
        </p:nvSpPr>
        <p:spPr>
          <a:xfrm>
            <a:off x="5349240" y="249624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203040"/>
                </a:solidFill>
                <a:effectLst/>
                <a:uFillTx/>
                <a:latin typeface="Aptos"/>
              </a:rPr>
              <a:t>Biomarkers</a:t>
            </a:r>
            <a:endParaRPr lang="en-US" sz="1150" b="0" u="none" strike="noStrike">
              <a:solidFill>
                <a:srgbClr val="000000"/>
              </a:solidFill>
              <a:effectLst/>
              <a:uFillTx/>
              <a:latin typeface="Arial"/>
            </a:endParaRPr>
          </a:p>
        </p:txBody>
      </p:sp>
      <p:sp>
        <p:nvSpPr>
          <p:cNvPr id="439" name="Shape 13"/>
          <p:cNvSpPr/>
          <p:nvPr/>
        </p:nvSpPr>
        <p:spPr>
          <a:xfrm>
            <a:off x="7086600" y="2441160"/>
            <a:ext cx="338040" cy="360"/>
          </a:xfrm>
          <a:prstGeom prst="line">
            <a:avLst/>
          </a:prstGeom>
          <a:ln w="25400">
            <a:solidFill>
              <a:srgbClr val="9FB3C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440" name="Shape 14"/>
          <p:cNvSpPr/>
          <p:nvPr/>
        </p:nvSpPr>
        <p:spPr>
          <a:xfrm>
            <a:off x="7498080" y="1828800"/>
            <a:ext cx="1874160" cy="1234080"/>
          </a:xfrm>
          <a:prstGeom prst="roundRect">
            <a:avLst>
              <a:gd name="adj" fmla="val 16667"/>
            </a:avLst>
          </a:prstGeom>
          <a:solidFill>
            <a:srgbClr val="FFFFFF"/>
          </a:solidFill>
          <a:ln w="254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441" name="Text 15"/>
          <p:cNvSpPr/>
          <p:nvPr/>
        </p:nvSpPr>
        <p:spPr>
          <a:xfrm>
            <a:off x="7635240" y="2075760"/>
            <a:ext cx="1599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7357B4"/>
                </a:solidFill>
                <a:effectLst/>
                <a:uFillTx/>
                <a:latin typeface="Aptos"/>
              </a:rPr>
              <a:t>+ MRI numeric</a:t>
            </a:r>
            <a:endParaRPr lang="en-US" sz="1400" b="0" u="none" strike="noStrike">
              <a:solidFill>
                <a:srgbClr val="000000"/>
              </a:solidFill>
              <a:effectLst/>
              <a:uFillTx/>
              <a:latin typeface="Arial"/>
            </a:endParaRPr>
          </a:p>
        </p:txBody>
      </p:sp>
      <p:sp>
        <p:nvSpPr>
          <p:cNvPr id="442" name="Text 16"/>
          <p:cNvSpPr/>
          <p:nvPr/>
        </p:nvSpPr>
        <p:spPr>
          <a:xfrm>
            <a:off x="7635240" y="249624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203040"/>
                </a:solidFill>
                <a:effectLst/>
                <a:uFillTx/>
                <a:latin typeface="Aptos"/>
              </a:rPr>
              <a:t>Structural imaging</a:t>
            </a:r>
            <a:endParaRPr lang="en-US" sz="1150" b="0" u="none" strike="noStrike">
              <a:solidFill>
                <a:srgbClr val="000000"/>
              </a:solidFill>
              <a:effectLst/>
              <a:uFillTx/>
              <a:latin typeface="Arial"/>
            </a:endParaRPr>
          </a:p>
        </p:txBody>
      </p:sp>
      <p:sp>
        <p:nvSpPr>
          <p:cNvPr id="443" name="Shape 17"/>
          <p:cNvSpPr/>
          <p:nvPr/>
        </p:nvSpPr>
        <p:spPr>
          <a:xfrm>
            <a:off x="9372600" y="2441160"/>
            <a:ext cx="338040" cy="360"/>
          </a:xfrm>
          <a:prstGeom prst="line">
            <a:avLst/>
          </a:prstGeom>
          <a:ln w="25400">
            <a:solidFill>
              <a:srgbClr val="9FB3C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444" name="Shape 18"/>
          <p:cNvSpPr/>
          <p:nvPr/>
        </p:nvSpPr>
        <p:spPr>
          <a:xfrm>
            <a:off x="9784080" y="1828800"/>
            <a:ext cx="1874160" cy="1234080"/>
          </a:xfrm>
          <a:prstGeom prst="roundRect">
            <a:avLst>
              <a:gd name="adj" fmla="val 16667"/>
            </a:avLst>
          </a:prstGeom>
          <a:solidFill>
            <a:srgbClr val="FFFFFF"/>
          </a:solidFill>
          <a:ln w="25400">
            <a:solidFill>
              <a:srgbClr val="D99A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445" name="Text 19"/>
          <p:cNvSpPr/>
          <p:nvPr/>
        </p:nvSpPr>
        <p:spPr>
          <a:xfrm>
            <a:off x="9921240" y="2075760"/>
            <a:ext cx="1599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D99A22"/>
                </a:solidFill>
                <a:effectLst/>
                <a:uFillTx/>
                <a:latin typeface="Aptos"/>
              </a:rPr>
              <a:t>+ PET numeric</a:t>
            </a:r>
            <a:endParaRPr lang="en-US" sz="1400" b="0" u="none" strike="noStrike">
              <a:solidFill>
                <a:srgbClr val="000000"/>
              </a:solidFill>
              <a:effectLst/>
              <a:uFillTx/>
              <a:latin typeface="Arial"/>
            </a:endParaRPr>
          </a:p>
        </p:txBody>
      </p:sp>
      <p:sp>
        <p:nvSpPr>
          <p:cNvPr id="446" name="Text 20"/>
          <p:cNvSpPr/>
          <p:nvPr/>
        </p:nvSpPr>
        <p:spPr>
          <a:xfrm>
            <a:off x="9921240" y="249624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203040"/>
                </a:solidFill>
                <a:effectLst/>
                <a:uFillTx/>
                <a:latin typeface="Aptos"/>
              </a:rPr>
              <a:t>Molecular imaging</a:t>
            </a:r>
            <a:endParaRPr lang="en-US" sz="1150" b="0" u="none" strike="noStrike">
              <a:solidFill>
                <a:srgbClr val="000000"/>
              </a:solidFill>
              <a:effectLst/>
              <a:uFillTx/>
              <a:latin typeface="Arial"/>
            </a:endParaRPr>
          </a:p>
        </p:txBody>
      </p:sp>
      <p:sp>
        <p:nvSpPr>
          <p:cNvPr id="447" name="Text 21"/>
          <p:cNvSpPr/>
          <p:nvPr/>
        </p:nvSpPr>
        <p:spPr>
          <a:xfrm>
            <a:off x="914400" y="3703320"/>
            <a:ext cx="10332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3558"/>
                </a:solidFill>
                <a:effectLst/>
                <a:uFillTx/>
                <a:latin typeface="Aptos"/>
              </a:rPr>
              <a:t>At each step, record sample size, missingness, class balance and performance. A modality is not “useful” merely because it exists.</a:t>
            </a:r>
            <a:endParaRPr lang="en-US" sz="1800" b="0" u="none" strike="noStrike">
              <a:solidFill>
                <a:srgbClr val="000000"/>
              </a:solidFill>
              <a:effectLst/>
              <a:uFillTx/>
              <a:latin typeface="Arial"/>
            </a:endParaRPr>
          </a:p>
        </p:txBody>
      </p:sp>
      <p:sp>
        <p:nvSpPr>
          <p:cNvPr id="448" name="Shape 22"/>
          <p:cNvSpPr/>
          <p:nvPr/>
        </p:nvSpPr>
        <p:spPr>
          <a:xfrm>
            <a:off x="2880360" y="4572000"/>
            <a:ext cx="6309000" cy="1005480"/>
          </a:xfrm>
          <a:prstGeom prst="roundRect">
            <a:avLst>
              <a:gd name="adj" fmla="val 5455"/>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449" name="Shape 23"/>
          <p:cNvSpPr/>
          <p:nvPr/>
        </p:nvSpPr>
        <p:spPr>
          <a:xfrm>
            <a:off x="2880360" y="4572000"/>
            <a:ext cx="72720" cy="1005480"/>
          </a:xfrm>
          <a:prstGeom prst="rect">
            <a:avLst/>
          </a:prstGeom>
          <a:solidFill>
            <a:srgbClr val="D99A22"/>
          </a:solidFill>
          <a:ln w="12700">
            <a:solidFill>
              <a:srgbClr val="D99A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450" name="Text 24"/>
          <p:cNvSpPr/>
          <p:nvPr/>
        </p:nvSpPr>
        <p:spPr>
          <a:xfrm>
            <a:off x="3063240" y="4718160"/>
            <a:ext cx="5988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D99A22"/>
                </a:solidFill>
                <a:effectLst/>
                <a:uFillTx/>
                <a:latin typeface="Aptos"/>
              </a:rPr>
              <a:t>Decision rule</a:t>
            </a:r>
            <a:endParaRPr lang="en-US" sz="1500" b="0" u="none" strike="noStrike">
              <a:solidFill>
                <a:srgbClr val="000000"/>
              </a:solidFill>
              <a:effectLst/>
              <a:uFillTx/>
              <a:latin typeface="Arial"/>
            </a:endParaRPr>
          </a:p>
        </p:txBody>
      </p:sp>
      <p:sp>
        <p:nvSpPr>
          <p:cNvPr id="451" name="Text 25"/>
          <p:cNvSpPr/>
          <p:nvPr/>
        </p:nvSpPr>
        <p:spPr>
          <a:xfrm>
            <a:off x="3063240" y="5102280"/>
            <a:ext cx="59616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Expand only when the remaining cohort is large enough to support a defensible experiment.</a:t>
            </a:r>
            <a:endParaRPr lang="en-US" sz="1250" b="0" u="none" strike="noStrike">
              <a:solidFill>
                <a:srgbClr val="000000"/>
              </a:solidFill>
              <a:effectLst/>
              <a:uFillTx/>
              <a:latin typeface="Arial"/>
            </a:endParaRPr>
          </a:p>
        </p:txBody>
      </p:sp>
      <p:sp>
        <p:nvSpPr>
          <p:cNvPr id="452" name="PlaceHolder 1"/>
          <p:cNvSpPr>
            <a:spLocks noGrp="1"/>
          </p:cNvSpPr>
          <p:nvPr>
            <p:ph type="sldNum" idx="21"/>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27</a:t>
            </a:r>
            <a:endParaRPr lang="en-US" sz="800" b="0" u="none" strike="noStrike">
              <a:solidFill>
                <a:srgbClr val="000000"/>
              </a:solidFill>
              <a:effectLst/>
              <a:uFillTx/>
              <a:latin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TextBox 2"/>
          <p:cNvSpPr/>
          <p:nvPr/>
        </p:nvSpPr>
        <p:spPr>
          <a:xfrm>
            <a:off x="502920" y="621720"/>
            <a:ext cx="11155320" cy="5666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2700" b="1" u="none" strike="noStrike">
                <a:solidFill>
                  <a:srgbClr val="082A43"/>
                </a:solidFill>
                <a:effectLst/>
                <a:uFillTx/>
                <a:latin typeface="Aptos"/>
              </a:rPr>
              <a:t>Phase 4 — Ensemble methodology</a:t>
            </a:r>
            <a:endParaRPr lang="en-US" sz="2700" b="0" u="none" strike="noStrike">
              <a:solidFill>
                <a:srgbClr val="000000"/>
              </a:solidFill>
              <a:effectLst/>
              <a:uFillTx/>
              <a:latin typeface="Arial"/>
            </a:endParaRPr>
          </a:p>
        </p:txBody>
      </p:sp>
      <p:sp>
        <p:nvSpPr>
          <p:cNvPr id="455" name="TextBox 3"/>
          <p:cNvSpPr/>
          <p:nvPr/>
        </p:nvSpPr>
        <p:spPr>
          <a:xfrm>
            <a:off x="530280" y="122544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5A6973"/>
                </a:solidFill>
                <a:effectLst/>
                <a:uFillTx/>
                <a:latin typeface="Aptos"/>
              </a:rPr>
              <a:t>Five base learners generate probability vectors. Compare three ways of combining them.</a:t>
            </a:r>
            <a:endParaRPr lang="en-US" sz="1300" b="0" u="none" strike="noStrike">
              <a:solidFill>
                <a:srgbClr val="000000"/>
              </a:solidFill>
              <a:effectLst/>
              <a:uFillTx/>
              <a:latin typeface="Arial"/>
            </a:endParaRPr>
          </a:p>
        </p:txBody>
      </p:sp>
      <p:cxnSp>
        <p:nvCxnSpPr>
          <p:cNvPr id="456" name="Connector 4"/>
          <p:cNvCxnSpPr/>
          <p:nvPr/>
        </p:nvCxnSpPr>
        <p:spPr>
          <a:xfrm>
            <a:off x="502920" y="1764720"/>
            <a:ext cx="11156040" cy="360"/>
          </a:xfrm>
          <a:prstGeom prst="straightConnector1">
            <a:avLst/>
          </a:prstGeom>
          <a:ln w="17780">
            <a:solidFill>
              <a:srgbClr val="008197"/>
            </a:solidFill>
          </a:ln>
        </p:spPr>
      </p:cxnSp>
      <p:sp>
        <p:nvSpPr>
          <p:cNvPr id="457" name="Rounded Rectangle 5"/>
          <p:cNvSpPr/>
          <p:nvPr/>
        </p:nvSpPr>
        <p:spPr>
          <a:xfrm>
            <a:off x="594360" y="2103120"/>
            <a:ext cx="959760" cy="52992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400" b="1" u="none" strike="noStrike">
                <a:solidFill>
                  <a:srgbClr val="FFFFFF"/>
                </a:solidFill>
                <a:effectLst/>
                <a:uFillTx/>
                <a:latin typeface="Aptos"/>
              </a:rPr>
              <a:t>LR</a:t>
            </a:r>
            <a:endParaRPr lang="en-US" sz="1400" b="0" u="none" strike="noStrike">
              <a:solidFill>
                <a:srgbClr val="FFFFFF"/>
              </a:solidFill>
              <a:effectLst/>
              <a:uFillTx/>
              <a:latin typeface="Arial"/>
            </a:endParaRPr>
          </a:p>
        </p:txBody>
      </p:sp>
      <p:sp>
        <p:nvSpPr>
          <p:cNvPr id="458" name="Rounded Rectangle 6"/>
          <p:cNvSpPr/>
          <p:nvPr/>
        </p:nvSpPr>
        <p:spPr>
          <a:xfrm>
            <a:off x="1828800" y="2103120"/>
            <a:ext cx="959760" cy="52992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400" b="1" u="none" strike="noStrike">
                <a:solidFill>
                  <a:srgbClr val="FFFFFF"/>
                </a:solidFill>
                <a:effectLst/>
                <a:uFillTx/>
                <a:latin typeface="Aptos"/>
              </a:rPr>
              <a:t>SVM</a:t>
            </a:r>
            <a:endParaRPr lang="en-US" sz="1400" b="0" u="none" strike="noStrike">
              <a:solidFill>
                <a:srgbClr val="FFFFFF"/>
              </a:solidFill>
              <a:effectLst/>
              <a:uFillTx/>
              <a:latin typeface="Arial"/>
            </a:endParaRPr>
          </a:p>
        </p:txBody>
      </p:sp>
      <p:sp>
        <p:nvSpPr>
          <p:cNvPr id="459" name="Rounded Rectangle 7"/>
          <p:cNvSpPr/>
          <p:nvPr/>
        </p:nvSpPr>
        <p:spPr>
          <a:xfrm>
            <a:off x="3063240" y="2103120"/>
            <a:ext cx="959760" cy="529920"/>
          </a:xfrm>
          <a:prstGeom prst="roundRect">
            <a:avLst>
              <a:gd name="adj" fmla="val 16667"/>
            </a:avLst>
          </a:prstGeom>
          <a:solidFill>
            <a:srgbClr val="229777"/>
          </a:solidFill>
          <a:ln>
            <a:solidFill>
              <a:srgbClr val="22977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400" b="1" u="none" strike="noStrike">
                <a:solidFill>
                  <a:srgbClr val="FFFFFF"/>
                </a:solidFill>
                <a:effectLst/>
                <a:uFillTx/>
                <a:latin typeface="Aptos"/>
              </a:rPr>
              <a:t>RF</a:t>
            </a:r>
            <a:endParaRPr lang="en-US" sz="1400" b="0" u="none" strike="noStrike">
              <a:solidFill>
                <a:srgbClr val="FFFFFF"/>
              </a:solidFill>
              <a:effectLst/>
              <a:uFillTx/>
              <a:latin typeface="Arial"/>
            </a:endParaRPr>
          </a:p>
        </p:txBody>
      </p:sp>
      <p:sp>
        <p:nvSpPr>
          <p:cNvPr id="460" name="Rounded Rectangle 8"/>
          <p:cNvSpPr/>
          <p:nvPr/>
        </p:nvSpPr>
        <p:spPr>
          <a:xfrm>
            <a:off x="4297680" y="2103120"/>
            <a:ext cx="959760" cy="529920"/>
          </a:xfrm>
          <a:prstGeom prst="roundRect">
            <a:avLst>
              <a:gd name="adj" fmla="val 16667"/>
            </a:avLst>
          </a:prstGeom>
          <a:solidFill>
            <a:srgbClr val="DB9D29"/>
          </a:solidFill>
          <a:ln>
            <a:solidFill>
              <a:srgbClr val="DB9D2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400" b="1" u="none" strike="noStrike">
                <a:solidFill>
                  <a:srgbClr val="FFFFFF"/>
                </a:solidFill>
                <a:effectLst/>
                <a:uFillTx/>
                <a:latin typeface="Aptos"/>
              </a:rPr>
              <a:t>XGB</a:t>
            </a:r>
            <a:endParaRPr lang="en-US" sz="1400" b="0" u="none" strike="noStrike">
              <a:solidFill>
                <a:srgbClr val="000000"/>
              </a:solidFill>
              <a:effectLst/>
              <a:uFillTx/>
              <a:latin typeface="Arial"/>
            </a:endParaRPr>
          </a:p>
        </p:txBody>
      </p:sp>
      <p:sp>
        <p:nvSpPr>
          <p:cNvPr id="461" name="Rounded Rectangle 9"/>
          <p:cNvSpPr/>
          <p:nvPr/>
        </p:nvSpPr>
        <p:spPr>
          <a:xfrm>
            <a:off x="5532120" y="2103120"/>
            <a:ext cx="959760" cy="529920"/>
          </a:xfrm>
          <a:prstGeom prst="roundRect">
            <a:avLst>
              <a:gd name="adj" fmla="val 16667"/>
            </a:avLst>
          </a:prstGeom>
          <a:solidFill>
            <a:srgbClr val="C94F48"/>
          </a:solidFill>
          <a:ln>
            <a:solidFill>
              <a:srgbClr val="C94F48"/>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400" b="1" u="none" strike="noStrike">
                <a:solidFill>
                  <a:srgbClr val="FFFFFF"/>
                </a:solidFill>
                <a:effectLst/>
                <a:uFillTx/>
                <a:latin typeface="Aptos"/>
              </a:rPr>
              <a:t>MLP</a:t>
            </a:r>
            <a:endParaRPr lang="en-US" sz="1400" b="0" u="none" strike="noStrike">
              <a:solidFill>
                <a:srgbClr val="FFFFFF"/>
              </a:solidFill>
              <a:effectLst/>
              <a:uFillTx/>
              <a:latin typeface="Arial"/>
            </a:endParaRPr>
          </a:p>
        </p:txBody>
      </p:sp>
      <p:sp>
        <p:nvSpPr>
          <p:cNvPr id="462" name="TextBox 10"/>
          <p:cNvSpPr/>
          <p:nvPr/>
        </p:nvSpPr>
        <p:spPr>
          <a:xfrm>
            <a:off x="594360" y="1810440"/>
            <a:ext cx="5943240" cy="2282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000" b="1" u="none" strike="noStrike">
                <a:solidFill>
                  <a:srgbClr val="5A6973"/>
                </a:solidFill>
                <a:effectLst/>
                <a:uFillTx/>
                <a:latin typeface="Aptos"/>
              </a:rPr>
              <a:t>BASE LEARNERS</a:t>
            </a:r>
            <a:endParaRPr lang="en-US" sz="1000" b="0" u="none" strike="noStrike">
              <a:solidFill>
                <a:srgbClr val="000000"/>
              </a:solidFill>
              <a:effectLst/>
              <a:uFillTx/>
              <a:latin typeface="Arial"/>
            </a:endParaRPr>
          </a:p>
        </p:txBody>
      </p:sp>
      <p:cxnSp>
        <p:nvCxnSpPr>
          <p:cNvPr id="463" name="Connector 11"/>
          <p:cNvCxnSpPr/>
          <p:nvPr/>
        </p:nvCxnSpPr>
        <p:spPr>
          <a:xfrm>
            <a:off x="1069560" y="2651760"/>
            <a:ext cx="2588400" cy="594720"/>
          </a:xfrm>
          <a:prstGeom prst="straightConnector1">
            <a:avLst/>
          </a:prstGeom>
          <a:ln w="15240">
            <a:solidFill>
              <a:srgbClr val="5A6973"/>
            </a:solidFill>
          </a:ln>
        </p:spPr>
      </p:cxnSp>
      <p:cxnSp>
        <p:nvCxnSpPr>
          <p:cNvPr id="464" name="Connector 12"/>
          <p:cNvCxnSpPr/>
          <p:nvPr/>
        </p:nvCxnSpPr>
        <p:spPr>
          <a:xfrm>
            <a:off x="2304000" y="2651760"/>
            <a:ext cx="1353960" cy="594720"/>
          </a:xfrm>
          <a:prstGeom prst="straightConnector1">
            <a:avLst/>
          </a:prstGeom>
          <a:ln w="15240">
            <a:solidFill>
              <a:srgbClr val="5A6973"/>
            </a:solidFill>
          </a:ln>
        </p:spPr>
      </p:cxnSp>
      <p:cxnSp>
        <p:nvCxnSpPr>
          <p:cNvPr id="465" name="Connector 13"/>
          <p:cNvCxnSpPr/>
          <p:nvPr/>
        </p:nvCxnSpPr>
        <p:spPr>
          <a:xfrm>
            <a:off x="3538440" y="2651760"/>
            <a:ext cx="119520" cy="594720"/>
          </a:xfrm>
          <a:prstGeom prst="straightConnector1">
            <a:avLst/>
          </a:prstGeom>
          <a:ln w="15240">
            <a:solidFill>
              <a:srgbClr val="5A6973"/>
            </a:solidFill>
          </a:ln>
        </p:spPr>
      </p:cxnSp>
      <p:cxnSp>
        <p:nvCxnSpPr>
          <p:cNvPr id="466" name="Connector 14"/>
          <p:cNvCxnSpPr/>
          <p:nvPr/>
        </p:nvCxnSpPr>
        <p:spPr>
          <a:xfrm flipH="1">
            <a:off x="3657600" y="2651760"/>
            <a:ext cx="1115640" cy="594720"/>
          </a:xfrm>
          <a:prstGeom prst="straightConnector1">
            <a:avLst/>
          </a:prstGeom>
          <a:ln w="15240">
            <a:solidFill>
              <a:srgbClr val="5A6973"/>
            </a:solidFill>
          </a:ln>
        </p:spPr>
      </p:cxnSp>
      <p:cxnSp>
        <p:nvCxnSpPr>
          <p:cNvPr id="467" name="Connector 15"/>
          <p:cNvCxnSpPr/>
          <p:nvPr/>
        </p:nvCxnSpPr>
        <p:spPr>
          <a:xfrm flipH="1">
            <a:off x="3657600" y="2651760"/>
            <a:ext cx="2350080" cy="594720"/>
          </a:xfrm>
          <a:prstGeom prst="straightConnector1">
            <a:avLst/>
          </a:prstGeom>
          <a:ln w="15240">
            <a:solidFill>
              <a:srgbClr val="5A6973"/>
            </a:solidFill>
          </a:ln>
        </p:spPr>
      </p:cxnSp>
      <p:sp>
        <p:nvSpPr>
          <p:cNvPr id="468" name="Rounded Rectangle 16"/>
          <p:cNvSpPr/>
          <p:nvPr/>
        </p:nvSpPr>
        <p:spPr>
          <a:xfrm>
            <a:off x="2788920" y="3246120"/>
            <a:ext cx="1828440" cy="621360"/>
          </a:xfrm>
          <a:prstGeom prst="roundRect">
            <a:avLst>
              <a:gd name="adj" fmla="val 16667"/>
            </a:avLst>
          </a:prstGeom>
          <a:solidFill>
            <a:srgbClr val="082A43"/>
          </a:solidFill>
          <a:ln>
            <a:solidFill>
              <a:srgbClr val="082A43"/>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r>
              <a:rPr lang="en-US" sz="1500" b="1" u="none" strike="noStrike">
                <a:solidFill>
                  <a:srgbClr val="FFFFFF"/>
                </a:solidFill>
                <a:effectLst/>
                <a:uFillTx/>
                <a:latin typeface="Aptos"/>
              </a:rPr>
              <a:t>Probability</a:t>
            </a:r>
            <a:endParaRPr lang="en-US" sz="1500" b="0" u="none" strike="noStrike">
              <a:solidFill>
                <a:srgbClr val="FFFFFF"/>
              </a:solidFill>
              <a:effectLst/>
              <a:uFillTx/>
              <a:latin typeface="Arial"/>
            </a:endParaRPr>
          </a:p>
          <a:p>
            <a:pPr algn="ctr" defTabSz="914400">
              <a:lnSpc>
                <a:spcPct val="100000"/>
              </a:lnSpc>
            </a:pPr>
            <a:r>
              <a:rPr lang="en-US" sz="1500" b="1" u="none" strike="noStrike">
                <a:solidFill>
                  <a:srgbClr val="FFFFFF"/>
                </a:solidFill>
                <a:effectLst/>
                <a:uFillTx/>
                <a:latin typeface="Aptos"/>
              </a:rPr>
              <a:t>outputs</a:t>
            </a:r>
            <a:endParaRPr lang="en-US" sz="1500" b="0" u="none" strike="noStrike">
              <a:solidFill>
                <a:srgbClr val="FFFFFF"/>
              </a:solidFill>
              <a:effectLst/>
              <a:uFillTx/>
              <a:latin typeface="Arial"/>
            </a:endParaRPr>
          </a:p>
        </p:txBody>
      </p:sp>
      <p:cxnSp>
        <p:nvCxnSpPr>
          <p:cNvPr id="469" name="Connector 17"/>
          <p:cNvCxnSpPr>
            <a:cxnSpLocks/>
            <a:endCxn id="470" idx="1"/>
          </p:cNvCxnSpPr>
          <p:nvPr/>
        </p:nvCxnSpPr>
        <p:spPr>
          <a:xfrm flipV="1">
            <a:off x="4617720" y="3232080"/>
            <a:ext cx="685800" cy="334080"/>
          </a:xfrm>
          <a:prstGeom prst="straightConnector1">
            <a:avLst/>
          </a:prstGeom>
          <a:ln w="25400">
            <a:solidFill>
              <a:srgbClr val="082A43"/>
            </a:solidFill>
          </a:ln>
        </p:spPr>
      </p:cxnSp>
      <p:sp>
        <p:nvSpPr>
          <p:cNvPr id="470" name="Rounded Rectangle 18"/>
          <p:cNvSpPr/>
          <p:nvPr/>
        </p:nvSpPr>
        <p:spPr>
          <a:xfrm>
            <a:off x="5303520" y="2889360"/>
            <a:ext cx="1828440" cy="68544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dirty="0">
                <a:solidFill>
                  <a:srgbClr val="FFFFFF"/>
                </a:solidFill>
                <a:effectLst/>
                <a:uFillTx/>
                <a:latin typeface="Aptos"/>
              </a:rPr>
              <a:t>A  Soft Voting</a:t>
            </a:r>
            <a:endParaRPr lang="en-US" sz="1500" b="0" u="none" strike="noStrike" dirty="0">
              <a:solidFill>
                <a:srgbClr val="FFFFFF"/>
              </a:solidFill>
              <a:effectLst/>
              <a:uFillTx/>
              <a:latin typeface="Arial"/>
            </a:endParaRPr>
          </a:p>
        </p:txBody>
      </p:sp>
      <p:sp>
        <p:nvSpPr>
          <p:cNvPr id="471" name="Rounded Rectangle 19"/>
          <p:cNvSpPr/>
          <p:nvPr/>
        </p:nvSpPr>
        <p:spPr>
          <a:xfrm>
            <a:off x="5303520" y="3736800"/>
            <a:ext cx="1828440" cy="685440"/>
          </a:xfrm>
          <a:prstGeom prst="roundRect">
            <a:avLst>
              <a:gd name="adj" fmla="val 16667"/>
            </a:avLst>
          </a:prstGeom>
          <a:solidFill>
            <a:srgbClr val="DB9D29"/>
          </a:solidFill>
          <a:ln>
            <a:solidFill>
              <a:srgbClr val="DB9D2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dirty="0">
                <a:solidFill>
                  <a:srgbClr val="FFFFFF"/>
                </a:solidFill>
                <a:effectLst/>
                <a:uFillTx/>
                <a:latin typeface="Aptos"/>
              </a:rPr>
              <a:t>B  Weighted Voting</a:t>
            </a:r>
            <a:endParaRPr lang="en-US" sz="1500" b="0" u="none" strike="noStrike" dirty="0">
              <a:solidFill>
                <a:srgbClr val="000000"/>
              </a:solidFill>
              <a:effectLst/>
              <a:uFillTx/>
              <a:latin typeface="Arial"/>
            </a:endParaRPr>
          </a:p>
        </p:txBody>
      </p:sp>
      <p:sp>
        <p:nvSpPr>
          <p:cNvPr id="472" name="Rounded Rectangle 20"/>
          <p:cNvSpPr/>
          <p:nvPr/>
        </p:nvSpPr>
        <p:spPr>
          <a:xfrm>
            <a:off x="5303520" y="4525920"/>
            <a:ext cx="1828440" cy="68544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C  Stacking</a:t>
            </a:r>
            <a:endParaRPr lang="en-US" sz="1500" b="0" u="none" strike="noStrike">
              <a:solidFill>
                <a:srgbClr val="FFFFFF"/>
              </a:solidFill>
              <a:effectLst/>
              <a:uFillTx/>
              <a:latin typeface="Arial"/>
            </a:endParaRPr>
          </a:p>
        </p:txBody>
      </p:sp>
      <p:sp>
        <p:nvSpPr>
          <p:cNvPr id="473" name="Rounded Rectangle 21"/>
          <p:cNvSpPr/>
          <p:nvPr/>
        </p:nvSpPr>
        <p:spPr>
          <a:xfrm>
            <a:off x="7708127" y="2842200"/>
            <a:ext cx="3245760" cy="685440"/>
          </a:xfrm>
          <a:prstGeom prst="roundRect">
            <a:avLst>
              <a:gd name="adj" fmla="val 16667"/>
            </a:avLst>
          </a:prstGeom>
          <a:solidFill>
            <a:srgbClr val="F4F7F9"/>
          </a:solidFill>
          <a:ln>
            <a:solidFill>
              <a:srgbClr val="F4F7F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300" b="1" u="none" strike="noStrike" dirty="0">
                <a:solidFill>
                  <a:srgbClr val="082A43"/>
                </a:solidFill>
                <a:effectLst/>
                <a:uFillTx/>
                <a:latin typeface="Aptos"/>
              </a:rPr>
              <a:t>mean calibrated probabilities</a:t>
            </a:r>
            <a:endParaRPr lang="en-US" sz="1300" b="0" u="none" strike="noStrike" dirty="0">
              <a:solidFill>
                <a:srgbClr val="000000"/>
              </a:solidFill>
              <a:effectLst/>
              <a:uFillTx/>
              <a:latin typeface="Arial"/>
            </a:endParaRPr>
          </a:p>
        </p:txBody>
      </p:sp>
      <p:sp>
        <p:nvSpPr>
          <p:cNvPr id="474" name="Rounded Rectangle 22"/>
          <p:cNvSpPr/>
          <p:nvPr/>
        </p:nvSpPr>
        <p:spPr>
          <a:xfrm>
            <a:off x="7456336" y="3739320"/>
            <a:ext cx="3245760" cy="685440"/>
          </a:xfrm>
          <a:prstGeom prst="roundRect">
            <a:avLst>
              <a:gd name="adj" fmla="val 16667"/>
            </a:avLst>
          </a:prstGeom>
          <a:solidFill>
            <a:srgbClr val="F4F7F9"/>
          </a:solidFill>
          <a:ln>
            <a:solidFill>
              <a:srgbClr val="F4F7F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300" b="1" u="none" strike="noStrike" dirty="0">
                <a:solidFill>
                  <a:srgbClr val="082A43"/>
                </a:solidFill>
                <a:effectLst/>
                <a:uFillTx/>
                <a:latin typeface="Aptos"/>
              </a:rPr>
              <a:t>validation-derived weights</a:t>
            </a:r>
            <a:endParaRPr lang="en-US" sz="1300" b="0" u="none" strike="noStrike" dirty="0">
              <a:solidFill>
                <a:srgbClr val="000000"/>
              </a:solidFill>
              <a:effectLst/>
              <a:uFillTx/>
              <a:latin typeface="Arial"/>
            </a:endParaRPr>
          </a:p>
        </p:txBody>
      </p:sp>
      <p:sp>
        <p:nvSpPr>
          <p:cNvPr id="475" name="Rounded Rectangle 23"/>
          <p:cNvSpPr/>
          <p:nvPr/>
        </p:nvSpPr>
        <p:spPr>
          <a:xfrm>
            <a:off x="7562353" y="4636440"/>
            <a:ext cx="3245760" cy="685440"/>
          </a:xfrm>
          <a:prstGeom prst="roundRect">
            <a:avLst>
              <a:gd name="adj" fmla="val 16667"/>
            </a:avLst>
          </a:prstGeom>
          <a:solidFill>
            <a:srgbClr val="F4F7F9"/>
          </a:solidFill>
          <a:ln>
            <a:solidFill>
              <a:srgbClr val="F4F7F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300" b="1" u="none" strike="noStrike">
                <a:solidFill>
                  <a:srgbClr val="082A43"/>
                </a:solidFill>
                <a:effectLst/>
                <a:uFillTx/>
                <a:latin typeface="Aptos"/>
              </a:rPr>
              <a:t>out-of-fold predictions → LR meta-model</a:t>
            </a:r>
            <a:endParaRPr lang="en-US" sz="1300" b="0" u="none" strike="noStrike">
              <a:solidFill>
                <a:srgbClr val="000000"/>
              </a:solidFill>
              <a:effectLst/>
              <a:uFillTx/>
              <a:latin typeface="Arial"/>
            </a:endParaRPr>
          </a:p>
        </p:txBody>
      </p:sp>
      <p:sp>
        <p:nvSpPr>
          <p:cNvPr id="476" name="TextBox 24"/>
          <p:cNvSpPr/>
          <p:nvPr/>
        </p:nvSpPr>
        <p:spPr>
          <a:xfrm>
            <a:off x="731520" y="5257800"/>
            <a:ext cx="10332360" cy="63972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800" b="1" u="none" strike="noStrike">
                <a:solidFill>
                  <a:srgbClr val="082A43"/>
                </a:solidFill>
                <a:effectLst/>
                <a:uFillTx/>
                <a:latin typeface="Aptos"/>
              </a:rPr>
              <a:t>Compare: 5 individual models + 3 ensemble configurations = 8 primary predictive configurations.</a:t>
            </a:r>
            <a:endParaRPr lang="en-US" sz="1800" b="0" u="none" strike="noStrike">
              <a:solidFill>
                <a:srgbClr val="000000"/>
              </a:solidFill>
              <a:effectLst/>
              <a:uFillTx/>
              <a:latin typeface="Arial"/>
            </a:endParaRPr>
          </a:p>
        </p:txBody>
      </p:sp>
      <p:sp>
        <p:nvSpPr>
          <p:cNvPr id="477" name="TextBox 25"/>
          <p:cNvSpPr/>
          <p:nvPr/>
        </p:nvSpPr>
        <p:spPr>
          <a:xfrm>
            <a:off x="11384280" y="6537960"/>
            <a:ext cx="319680" cy="200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r" defTabSz="914400">
              <a:lnSpc>
                <a:spcPct val="100000"/>
              </a:lnSpc>
            </a:pPr>
            <a:r>
              <a:rPr sz="850">
                <a:solidFill>
                  <a:srgbClr val="607488"/>
                </a:solidFill>
                <a:latin typeface="Aptos"/>
              </a:rPr>
              <a:t>28</a:t>
            </a:r>
            <a:endParaRPr lang="en-US" sz="900" b="0" u="none" strike="noStrike">
              <a:solidFill>
                <a:srgbClr val="000000"/>
              </a:solidFill>
              <a:effectLst/>
              <a:uFillTx/>
              <a:latin typeface="Arial"/>
            </a:endParaRPr>
          </a:p>
        </p:txBody>
      </p:sp>
      <p:cxnSp>
        <p:nvCxnSpPr>
          <p:cNvPr id="3" name="Connector 17">
            <a:extLst>
              <a:ext uri="{FF2B5EF4-FFF2-40B4-BE49-F238E27FC236}">
                <a16:creationId xmlns:a16="http://schemas.microsoft.com/office/drawing/2014/main" id="{8B386CED-490B-6F62-BBA1-B3E60C252E95}"/>
              </a:ext>
            </a:extLst>
          </p:cNvPr>
          <p:cNvCxnSpPr>
            <a:cxnSpLocks/>
            <a:stCxn id="468" idx="3"/>
            <a:endCxn id="471" idx="1"/>
          </p:cNvCxnSpPr>
          <p:nvPr/>
        </p:nvCxnSpPr>
        <p:spPr>
          <a:xfrm>
            <a:off x="4617360" y="3556800"/>
            <a:ext cx="686160" cy="522720"/>
          </a:xfrm>
          <a:prstGeom prst="straightConnector1">
            <a:avLst/>
          </a:prstGeom>
          <a:ln w="25400">
            <a:solidFill>
              <a:srgbClr val="082A43"/>
            </a:solidFill>
          </a:ln>
        </p:spPr>
      </p:cxnSp>
      <p:cxnSp>
        <p:nvCxnSpPr>
          <p:cNvPr id="6" name="Connector 17">
            <a:extLst>
              <a:ext uri="{FF2B5EF4-FFF2-40B4-BE49-F238E27FC236}">
                <a16:creationId xmlns:a16="http://schemas.microsoft.com/office/drawing/2014/main" id="{E461B5E0-B188-B6E9-72F0-B64969003928}"/>
              </a:ext>
            </a:extLst>
          </p:cNvPr>
          <p:cNvCxnSpPr>
            <a:cxnSpLocks/>
            <a:endCxn id="472" idx="1"/>
          </p:cNvCxnSpPr>
          <p:nvPr/>
        </p:nvCxnSpPr>
        <p:spPr>
          <a:xfrm>
            <a:off x="4640191" y="3539426"/>
            <a:ext cx="663329" cy="1329214"/>
          </a:xfrm>
          <a:prstGeom prst="straightConnector1">
            <a:avLst/>
          </a:prstGeom>
          <a:ln w="25400">
            <a:solidFill>
              <a:srgbClr val="082A43"/>
            </a:solidFill>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TextBox 2"/>
          <p:cNvSpPr/>
          <p:nvPr/>
        </p:nvSpPr>
        <p:spPr>
          <a:xfrm>
            <a:off x="502920" y="621720"/>
            <a:ext cx="11155320" cy="5666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sz="2700" b="1">
                <a:solidFill>
                  <a:srgbClr val="0C385C"/>
                </a:solidFill>
                <a:latin typeface="Aptos"/>
              </a:rPr>
              <a:t>Phase 4 — Ensemble methodology: diagram explained</a:t>
            </a:r>
            <a:endParaRPr lang="en-US" sz="2700" b="0" u="none" strike="noStrike">
              <a:solidFill>
                <a:srgbClr val="000000"/>
              </a:solidFill>
              <a:effectLst/>
              <a:uFillTx/>
              <a:latin typeface="Arial"/>
            </a:endParaRPr>
          </a:p>
        </p:txBody>
      </p:sp>
      <p:sp>
        <p:nvSpPr>
          <p:cNvPr id="455" name="TextBox 3"/>
          <p:cNvSpPr/>
          <p:nvPr/>
        </p:nvSpPr>
        <p:spPr>
          <a:xfrm>
            <a:off x="530280" y="122544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sz="1300">
                <a:solidFill>
                  <a:srgbClr val="607488"/>
                </a:solidFill>
                <a:latin typeface="Aptos"/>
              </a:rPr>
              <a:t>The original diagram is retained; the legend below explains what every box and connection represents.</a:t>
            </a:r>
            <a:endParaRPr lang="en-US" sz="1300" b="0" u="none" strike="noStrike">
              <a:solidFill>
                <a:srgbClr val="000000"/>
              </a:solidFill>
              <a:effectLst/>
              <a:uFillTx/>
              <a:latin typeface="Arial"/>
            </a:endParaRPr>
          </a:p>
        </p:txBody>
      </p:sp>
      <p:cxnSp>
        <p:nvCxnSpPr>
          <p:cNvPr id="456" name="Connector 4"/>
          <p:cNvCxnSpPr/>
          <p:nvPr/>
        </p:nvCxnSpPr>
        <p:spPr>
          <a:xfrm>
            <a:off x="502920" y="1706594"/>
            <a:ext cx="11156040" cy="208"/>
          </a:xfrm>
          <a:prstGeom prst="straightConnector1">
            <a:avLst/>
          </a:prstGeom>
          <a:ln w="17780">
            <a:solidFill>
              <a:srgbClr val="008197"/>
            </a:solidFill>
          </a:ln>
        </p:spPr>
      </p:cxnSp>
      <p:sp>
        <p:nvSpPr>
          <p:cNvPr id="457" name="Rounded Rectangle 5"/>
          <p:cNvSpPr/>
          <p:nvPr/>
        </p:nvSpPr>
        <p:spPr>
          <a:xfrm>
            <a:off x="594360" y="1902866"/>
            <a:ext cx="959760" cy="307353"/>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400" b="1" u="none" strike="noStrike">
                <a:solidFill>
                  <a:srgbClr val="FFFFFF"/>
                </a:solidFill>
                <a:effectLst/>
                <a:uFillTx/>
                <a:latin typeface="Aptos"/>
              </a:rPr>
              <a:t>LR</a:t>
            </a:r>
            <a:endParaRPr lang="en-US" sz="1400" b="0" u="none" strike="noStrike">
              <a:solidFill>
                <a:srgbClr val="FFFFFF"/>
              </a:solidFill>
              <a:effectLst/>
              <a:uFillTx/>
              <a:latin typeface="Arial"/>
            </a:endParaRPr>
          </a:p>
        </p:txBody>
      </p:sp>
      <p:sp>
        <p:nvSpPr>
          <p:cNvPr id="458" name="Rounded Rectangle 6"/>
          <p:cNvSpPr/>
          <p:nvPr/>
        </p:nvSpPr>
        <p:spPr>
          <a:xfrm>
            <a:off x="1828800" y="1902866"/>
            <a:ext cx="959760" cy="307353"/>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400" b="1" u="none" strike="noStrike">
                <a:solidFill>
                  <a:srgbClr val="FFFFFF"/>
                </a:solidFill>
                <a:effectLst/>
                <a:uFillTx/>
                <a:latin typeface="Aptos"/>
              </a:rPr>
              <a:t>SVM</a:t>
            </a:r>
            <a:endParaRPr lang="en-US" sz="1400" b="0" u="none" strike="noStrike">
              <a:solidFill>
                <a:srgbClr val="FFFFFF"/>
              </a:solidFill>
              <a:effectLst/>
              <a:uFillTx/>
              <a:latin typeface="Arial"/>
            </a:endParaRPr>
          </a:p>
        </p:txBody>
      </p:sp>
      <p:sp>
        <p:nvSpPr>
          <p:cNvPr id="459" name="Rounded Rectangle 7"/>
          <p:cNvSpPr/>
          <p:nvPr/>
        </p:nvSpPr>
        <p:spPr>
          <a:xfrm>
            <a:off x="3063240" y="1902866"/>
            <a:ext cx="959760" cy="307353"/>
          </a:xfrm>
          <a:prstGeom prst="roundRect">
            <a:avLst>
              <a:gd name="adj" fmla="val 16667"/>
            </a:avLst>
          </a:prstGeom>
          <a:solidFill>
            <a:srgbClr val="229777"/>
          </a:solidFill>
          <a:ln>
            <a:solidFill>
              <a:srgbClr val="22977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400" b="1" u="none" strike="noStrike">
                <a:solidFill>
                  <a:srgbClr val="FFFFFF"/>
                </a:solidFill>
                <a:effectLst/>
                <a:uFillTx/>
                <a:latin typeface="Aptos"/>
              </a:rPr>
              <a:t>RF</a:t>
            </a:r>
            <a:endParaRPr lang="en-US" sz="1400" b="0" u="none" strike="noStrike">
              <a:solidFill>
                <a:srgbClr val="FFFFFF"/>
              </a:solidFill>
              <a:effectLst/>
              <a:uFillTx/>
              <a:latin typeface="Arial"/>
            </a:endParaRPr>
          </a:p>
        </p:txBody>
      </p:sp>
      <p:sp>
        <p:nvSpPr>
          <p:cNvPr id="460" name="Rounded Rectangle 8"/>
          <p:cNvSpPr/>
          <p:nvPr/>
        </p:nvSpPr>
        <p:spPr>
          <a:xfrm>
            <a:off x="4297680" y="1902866"/>
            <a:ext cx="959760" cy="307353"/>
          </a:xfrm>
          <a:prstGeom prst="roundRect">
            <a:avLst>
              <a:gd name="adj" fmla="val 16667"/>
            </a:avLst>
          </a:prstGeom>
          <a:solidFill>
            <a:srgbClr val="DB9D29"/>
          </a:solidFill>
          <a:ln>
            <a:solidFill>
              <a:srgbClr val="DB9D2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400" b="1" u="none" strike="noStrike">
                <a:solidFill>
                  <a:srgbClr val="FFFFFF"/>
                </a:solidFill>
                <a:effectLst/>
                <a:uFillTx/>
                <a:latin typeface="Aptos"/>
              </a:rPr>
              <a:t>XGB</a:t>
            </a:r>
            <a:endParaRPr lang="en-US" sz="1400" b="0" u="none" strike="noStrike">
              <a:solidFill>
                <a:srgbClr val="000000"/>
              </a:solidFill>
              <a:effectLst/>
              <a:uFillTx/>
              <a:latin typeface="Arial"/>
            </a:endParaRPr>
          </a:p>
        </p:txBody>
      </p:sp>
      <p:sp>
        <p:nvSpPr>
          <p:cNvPr id="461" name="Rounded Rectangle 9"/>
          <p:cNvSpPr/>
          <p:nvPr/>
        </p:nvSpPr>
        <p:spPr>
          <a:xfrm>
            <a:off x="5532120" y="1902866"/>
            <a:ext cx="959760" cy="307353"/>
          </a:xfrm>
          <a:prstGeom prst="roundRect">
            <a:avLst>
              <a:gd name="adj" fmla="val 16667"/>
            </a:avLst>
          </a:prstGeom>
          <a:solidFill>
            <a:srgbClr val="C94F48"/>
          </a:solidFill>
          <a:ln>
            <a:solidFill>
              <a:srgbClr val="C94F48"/>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400" b="1" u="none" strike="noStrike">
                <a:solidFill>
                  <a:srgbClr val="FFFFFF"/>
                </a:solidFill>
                <a:effectLst/>
                <a:uFillTx/>
                <a:latin typeface="Aptos"/>
              </a:rPr>
              <a:t>MLP</a:t>
            </a:r>
            <a:endParaRPr lang="en-US" sz="1400" b="0" u="none" strike="noStrike">
              <a:solidFill>
                <a:srgbClr val="FFFFFF"/>
              </a:solidFill>
              <a:effectLst/>
              <a:uFillTx/>
              <a:latin typeface="Arial"/>
            </a:endParaRPr>
          </a:p>
        </p:txBody>
      </p:sp>
      <p:sp>
        <p:nvSpPr>
          <p:cNvPr id="462" name="TextBox 10"/>
          <p:cNvSpPr/>
          <p:nvPr/>
        </p:nvSpPr>
        <p:spPr>
          <a:xfrm>
            <a:off x="594360" y="1733112"/>
            <a:ext cx="5943240" cy="132379"/>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000" b="1" u="none" strike="noStrike">
                <a:solidFill>
                  <a:srgbClr val="5A6973"/>
                </a:solidFill>
                <a:effectLst/>
                <a:uFillTx/>
                <a:latin typeface="Aptos"/>
              </a:rPr>
              <a:t>BASE LEARNERS</a:t>
            </a:r>
            <a:endParaRPr lang="en-US" sz="1000" b="0" u="none" strike="noStrike">
              <a:solidFill>
                <a:srgbClr val="000000"/>
              </a:solidFill>
              <a:effectLst/>
              <a:uFillTx/>
              <a:latin typeface="Arial"/>
            </a:endParaRPr>
          </a:p>
        </p:txBody>
      </p:sp>
      <p:cxnSp>
        <p:nvCxnSpPr>
          <p:cNvPr id="463" name="Connector 11"/>
          <p:cNvCxnSpPr/>
          <p:nvPr/>
        </p:nvCxnSpPr>
        <p:spPr>
          <a:xfrm>
            <a:off x="1069560" y="2221077"/>
            <a:ext cx="2588400" cy="344937"/>
          </a:xfrm>
          <a:prstGeom prst="straightConnector1">
            <a:avLst/>
          </a:prstGeom>
          <a:ln w="15240">
            <a:solidFill>
              <a:srgbClr val="5A6973"/>
            </a:solidFill>
          </a:ln>
        </p:spPr>
      </p:cxnSp>
      <p:cxnSp>
        <p:nvCxnSpPr>
          <p:cNvPr id="464" name="Connector 12"/>
          <p:cNvCxnSpPr/>
          <p:nvPr/>
        </p:nvCxnSpPr>
        <p:spPr>
          <a:xfrm>
            <a:off x="2304000" y="2221077"/>
            <a:ext cx="1353960" cy="344937"/>
          </a:xfrm>
          <a:prstGeom prst="straightConnector1">
            <a:avLst/>
          </a:prstGeom>
          <a:ln w="15240">
            <a:solidFill>
              <a:srgbClr val="5A6973"/>
            </a:solidFill>
          </a:ln>
        </p:spPr>
      </p:cxnSp>
      <p:cxnSp>
        <p:nvCxnSpPr>
          <p:cNvPr id="465" name="Connector 13"/>
          <p:cNvCxnSpPr/>
          <p:nvPr/>
        </p:nvCxnSpPr>
        <p:spPr>
          <a:xfrm>
            <a:off x="3538440" y="2221077"/>
            <a:ext cx="119520" cy="344937"/>
          </a:xfrm>
          <a:prstGeom prst="straightConnector1">
            <a:avLst/>
          </a:prstGeom>
          <a:ln w="15240">
            <a:solidFill>
              <a:srgbClr val="5A6973"/>
            </a:solidFill>
          </a:ln>
        </p:spPr>
      </p:cxnSp>
      <p:cxnSp>
        <p:nvCxnSpPr>
          <p:cNvPr id="466" name="Connector 14"/>
          <p:cNvCxnSpPr/>
          <p:nvPr/>
        </p:nvCxnSpPr>
        <p:spPr>
          <a:xfrm flipH="1">
            <a:off x="3657600" y="2221077"/>
            <a:ext cx="1115640" cy="344937"/>
          </a:xfrm>
          <a:prstGeom prst="straightConnector1">
            <a:avLst/>
          </a:prstGeom>
          <a:ln w="15240">
            <a:solidFill>
              <a:srgbClr val="5A6973"/>
            </a:solidFill>
          </a:ln>
        </p:spPr>
      </p:cxnSp>
      <p:cxnSp>
        <p:nvCxnSpPr>
          <p:cNvPr id="467" name="Connector 15"/>
          <p:cNvCxnSpPr/>
          <p:nvPr/>
        </p:nvCxnSpPr>
        <p:spPr>
          <a:xfrm flipH="1">
            <a:off x="3657600" y="2221077"/>
            <a:ext cx="2350080" cy="344937"/>
          </a:xfrm>
          <a:prstGeom prst="straightConnector1">
            <a:avLst/>
          </a:prstGeom>
          <a:ln w="15240">
            <a:solidFill>
              <a:srgbClr val="5A6973"/>
            </a:solidFill>
          </a:ln>
        </p:spPr>
      </p:cxnSp>
      <p:sp>
        <p:nvSpPr>
          <p:cNvPr id="468" name="Rounded Rectangle 16"/>
          <p:cNvSpPr/>
          <p:nvPr/>
        </p:nvSpPr>
        <p:spPr>
          <a:xfrm>
            <a:off x="2788920" y="2565806"/>
            <a:ext cx="1828440" cy="360388"/>
          </a:xfrm>
          <a:prstGeom prst="roundRect">
            <a:avLst>
              <a:gd name="adj" fmla="val 16667"/>
            </a:avLst>
          </a:prstGeom>
          <a:solidFill>
            <a:srgbClr val="082A43"/>
          </a:solidFill>
          <a:ln>
            <a:solidFill>
              <a:srgbClr val="082A43"/>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r>
              <a:rPr lang="en-US" sz="1500" b="1" u="none" strike="noStrike">
                <a:solidFill>
                  <a:srgbClr val="FFFFFF"/>
                </a:solidFill>
                <a:effectLst/>
                <a:uFillTx/>
                <a:latin typeface="Aptos"/>
              </a:rPr>
              <a:t>Probability</a:t>
            </a:r>
            <a:endParaRPr lang="en-US" sz="1500" b="0" u="none" strike="noStrike">
              <a:solidFill>
                <a:srgbClr val="FFFFFF"/>
              </a:solidFill>
              <a:effectLst/>
              <a:uFillTx/>
              <a:latin typeface="Arial"/>
            </a:endParaRPr>
          </a:p>
          <a:p>
            <a:pPr algn="ctr" defTabSz="914400">
              <a:lnSpc>
                <a:spcPct val="100000"/>
              </a:lnSpc>
            </a:pPr>
            <a:r>
              <a:rPr lang="en-US" sz="1500" b="1" u="none" strike="noStrike">
                <a:solidFill>
                  <a:srgbClr val="FFFFFF"/>
                </a:solidFill>
                <a:effectLst/>
                <a:uFillTx/>
                <a:latin typeface="Aptos"/>
              </a:rPr>
              <a:t>outputs</a:t>
            </a:r>
            <a:endParaRPr lang="en-US" sz="1500" b="0" u="none" strike="noStrike">
              <a:solidFill>
                <a:srgbClr val="FFFFFF"/>
              </a:solidFill>
              <a:effectLst/>
              <a:uFillTx/>
              <a:latin typeface="Arial"/>
            </a:endParaRPr>
          </a:p>
        </p:txBody>
      </p:sp>
      <p:cxnSp>
        <p:nvCxnSpPr>
          <p:cNvPr id="469" name="Connector 17"/>
          <p:cNvCxnSpPr>
            <a:cxnSpLocks/>
            <a:endCxn id="470" idx="1"/>
          </p:cNvCxnSpPr>
          <p:nvPr/>
        </p:nvCxnSpPr>
        <p:spPr>
          <a:xfrm flipV="1">
            <a:off x="4617720" y="2557663"/>
            <a:ext cx="685800" cy="193766"/>
          </a:xfrm>
          <a:prstGeom prst="straightConnector1">
            <a:avLst/>
          </a:prstGeom>
          <a:ln w="25400">
            <a:solidFill>
              <a:srgbClr val="082A43"/>
            </a:solidFill>
          </a:ln>
        </p:spPr>
      </p:cxnSp>
      <p:sp>
        <p:nvSpPr>
          <p:cNvPr id="470" name="Rounded Rectangle 18"/>
          <p:cNvSpPr/>
          <p:nvPr/>
        </p:nvSpPr>
        <p:spPr>
          <a:xfrm>
            <a:off x="5303520" y="2358885"/>
            <a:ext cx="1828440" cy="397555"/>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dirty="0">
                <a:solidFill>
                  <a:srgbClr val="FFFFFF"/>
                </a:solidFill>
                <a:effectLst/>
                <a:uFillTx/>
                <a:latin typeface="Aptos"/>
              </a:rPr>
              <a:t>A  Soft Voting</a:t>
            </a:r>
            <a:endParaRPr lang="en-US" sz="1500" b="0" u="none" strike="noStrike" dirty="0">
              <a:solidFill>
                <a:srgbClr val="FFFFFF"/>
              </a:solidFill>
              <a:effectLst/>
              <a:uFillTx/>
              <a:latin typeface="Arial"/>
            </a:endParaRPr>
          </a:p>
        </p:txBody>
      </p:sp>
      <p:sp>
        <p:nvSpPr>
          <p:cNvPr id="471" name="Rounded Rectangle 19"/>
          <p:cNvSpPr/>
          <p:nvPr/>
        </p:nvSpPr>
        <p:spPr>
          <a:xfrm>
            <a:off x="5303520" y="2850400"/>
            <a:ext cx="1828440" cy="397555"/>
          </a:xfrm>
          <a:prstGeom prst="roundRect">
            <a:avLst>
              <a:gd name="adj" fmla="val 16667"/>
            </a:avLst>
          </a:prstGeom>
          <a:solidFill>
            <a:srgbClr val="DB9D29"/>
          </a:solidFill>
          <a:ln>
            <a:solidFill>
              <a:srgbClr val="DB9D2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dirty="0">
                <a:solidFill>
                  <a:srgbClr val="FFFFFF"/>
                </a:solidFill>
                <a:effectLst/>
                <a:uFillTx/>
                <a:latin typeface="Aptos"/>
              </a:rPr>
              <a:t>B  Weighted Voting</a:t>
            </a:r>
            <a:endParaRPr lang="en-US" sz="1500" b="0" u="none" strike="noStrike" dirty="0">
              <a:solidFill>
                <a:srgbClr val="000000"/>
              </a:solidFill>
              <a:effectLst/>
              <a:uFillTx/>
              <a:latin typeface="Arial"/>
            </a:endParaRPr>
          </a:p>
        </p:txBody>
      </p:sp>
      <p:sp>
        <p:nvSpPr>
          <p:cNvPr id="472" name="Rounded Rectangle 20"/>
          <p:cNvSpPr/>
          <p:nvPr/>
        </p:nvSpPr>
        <p:spPr>
          <a:xfrm>
            <a:off x="5303520" y="3308090"/>
            <a:ext cx="1828440" cy="397555"/>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C  Stacking</a:t>
            </a:r>
            <a:endParaRPr lang="en-US" sz="1500" b="0" u="none" strike="noStrike">
              <a:solidFill>
                <a:srgbClr val="FFFFFF"/>
              </a:solidFill>
              <a:effectLst/>
              <a:uFillTx/>
              <a:latin typeface="Arial"/>
            </a:endParaRPr>
          </a:p>
        </p:txBody>
      </p:sp>
      <p:sp>
        <p:nvSpPr>
          <p:cNvPr id="473" name="Rounded Rectangle 21"/>
          <p:cNvSpPr/>
          <p:nvPr/>
        </p:nvSpPr>
        <p:spPr>
          <a:xfrm>
            <a:off x="7708127" y="2331532"/>
            <a:ext cx="3245760" cy="397555"/>
          </a:xfrm>
          <a:prstGeom prst="roundRect">
            <a:avLst>
              <a:gd name="adj" fmla="val 16667"/>
            </a:avLst>
          </a:prstGeom>
          <a:solidFill>
            <a:srgbClr val="F4F7F9"/>
          </a:solidFill>
          <a:ln>
            <a:solidFill>
              <a:srgbClr val="F4F7F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300" b="1" u="none" strike="noStrike" dirty="0">
                <a:solidFill>
                  <a:srgbClr val="082A43"/>
                </a:solidFill>
                <a:effectLst/>
                <a:uFillTx/>
                <a:latin typeface="Aptos"/>
              </a:rPr>
              <a:t>mean calibrated probabilities</a:t>
            </a:r>
            <a:endParaRPr lang="en-US" sz="1300" b="0" u="none" strike="noStrike" dirty="0">
              <a:solidFill>
                <a:srgbClr val="000000"/>
              </a:solidFill>
              <a:effectLst/>
              <a:uFillTx/>
              <a:latin typeface="Arial"/>
            </a:endParaRPr>
          </a:p>
        </p:txBody>
      </p:sp>
      <p:sp>
        <p:nvSpPr>
          <p:cNvPr id="474" name="Rounded Rectangle 22"/>
          <p:cNvSpPr/>
          <p:nvPr/>
        </p:nvSpPr>
        <p:spPr>
          <a:xfrm>
            <a:off x="7456336" y="2851862"/>
            <a:ext cx="3245760" cy="397555"/>
          </a:xfrm>
          <a:prstGeom prst="roundRect">
            <a:avLst>
              <a:gd name="adj" fmla="val 16667"/>
            </a:avLst>
          </a:prstGeom>
          <a:solidFill>
            <a:srgbClr val="F4F7F9"/>
          </a:solidFill>
          <a:ln>
            <a:solidFill>
              <a:srgbClr val="F4F7F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300" b="1" u="none" strike="noStrike" dirty="0">
                <a:solidFill>
                  <a:srgbClr val="082A43"/>
                </a:solidFill>
                <a:effectLst/>
                <a:uFillTx/>
                <a:latin typeface="Aptos"/>
              </a:rPr>
              <a:t>validation-derived weights</a:t>
            </a:r>
            <a:endParaRPr lang="en-US" sz="1300" b="0" u="none" strike="noStrike" dirty="0">
              <a:solidFill>
                <a:srgbClr val="000000"/>
              </a:solidFill>
              <a:effectLst/>
              <a:uFillTx/>
              <a:latin typeface="Arial"/>
            </a:endParaRPr>
          </a:p>
        </p:txBody>
      </p:sp>
      <p:sp>
        <p:nvSpPr>
          <p:cNvPr id="475" name="Rounded Rectangle 23"/>
          <p:cNvSpPr/>
          <p:nvPr/>
        </p:nvSpPr>
        <p:spPr>
          <a:xfrm>
            <a:off x="7562353" y="3372191"/>
            <a:ext cx="3245760" cy="397555"/>
          </a:xfrm>
          <a:prstGeom prst="roundRect">
            <a:avLst>
              <a:gd name="adj" fmla="val 16667"/>
            </a:avLst>
          </a:prstGeom>
          <a:solidFill>
            <a:srgbClr val="F4F7F9"/>
          </a:solidFill>
          <a:ln>
            <a:solidFill>
              <a:srgbClr val="F4F7F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300" b="1" u="none" strike="noStrike">
                <a:solidFill>
                  <a:srgbClr val="082A43"/>
                </a:solidFill>
                <a:effectLst/>
                <a:uFillTx/>
                <a:latin typeface="Aptos"/>
              </a:rPr>
              <a:t>out-of-fold predictions → LR meta-model</a:t>
            </a:r>
            <a:endParaRPr lang="en-US" sz="1300" b="0" u="none" strike="noStrike">
              <a:solidFill>
                <a:srgbClr val="000000"/>
              </a:solidFill>
              <a:effectLst/>
              <a:uFillTx/>
              <a:latin typeface="Arial"/>
            </a:endParaRPr>
          </a:p>
        </p:txBody>
      </p:sp>
      <p:sp>
        <p:nvSpPr>
          <p:cNvPr id="476" name="TextBox 24"/>
          <p:cNvSpPr/>
          <p:nvPr/>
        </p:nvSpPr>
        <p:spPr>
          <a:xfrm>
            <a:off x="731520" y="3732580"/>
            <a:ext cx="10332360" cy="371037"/>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800" b="1" u="none" strike="noStrike">
                <a:solidFill>
                  <a:srgbClr val="082A43"/>
                </a:solidFill>
                <a:effectLst/>
                <a:uFillTx/>
                <a:latin typeface="Aptos"/>
              </a:rPr>
              <a:t>Compare: 5 individual models + 3 ensemble configurations = 8 primary predictive configurations.</a:t>
            </a:r>
            <a:endParaRPr lang="en-US" sz="1800" b="0" u="none" strike="noStrike">
              <a:solidFill>
                <a:srgbClr val="000000"/>
              </a:solidFill>
              <a:effectLst/>
              <a:uFillTx/>
              <a:latin typeface="Arial"/>
            </a:endParaRPr>
          </a:p>
        </p:txBody>
      </p:sp>
      <p:sp>
        <p:nvSpPr>
          <p:cNvPr id="477" name="TextBox 25"/>
          <p:cNvSpPr/>
          <p:nvPr/>
        </p:nvSpPr>
        <p:spPr>
          <a:xfrm>
            <a:off x="11384280" y="6537960"/>
            <a:ext cx="319680" cy="200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r" defTabSz="914400">
              <a:lnSpc>
                <a:spcPct val="100000"/>
              </a:lnSpc>
            </a:pPr>
            <a:r>
              <a:rPr sz="850">
                <a:solidFill>
                  <a:srgbClr val="607488"/>
                </a:solidFill>
                <a:latin typeface="Aptos"/>
              </a:rPr>
              <a:t>29</a:t>
            </a:r>
            <a:endParaRPr lang="en-US" sz="900" b="0" u="none" strike="noStrike">
              <a:solidFill>
                <a:srgbClr val="000000"/>
              </a:solidFill>
              <a:effectLst/>
              <a:uFillTx/>
              <a:latin typeface="Arial"/>
            </a:endParaRPr>
          </a:p>
        </p:txBody>
      </p:sp>
      <p:cxnSp>
        <p:nvCxnSpPr>
          <p:cNvPr id="3" name="Connector 17">
            <a:extLst>
              <a:ext uri="{FF2B5EF4-FFF2-40B4-BE49-F238E27FC236}">
                <a16:creationId xmlns:a16="http://schemas.microsoft.com/office/drawing/2014/main" id="{8B386CED-490B-6F62-BBA1-B3E60C252E95}"/>
              </a:ext>
            </a:extLst>
          </p:cNvPr>
          <p:cNvCxnSpPr>
            <a:cxnSpLocks/>
            <a:stCxn id="468" idx="3"/>
            <a:endCxn id="471" idx="1"/>
          </p:cNvCxnSpPr>
          <p:nvPr/>
        </p:nvCxnSpPr>
        <p:spPr>
          <a:xfrm>
            <a:off x="4617360" y="2746000"/>
            <a:ext cx="686160" cy="303177"/>
          </a:xfrm>
          <a:prstGeom prst="straightConnector1">
            <a:avLst/>
          </a:prstGeom>
          <a:ln w="25400">
            <a:solidFill>
              <a:srgbClr val="082A43"/>
            </a:solidFill>
          </a:ln>
        </p:spPr>
      </p:cxnSp>
      <p:cxnSp>
        <p:nvCxnSpPr>
          <p:cNvPr id="6" name="Connector 17">
            <a:extLst>
              <a:ext uri="{FF2B5EF4-FFF2-40B4-BE49-F238E27FC236}">
                <a16:creationId xmlns:a16="http://schemas.microsoft.com/office/drawing/2014/main" id="{E461B5E0-B188-B6E9-72F0-B64969003928}"/>
              </a:ext>
            </a:extLst>
          </p:cNvPr>
          <p:cNvCxnSpPr>
            <a:cxnSpLocks/>
            <a:endCxn id="472" idx="1"/>
          </p:cNvCxnSpPr>
          <p:nvPr/>
        </p:nvCxnSpPr>
        <p:spPr>
          <a:xfrm>
            <a:off x="4640191" y="2735923"/>
            <a:ext cx="663329" cy="770944"/>
          </a:xfrm>
          <a:prstGeom prst="straightConnector1">
            <a:avLst/>
          </a:prstGeom>
          <a:ln w="25400">
            <a:solidFill>
              <a:srgbClr val="082A43"/>
            </a:solidFill>
          </a:ln>
        </p:spPr>
      </p:cxnSp>
      <p:sp>
        <p:nvSpPr>
          <p:cNvPr id="478" name="Rounded Rectangle 477"/>
          <p:cNvSpPr/>
          <p:nvPr/>
        </p:nvSpPr>
        <p:spPr>
          <a:xfrm>
            <a:off x="603504" y="4187952"/>
            <a:ext cx="11018520" cy="1938528"/>
          </a:xfrm>
          <a:prstGeom prst="roundRect">
            <a:avLst/>
          </a:prstGeom>
          <a:solidFill>
            <a:srgbClr val="FFFFFF"/>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9" name="TextBox 478"/>
          <p:cNvSpPr txBox="1"/>
          <p:nvPr/>
        </p:nvSpPr>
        <p:spPr>
          <a:xfrm>
            <a:off x="804672" y="4343400"/>
            <a:ext cx="4572000" cy="256032"/>
          </a:xfrm>
          <a:prstGeom prst="rect">
            <a:avLst/>
          </a:prstGeom>
          <a:noFill/>
        </p:spPr>
        <p:txBody>
          <a:bodyPr wrap="square">
            <a:spAutoFit/>
          </a:bodyPr>
          <a:lstStyle/>
          <a:p>
            <a:pPr algn="l"/>
            <a:r>
              <a:rPr sz="1250" b="1">
                <a:solidFill>
                  <a:srgbClr val="704EB8"/>
                </a:solidFill>
                <a:latin typeface="Aptos"/>
              </a:rPr>
              <a:t>HOW TO READ EACH BOX IN THE DIAGRAM</a:t>
            </a:r>
          </a:p>
        </p:txBody>
      </p:sp>
      <p:sp>
        <p:nvSpPr>
          <p:cNvPr id="480" name="TextBox 479"/>
          <p:cNvSpPr txBox="1"/>
          <p:nvPr/>
        </p:nvSpPr>
        <p:spPr>
          <a:xfrm>
            <a:off x="822960" y="4681728"/>
            <a:ext cx="1828800" cy="201168"/>
          </a:xfrm>
          <a:prstGeom prst="rect">
            <a:avLst/>
          </a:prstGeom>
          <a:noFill/>
        </p:spPr>
        <p:txBody>
          <a:bodyPr wrap="square">
            <a:spAutoFit/>
          </a:bodyPr>
          <a:lstStyle/>
          <a:p>
            <a:pPr algn="l"/>
            <a:r>
              <a:rPr sz="930" b="1">
                <a:solidFill>
                  <a:srgbClr val="0C385C"/>
                </a:solidFill>
                <a:latin typeface="Aptos"/>
              </a:rPr>
              <a:t>LR — Logistic Regression</a:t>
            </a:r>
          </a:p>
        </p:txBody>
      </p:sp>
      <p:sp>
        <p:nvSpPr>
          <p:cNvPr id="481" name="TextBox 480"/>
          <p:cNvSpPr txBox="1"/>
          <p:nvPr/>
        </p:nvSpPr>
        <p:spPr>
          <a:xfrm>
            <a:off x="2542032" y="4681728"/>
            <a:ext cx="2971800" cy="237744"/>
          </a:xfrm>
          <a:prstGeom prst="rect">
            <a:avLst/>
          </a:prstGeom>
          <a:noFill/>
        </p:spPr>
        <p:txBody>
          <a:bodyPr wrap="square">
            <a:spAutoFit/>
          </a:bodyPr>
          <a:lstStyle/>
          <a:p>
            <a:pPr algn="l"/>
            <a:r>
              <a:rPr sz="890" b="0">
                <a:solidFill>
                  <a:srgbClr val="263648"/>
                </a:solidFill>
                <a:latin typeface="Aptos"/>
              </a:rPr>
              <a:t>Linear probabilistic baseline; estimates class or progression probabilities.</a:t>
            </a:r>
          </a:p>
        </p:txBody>
      </p:sp>
      <p:sp>
        <p:nvSpPr>
          <p:cNvPr id="482" name="TextBox 481"/>
          <p:cNvSpPr txBox="1"/>
          <p:nvPr/>
        </p:nvSpPr>
        <p:spPr>
          <a:xfrm>
            <a:off x="822960" y="4910328"/>
            <a:ext cx="1828800" cy="201168"/>
          </a:xfrm>
          <a:prstGeom prst="rect">
            <a:avLst/>
          </a:prstGeom>
          <a:noFill/>
        </p:spPr>
        <p:txBody>
          <a:bodyPr wrap="square">
            <a:spAutoFit/>
          </a:bodyPr>
          <a:lstStyle/>
          <a:p>
            <a:pPr algn="l"/>
            <a:r>
              <a:rPr sz="930" b="1">
                <a:solidFill>
                  <a:srgbClr val="0C385C"/>
                </a:solidFill>
                <a:latin typeface="Aptos"/>
              </a:rPr>
              <a:t>SVM — Support Vector Machine</a:t>
            </a:r>
          </a:p>
        </p:txBody>
      </p:sp>
      <p:sp>
        <p:nvSpPr>
          <p:cNvPr id="483" name="TextBox 482"/>
          <p:cNvSpPr txBox="1"/>
          <p:nvPr/>
        </p:nvSpPr>
        <p:spPr>
          <a:xfrm>
            <a:off x="2542032" y="4910328"/>
            <a:ext cx="2971800" cy="237744"/>
          </a:xfrm>
          <a:prstGeom prst="rect">
            <a:avLst/>
          </a:prstGeom>
          <a:noFill/>
        </p:spPr>
        <p:txBody>
          <a:bodyPr wrap="square">
            <a:spAutoFit/>
          </a:bodyPr>
          <a:lstStyle/>
          <a:p>
            <a:pPr algn="l"/>
            <a:r>
              <a:rPr sz="890" b="0" dirty="0">
                <a:solidFill>
                  <a:srgbClr val="263648"/>
                </a:solidFill>
                <a:latin typeface="Aptos"/>
              </a:rPr>
              <a:t>RBF-kernel nonlinear classifier; probability estimates are calibrated before combination.</a:t>
            </a:r>
          </a:p>
        </p:txBody>
      </p:sp>
      <p:sp>
        <p:nvSpPr>
          <p:cNvPr id="484" name="TextBox 483"/>
          <p:cNvSpPr txBox="1"/>
          <p:nvPr/>
        </p:nvSpPr>
        <p:spPr>
          <a:xfrm>
            <a:off x="822960" y="5138928"/>
            <a:ext cx="1828800" cy="201168"/>
          </a:xfrm>
          <a:prstGeom prst="rect">
            <a:avLst/>
          </a:prstGeom>
          <a:noFill/>
        </p:spPr>
        <p:txBody>
          <a:bodyPr wrap="square">
            <a:spAutoFit/>
          </a:bodyPr>
          <a:lstStyle/>
          <a:p>
            <a:pPr algn="l"/>
            <a:r>
              <a:rPr sz="930" b="1">
                <a:solidFill>
                  <a:srgbClr val="0C385C"/>
                </a:solidFill>
                <a:latin typeface="Aptos"/>
              </a:rPr>
              <a:t>RF — Random Forest</a:t>
            </a:r>
          </a:p>
        </p:txBody>
      </p:sp>
      <p:sp>
        <p:nvSpPr>
          <p:cNvPr id="485" name="TextBox 484"/>
          <p:cNvSpPr txBox="1"/>
          <p:nvPr/>
        </p:nvSpPr>
        <p:spPr>
          <a:xfrm>
            <a:off x="2542032" y="5138928"/>
            <a:ext cx="2971800" cy="237744"/>
          </a:xfrm>
          <a:prstGeom prst="rect">
            <a:avLst/>
          </a:prstGeom>
          <a:noFill/>
        </p:spPr>
        <p:txBody>
          <a:bodyPr wrap="square">
            <a:spAutoFit/>
          </a:bodyPr>
          <a:lstStyle/>
          <a:p>
            <a:pPr algn="l"/>
            <a:r>
              <a:rPr sz="890" b="0">
                <a:solidFill>
                  <a:srgbClr val="263648"/>
                </a:solidFill>
                <a:latin typeface="Aptos"/>
              </a:rPr>
              <a:t>Bagging ensemble of decision trees; its tree votes are converted into probabilities.</a:t>
            </a:r>
          </a:p>
        </p:txBody>
      </p:sp>
      <p:sp>
        <p:nvSpPr>
          <p:cNvPr id="486" name="TextBox 485"/>
          <p:cNvSpPr txBox="1"/>
          <p:nvPr/>
        </p:nvSpPr>
        <p:spPr>
          <a:xfrm>
            <a:off x="822960" y="5367528"/>
            <a:ext cx="1828800" cy="201168"/>
          </a:xfrm>
          <a:prstGeom prst="rect">
            <a:avLst/>
          </a:prstGeom>
          <a:noFill/>
        </p:spPr>
        <p:txBody>
          <a:bodyPr wrap="square">
            <a:spAutoFit/>
          </a:bodyPr>
          <a:lstStyle/>
          <a:p>
            <a:pPr algn="l"/>
            <a:r>
              <a:rPr sz="930" b="1">
                <a:solidFill>
                  <a:srgbClr val="0C385C"/>
                </a:solidFill>
                <a:latin typeface="Aptos"/>
              </a:rPr>
              <a:t>XGB — XGBoost</a:t>
            </a:r>
          </a:p>
        </p:txBody>
      </p:sp>
      <p:sp>
        <p:nvSpPr>
          <p:cNvPr id="487" name="TextBox 486"/>
          <p:cNvSpPr txBox="1"/>
          <p:nvPr/>
        </p:nvSpPr>
        <p:spPr>
          <a:xfrm>
            <a:off x="2542032" y="5367528"/>
            <a:ext cx="2971800" cy="237744"/>
          </a:xfrm>
          <a:prstGeom prst="rect">
            <a:avLst/>
          </a:prstGeom>
          <a:noFill/>
        </p:spPr>
        <p:txBody>
          <a:bodyPr wrap="square">
            <a:spAutoFit/>
          </a:bodyPr>
          <a:lstStyle/>
          <a:p>
            <a:pPr algn="l"/>
            <a:r>
              <a:rPr sz="890" b="0">
                <a:solidFill>
                  <a:srgbClr val="263648"/>
                </a:solidFill>
                <a:latin typeface="Aptos"/>
              </a:rPr>
              <a:t>Gradient-boosted decision trees trained sequentially to reduce prediction errors.</a:t>
            </a:r>
          </a:p>
        </p:txBody>
      </p:sp>
      <p:sp>
        <p:nvSpPr>
          <p:cNvPr id="488" name="TextBox 487"/>
          <p:cNvSpPr txBox="1"/>
          <p:nvPr/>
        </p:nvSpPr>
        <p:spPr>
          <a:xfrm>
            <a:off x="822960" y="5596128"/>
            <a:ext cx="1828800" cy="201168"/>
          </a:xfrm>
          <a:prstGeom prst="rect">
            <a:avLst/>
          </a:prstGeom>
          <a:noFill/>
        </p:spPr>
        <p:txBody>
          <a:bodyPr wrap="square">
            <a:spAutoFit/>
          </a:bodyPr>
          <a:lstStyle/>
          <a:p>
            <a:pPr algn="l"/>
            <a:r>
              <a:rPr sz="930" b="1">
                <a:solidFill>
                  <a:srgbClr val="0C385C"/>
                </a:solidFill>
                <a:latin typeface="Aptos"/>
              </a:rPr>
              <a:t>MLP — Multilayer Perceptron</a:t>
            </a:r>
          </a:p>
        </p:txBody>
      </p:sp>
      <p:sp>
        <p:nvSpPr>
          <p:cNvPr id="489" name="TextBox 488"/>
          <p:cNvSpPr txBox="1"/>
          <p:nvPr/>
        </p:nvSpPr>
        <p:spPr>
          <a:xfrm>
            <a:off x="2542032" y="5596128"/>
            <a:ext cx="2971800" cy="237744"/>
          </a:xfrm>
          <a:prstGeom prst="rect">
            <a:avLst/>
          </a:prstGeom>
          <a:noFill/>
        </p:spPr>
        <p:txBody>
          <a:bodyPr wrap="square">
            <a:spAutoFit/>
          </a:bodyPr>
          <a:lstStyle/>
          <a:p>
            <a:pPr algn="l"/>
            <a:r>
              <a:rPr sz="890" b="0" dirty="0">
                <a:solidFill>
                  <a:srgbClr val="263648"/>
                </a:solidFill>
                <a:latin typeface="Aptos"/>
              </a:rPr>
              <a:t>Feed-forward neural network that learns nonlinear feature relationships.</a:t>
            </a:r>
          </a:p>
        </p:txBody>
      </p:sp>
      <p:sp>
        <p:nvSpPr>
          <p:cNvPr id="490" name="TextBox 489"/>
          <p:cNvSpPr txBox="1"/>
          <p:nvPr/>
        </p:nvSpPr>
        <p:spPr>
          <a:xfrm>
            <a:off x="822960" y="5824728"/>
            <a:ext cx="1828800" cy="201168"/>
          </a:xfrm>
          <a:prstGeom prst="rect">
            <a:avLst/>
          </a:prstGeom>
          <a:noFill/>
        </p:spPr>
        <p:txBody>
          <a:bodyPr wrap="square">
            <a:spAutoFit/>
          </a:bodyPr>
          <a:lstStyle/>
          <a:p>
            <a:pPr algn="l"/>
            <a:r>
              <a:rPr sz="930" b="1">
                <a:solidFill>
                  <a:srgbClr val="0C385C"/>
                </a:solidFill>
                <a:latin typeface="Aptos"/>
              </a:rPr>
              <a:t>Probability outputs</a:t>
            </a:r>
          </a:p>
        </p:txBody>
      </p:sp>
      <p:sp>
        <p:nvSpPr>
          <p:cNvPr id="491" name="TextBox 490"/>
          <p:cNvSpPr txBox="1"/>
          <p:nvPr/>
        </p:nvSpPr>
        <p:spPr>
          <a:xfrm>
            <a:off x="2542032" y="5824728"/>
            <a:ext cx="2971800" cy="237744"/>
          </a:xfrm>
          <a:prstGeom prst="rect">
            <a:avLst/>
          </a:prstGeom>
          <a:noFill/>
        </p:spPr>
        <p:txBody>
          <a:bodyPr wrap="square">
            <a:spAutoFit/>
          </a:bodyPr>
          <a:lstStyle/>
          <a:p>
            <a:pPr algn="l"/>
            <a:r>
              <a:rPr sz="890" b="0">
                <a:solidFill>
                  <a:srgbClr val="263648"/>
                </a:solidFill>
                <a:latin typeface="Aptos"/>
              </a:rPr>
              <a:t>Common interface: every base learner produces probabilities rather than only a hard class label.</a:t>
            </a:r>
          </a:p>
        </p:txBody>
      </p:sp>
      <p:sp>
        <p:nvSpPr>
          <p:cNvPr id="492" name="TextBox 491"/>
          <p:cNvSpPr txBox="1"/>
          <p:nvPr/>
        </p:nvSpPr>
        <p:spPr>
          <a:xfrm>
            <a:off x="5806440" y="4681728"/>
            <a:ext cx="1508760" cy="201168"/>
          </a:xfrm>
          <a:prstGeom prst="rect">
            <a:avLst/>
          </a:prstGeom>
          <a:noFill/>
        </p:spPr>
        <p:txBody>
          <a:bodyPr wrap="square">
            <a:spAutoFit/>
          </a:bodyPr>
          <a:lstStyle/>
          <a:p>
            <a:pPr algn="l"/>
            <a:r>
              <a:rPr sz="930" b="1">
                <a:solidFill>
                  <a:srgbClr val="0A9194"/>
                </a:solidFill>
                <a:latin typeface="Aptos"/>
              </a:rPr>
              <a:t>A — Soft Voting</a:t>
            </a:r>
          </a:p>
        </p:txBody>
      </p:sp>
      <p:sp>
        <p:nvSpPr>
          <p:cNvPr id="493" name="TextBox 492"/>
          <p:cNvSpPr txBox="1"/>
          <p:nvPr/>
        </p:nvSpPr>
        <p:spPr>
          <a:xfrm>
            <a:off x="7242048" y="4681728"/>
            <a:ext cx="4069080" cy="237744"/>
          </a:xfrm>
          <a:prstGeom prst="rect">
            <a:avLst/>
          </a:prstGeom>
          <a:noFill/>
        </p:spPr>
        <p:txBody>
          <a:bodyPr wrap="square">
            <a:spAutoFit/>
          </a:bodyPr>
          <a:lstStyle/>
          <a:p>
            <a:pPr algn="l"/>
            <a:r>
              <a:rPr sz="890" b="0">
                <a:solidFill>
                  <a:srgbClr val="263648"/>
                </a:solidFill>
                <a:latin typeface="Aptos"/>
              </a:rPr>
              <a:t>Mean calibrated probabilities: all five base learners contribute equally.</a:t>
            </a:r>
          </a:p>
        </p:txBody>
      </p:sp>
      <p:sp>
        <p:nvSpPr>
          <p:cNvPr id="494" name="TextBox 493"/>
          <p:cNvSpPr txBox="1"/>
          <p:nvPr/>
        </p:nvSpPr>
        <p:spPr>
          <a:xfrm>
            <a:off x="5806440" y="4910328"/>
            <a:ext cx="1508760" cy="201168"/>
          </a:xfrm>
          <a:prstGeom prst="rect">
            <a:avLst/>
          </a:prstGeom>
          <a:noFill/>
        </p:spPr>
        <p:txBody>
          <a:bodyPr wrap="square">
            <a:spAutoFit/>
          </a:bodyPr>
          <a:lstStyle/>
          <a:p>
            <a:pPr algn="l"/>
            <a:r>
              <a:rPr sz="930" b="1">
                <a:solidFill>
                  <a:srgbClr val="0A9194"/>
                </a:solidFill>
                <a:latin typeface="Aptos"/>
              </a:rPr>
              <a:t>B — Weighted Voting</a:t>
            </a:r>
          </a:p>
        </p:txBody>
      </p:sp>
      <p:sp>
        <p:nvSpPr>
          <p:cNvPr id="495" name="TextBox 494"/>
          <p:cNvSpPr txBox="1"/>
          <p:nvPr/>
        </p:nvSpPr>
        <p:spPr>
          <a:xfrm>
            <a:off x="7242048" y="4910328"/>
            <a:ext cx="4069080" cy="237744"/>
          </a:xfrm>
          <a:prstGeom prst="rect">
            <a:avLst/>
          </a:prstGeom>
          <a:noFill/>
        </p:spPr>
        <p:txBody>
          <a:bodyPr wrap="square">
            <a:spAutoFit/>
          </a:bodyPr>
          <a:lstStyle/>
          <a:p>
            <a:pPr algn="l"/>
            <a:r>
              <a:rPr sz="890" b="0">
                <a:solidFill>
                  <a:srgbClr val="263648"/>
                </a:solidFill>
                <a:latin typeface="Aptos"/>
              </a:rPr>
              <a:t>Validation-derived weights: models can contribute differently; weights are chosen without the test set.</a:t>
            </a:r>
          </a:p>
        </p:txBody>
      </p:sp>
      <p:sp>
        <p:nvSpPr>
          <p:cNvPr id="496" name="TextBox 495"/>
          <p:cNvSpPr txBox="1"/>
          <p:nvPr/>
        </p:nvSpPr>
        <p:spPr>
          <a:xfrm>
            <a:off x="5806440" y="5138928"/>
            <a:ext cx="1508760" cy="201168"/>
          </a:xfrm>
          <a:prstGeom prst="rect">
            <a:avLst/>
          </a:prstGeom>
          <a:noFill/>
        </p:spPr>
        <p:txBody>
          <a:bodyPr wrap="square">
            <a:spAutoFit/>
          </a:bodyPr>
          <a:lstStyle/>
          <a:p>
            <a:pPr algn="l"/>
            <a:r>
              <a:rPr sz="930" b="1">
                <a:solidFill>
                  <a:srgbClr val="0A9194"/>
                </a:solidFill>
                <a:latin typeface="Aptos"/>
              </a:rPr>
              <a:t>C — Stacking</a:t>
            </a:r>
          </a:p>
        </p:txBody>
      </p:sp>
      <p:sp>
        <p:nvSpPr>
          <p:cNvPr id="497" name="TextBox 496"/>
          <p:cNvSpPr txBox="1"/>
          <p:nvPr/>
        </p:nvSpPr>
        <p:spPr>
          <a:xfrm>
            <a:off x="7242048" y="5138928"/>
            <a:ext cx="4069080" cy="237744"/>
          </a:xfrm>
          <a:prstGeom prst="rect">
            <a:avLst/>
          </a:prstGeom>
          <a:noFill/>
        </p:spPr>
        <p:txBody>
          <a:bodyPr wrap="square">
            <a:spAutoFit/>
          </a:bodyPr>
          <a:lstStyle/>
          <a:p>
            <a:pPr algn="l"/>
            <a:r>
              <a:rPr sz="890" b="0">
                <a:solidFill>
                  <a:srgbClr val="263648"/>
                </a:solidFill>
                <a:latin typeface="Aptos"/>
              </a:rPr>
              <a:t>Out-of-fold base-model probabilities become inputs to a second-level Logistic Regression meta-model.</a:t>
            </a:r>
          </a:p>
        </p:txBody>
      </p:sp>
      <p:sp>
        <p:nvSpPr>
          <p:cNvPr id="498" name="TextBox 497"/>
          <p:cNvSpPr txBox="1"/>
          <p:nvPr/>
        </p:nvSpPr>
        <p:spPr>
          <a:xfrm>
            <a:off x="5806440" y="5367528"/>
            <a:ext cx="1508760" cy="201168"/>
          </a:xfrm>
          <a:prstGeom prst="rect">
            <a:avLst/>
          </a:prstGeom>
          <a:noFill/>
        </p:spPr>
        <p:txBody>
          <a:bodyPr wrap="square">
            <a:spAutoFit/>
          </a:bodyPr>
          <a:lstStyle/>
          <a:p>
            <a:pPr algn="l"/>
            <a:r>
              <a:rPr sz="930" b="1">
                <a:solidFill>
                  <a:srgbClr val="0C385C"/>
                </a:solidFill>
                <a:latin typeface="Aptos"/>
              </a:rPr>
              <a:t>Out-of-fold (OOF)</a:t>
            </a:r>
          </a:p>
        </p:txBody>
      </p:sp>
      <p:sp>
        <p:nvSpPr>
          <p:cNvPr id="499" name="TextBox 498"/>
          <p:cNvSpPr txBox="1"/>
          <p:nvPr/>
        </p:nvSpPr>
        <p:spPr>
          <a:xfrm>
            <a:off x="7242048" y="5367528"/>
            <a:ext cx="4069080" cy="237744"/>
          </a:xfrm>
          <a:prstGeom prst="rect">
            <a:avLst/>
          </a:prstGeom>
          <a:noFill/>
        </p:spPr>
        <p:txBody>
          <a:bodyPr wrap="square">
            <a:spAutoFit/>
          </a:bodyPr>
          <a:lstStyle/>
          <a:p>
            <a:pPr algn="l"/>
            <a:r>
              <a:rPr sz="890" b="0">
                <a:solidFill>
                  <a:srgbClr val="263648"/>
                </a:solidFill>
                <a:latin typeface="Aptos"/>
              </a:rPr>
              <a:t>A training participant is predicted by a fold model that did not train on that participant.</a:t>
            </a:r>
          </a:p>
        </p:txBody>
      </p:sp>
      <p:sp>
        <p:nvSpPr>
          <p:cNvPr id="500" name="TextBox 499"/>
          <p:cNvSpPr txBox="1"/>
          <p:nvPr/>
        </p:nvSpPr>
        <p:spPr>
          <a:xfrm>
            <a:off x="5806440" y="5596128"/>
            <a:ext cx="1508760" cy="201168"/>
          </a:xfrm>
          <a:prstGeom prst="rect">
            <a:avLst/>
          </a:prstGeom>
          <a:noFill/>
        </p:spPr>
        <p:txBody>
          <a:bodyPr wrap="square">
            <a:spAutoFit/>
          </a:bodyPr>
          <a:lstStyle/>
          <a:p>
            <a:pPr algn="l"/>
            <a:r>
              <a:rPr sz="930" b="1">
                <a:solidFill>
                  <a:srgbClr val="0C385C"/>
                </a:solidFill>
                <a:latin typeface="Aptos"/>
              </a:rPr>
              <a:t>LR meta-model</a:t>
            </a:r>
          </a:p>
        </p:txBody>
      </p:sp>
      <p:sp>
        <p:nvSpPr>
          <p:cNvPr id="501" name="TextBox 500"/>
          <p:cNvSpPr txBox="1"/>
          <p:nvPr/>
        </p:nvSpPr>
        <p:spPr>
          <a:xfrm>
            <a:off x="7242048" y="5596128"/>
            <a:ext cx="4069080" cy="237744"/>
          </a:xfrm>
          <a:prstGeom prst="rect">
            <a:avLst/>
          </a:prstGeom>
          <a:noFill/>
        </p:spPr>
        <p:txBody>
          <a:bodyPr wrap="square">
            <a:spAutoFit/>
          </a:bodyPr>
          <a:lstStyle/>
          <a:p>
            <a:pPr algn="l"/>
            <a:r>
              <a:rPr sz="890" b="0">
                <a:solidFill>
                  <a:srgbClr val="263648"/>
                </a:solidFill>
                <a:latin typeface="Aptos"/>
              </a:rPr>
              <a:t>A Logistic Regression model learns how to combine the five base-model probability outputs.</a:t>
            </a:r>
          </a:p>
        </p:txBody>
      </p:sp>
      <p:sp>
        <p:nvSpPr>
          <p:cNvPr id="502" name="TextBox 501"/>
          <p:cNvSpPr txBox="1"/>
          <p:nvPr/>
        </p:nvSpPr>
        <p:spPr>
          <a:xfrm>
            <a:off x="5806440" y="5824728"/>
            <a:ext cx="1508760" cy="201168"/>
          </a:xfrm>
          <a:prstGeom prst="rect">
            <a:avLst/>
          </a:prstGeom>
          <a:noFill/>
        </p:spPr>
        <p:txBody>
          <a:bodyPr wrap="square">
            <a:spAutoFit/>
          </a:bodyPr>
          <a:lstStyle/>
          <a:p>
            <a:pPr algn="l"/>
            <a:r>
              <a:rPr sz="930" b="1">
                <a:solidFill>
                  <a:srgbClr val="0C385C"/>
                </a:solidFill>
                <a:latin typeface="Aptos"/>
              </a:rPr>
              <a:t>8 configurations</a:t>
            </a:r>
          </a:p>
        </p:txBody>
      </p:sp>
      <p:sp>
        <p:nvSpPr>
          <p:cNvPr id="503" name="TextBox 502"/>
          <p:cNvSpPr txBox="1"/>
          <p:nvPr/>
        </p:nvSpPr>
        <p:spPr>
          <a:xfrm>
            <a:off x="7242048" y="5824728"/>
            <a:ext cx="4069080" cy="237744"/>
          </a:xfrm>
          <a:prstGeom prst="rect">
            <a:avLst/>
          </a:prstGeom>
          <a:noFill/>
        </p:spPr>
        <p:txBody>
          <a:bodyPr wrap="square">
            <a:spAutoFit/>
          </a:bodyPr>
          <a:lstStyle/>
          <a:p>
            <a:pPr algn="l"/>
            <a:r>
              <a:rPr sz="890" b="0">
                <a:solidFill>
                  <a:srgbClr val="263648"/>
                </a:solidFill>
                <a:latin typeface="Aptos"/>
              </a:rPr>
              <a:t>The study compares 5 individual models plus 3 ensemble strategies under the same evaluation protocol.</a:t>
            </a:r>
          </a:p>
        </p:txBody>
      </p:sp>
      <p:sp>
        <p:nvSpPr>
          <p:cNvPr id="504" name="TextBox 503"/>
          <p:cNvSpPr txBox="1"/>
          <p:nvPr/>
        </p:nvSpPr>
        <p:spPr>
          <a:xfrm>
            <a:off x="804672" y="6165597"/>
            <a:ext cx="10469880" cy="201168"/>
          </a:xfrm>
          <a:prstGeom prst="rect">
            <a:avLst/>
          </a:prstGeom>
          <a:noFill/>
        </p:spPr>
        <p:txBody>
          <a:bodyPr wrap="square">
            <a:spAutoFit/>
          </a:bodyPr>
          <a:lstStyle/>
          <a:p>
            <a:pPr algn="ctr"/>
            <a:r>
              <a:rPr sz="869" b="0" dirty="0">
                <a:solidFill>
                  <a:srgbClr val="607488"/>
                </a:solidFill>
                <a:latin typeface="Aptos"/>
              </a:rPr>
              <a:t>RBF = Radial Basis Function  •  Bagging = bootstrap aggregation  •  OOF = out-of-fold  •  Meta-model = model that combines other models’ outputs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TextBox 1"/>
          <p:cNvSpPr/>
          <p:nvPr/>
        </p:nvSpPr>
        <p:spPr>
          <a:xfrm>
            <a:off x="502920" y="255960"/>
            <a:ext cx="1115532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100" b="1" u="none" strike="noStrike">
                <a:solidFill>
                  <a:srgbClr val="008197"/>
                </a:solidFill>
                <a:effectLst/>
                <a:uFillTx/>
                <a:latin typeface="Aptos"/>
              </a:rPr>
              <a:t>ENSEMBLE C</a:t>
            </a:r>
            <a:endParaRPr lang="en-US" sz="1100" b="0" u="none" strike="noStrike">
              <a:solidFill>
                <a:srgbClr val="000000"/>
              </a:solidFill>
              <a:effectLst/>
              <a:uFillTx/>
              <a:latin typeface="Arial"/>
            </a:endParaRPr>
          </a:p>
        </p:txBody>
      </p:sp>
      <p:sp>
        <p:nvSpPr>
          <p:cNvPr id="479" name="TextBox 2"/>
          <p:cNvSpPr/>
          <p:nvPr/>
        </p:nvSpPr>
        <p:spPr>
          <a:xfrm>
            <a:off x="502920" y="621720"/>
            <a:ext cx="11155320" cy="5666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2700" b="1" u="none" strike="noStrike">
                <a:solidFill>
                  <a:srgbClr val="082A43"/>
                </a:solidFill>
                <a:effectLst/>
                <a:uFillTx/>
                <a:latin typeface="Aptos"/>
              </a:rPr>
              <a:t>Leakage-safe stacking</a:t>
            </a:r>
            <a:endParaRPr lang="en-US" sz="2700" b="0" u="none" strike="noStrike">
              <a:solidFill>
                <a:srgbClr val="000000"/>
              </a:solidFill>
              <a:effectLst/>
              <a:uFillTx/>
              <a:latin typeface="Arial"/>
            </a:endParaRPr>
          </a:p>
        </p:txBody>
      </p:sp>
      <p:sp>
        <p:nvSpPr>
          <p:cNvPr id="480" name="TextBox 3"/>
          <p:cNvSpPr/>
          <p:nvPr/>
        </p:nvSpPr>
        <p:spPr>
          <a:xfrm>
            <a:off x="530280" y="122544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5A6973"/>
                </a:solidFill>
                <a:effectLst/>
                <a:uFillTx/>
                <a:latin typeface="Aptos"/>
              </a:rPr>
              <a:t>Stacking is the advanced ensemble: the meta-learner sees only out-of-fold predictions from the five base models.</a:t>
            </a:r>
            <a:endParaRPr lang="en-US" sz="1300" b="0" u="none" strike="noStrike">
              <a:solidFill>
                <a:srgbClr val="000000"/>
              </a:solidFill>
              <a:effectLst/>
              <a:uFillTx/>
              <a:latin typeface="Arial"/>
            </a:endParaRPr>
          </a:p>
        </p:txBody>
      </p:sp>
      <p:cxnSp>
        <p:nvCxnSpPr>
          <p:cNvPr id="481" name="Connector 4"/>
          <p:cNvCxnSpPr/>
          <p:nvPr/>
        </p:nvCxnSpPr>
        <p:spPr>
          <a:xfrm>
            <a:off x="502920" y="1764720"/>
            <a:ext cx="11156040" cy="360"/>
          </a:xfrm>
          <a:prstGeom prst="straightConnector1">
            <a:avLst/>
          </a:prstGeom>
          <a:ln w="17780">
            <a:solidFill>
              <a:srgbClr val="008197"/>
            </a:solidFill>
          </a:ln>
        </p:spPr>
      </p:cxnSp>
      <p:sp>
        <p:nvSpPr>
          <p:cNvPr id="482" name="Rounded Rectangle 5"/>
          <p:cNvSpPr/>
          <p:nvPr/>
        </p:nvSpPr>
        <p:spPr>
          <a:xfrm>
            <a:off x="640080" y="2057400"/>
            <a:ext cx="1965600" cy="685440"/>
          </a:xfrm>
          <a:prstGeom prst="roundRect">
            <a:avLst>
              <a:gd name="adj" fmla="val 16667"/>
            </a:avLst>
          </a:prstGeom>
          <a:solidFill>
            <a:srgbClr val="082A43"/>
          </a:solidFill>
          <a:ln>
            <a:solidFill>
              <a:srgbClr val="082A43"/>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700" b="1" u="none" strike="noStrike">
                <a:solidFill>
                  <a:srgbClr val="FFFFFF"/>
                </a:solidFill>
                <a:effectLst/>
                <a:uFillTx/>
                <a:latin typeface="Aptos"/>
              </a:rPr>
              <a:t>Training cohort</a:t>
            </a:r>
            <a:endParaRPr lang="en-US" sz="1700" b="0" u="none" strike="noStrike">
              <a:solidFill>
                <a:srgbClr val="FFFFFF"/>
              </a:solidFill>
              <a:effectLst/>
              <a:uFillTx/>
              <a:latin typeface="Arial"/>
            </a:endParaRPr>
          </a:p>
        </p:txBody>
      </p:sp>
      <p:cxnSp>
        <p:nvCxnSpPr>
          <p:cNvPr id="483" name="Connector 6"/>
          <p:cNvCxnSpPr/>
          <p:nvPr/>
        </p:nvCxnSpPr>
        <p:spPr>
          <a:xfrm>
            <a:off x="2606040" y="2395440"/>
            <a:ext cx="457560" cy="360"/>
          </a:xfrm>
          <a:prstGeom prst="straightConnector1">
            <a:avLst/>
          </a:prstGeom>
          <a:ln w="25400">
            <a:solidFill>
              <a:srgbClr val="082A43"/>
            </a:solidFill>
          </a:ln>
        </p:spPr>
      </p:cxnSp>
      <p:sp>
        <p:nvSpPr>
          <p:cNvPr id="484" name="Rounded Rectangle 7"/>
          <p:cNvSpPr/>
          <p:nvPr/>
        </p:nvSpPr>
        <p:spPr>
          <a:xfrm>
            <a:off x="3108960" y="2057400"/>
            <a:ext cx="2102760" cy="68544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700" b="1" u="none" strike="noStrike">
                <a:solidFill>
                  <a:srgbClr val="FFFFFF"/>
                </a:solidFill>
                <a:effectLst/>
                <a:uFillTx/>
                <a:latin typeface="Aptos"/>
              </a:rPr>
              <a:t>K-fold CV</a:t>
            </a:r>
            <a:endParaRPr lang="en-US" sz="1700" b="0" u="none" strike="noStrike">
              <a:solidFill>
                <a:srgbClr val="FFFFFF"/>
              </a:solidFill>
              <a:effectLst/>
              <a:uFillTx/>
              <a:latin typeface="Arial"/>
            </a:endParaRPr>
          </a:p>
        </p:txBody>
      </p:sp>
      <p:cxnSp>
        <p:nvCxnSpPr>
          <p:cNvPr id="485" name="Connector 8"/>
          <p:cNvCxnSpPr/>
          <p:nvPr/>
        </p:nvCxnSpPr>
        <p:spPr>
          <a:xfrm>
            <a:off x="5212080" y="2395440"/>
            <a:ext cx="457560" cy="360"/>
          </a:xfrm>
          <a:prstGeom prst="straightConnector1">
            <a:avLst/>
          </a:prstGeom>
          <a:ln w="25400">
            <a:solidFill>
              <a:srgbClr val="082A43"/>
            </a:solidFill>
          </a:ln>
        </p:spPr>
      </p:cxnSp>
      <p:sp>
        <p:nvSpPr>
          <p:cNvPr id="486" name="Rounded Rectangle 9"/>
          <p:cNvSpPr/>
          <p:nvPr/>
        </p:nvSpPr>
        <p:spPr>
          <a:xfrm>
            <a:off x="5715000" y="1965960"/>
            <a:ext cx="2285640" cy="86832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r>
              <a:rPr lang="en-US" sz="1600" b="1" u="none" strike="noStrike">
                <a:solidFill>
                  <a:srgbClr val="FFFFFF"/>
                </a:solidFill>
                <a:effectLst/>
                <a:uFillTx/>
                <a:latin typeface="Aptos"/>
              </a:rPr>
              <a:t>5 × out-of-fold</a:t>
            </a:r>
            <a:endParaRPr lang="en-US" sz="1600" b="0" u="none" strike="noStrike">
              <a:solidFill>
                <a:srgbClr val="FFFFFF"/>
              </a:solidFill>
              <a:effectLst/>
              <a:uFillTx/>
              <a:latin typeface="Arial"/>
            </a:endParaRPr>
          </a:p>
          <a:p>
            <a:pPr algn="ctr" defTabSz="914400">
              <a:lnSpc>
                <a:spcPct val="100000"/>
              </a:lnSpc>
            </a:pPr>
            <a:r>
              <a:rPr lang="en-US" sz="1600" b="1" u="none" strike="noStrike">
                <a:solidFill>
                  <a:srgbClr val="FFFFFF"/>
                </a:solidFill>
                <a:effectLst/>
                <a:uFillTx/>
                <a:latin typeface="Aptos"/>
              </a:rPr>
              <a:t>probabilities</a:t>
            </a:r>
            <a:endParaRPr lang="en-US" sz="1600" b="0" u="none" strike="noStrike">
              <a:solidFill>
                <a:srgbClr val="FFFFFF"/>
              </a:solidFill>
              <a:effectLst/>
              <a:uFillTx/>
              <a:latin typeface="Arial"/>
            </a:endParaRPr>
          </a:p>
        </p:txBody>
      </p:sp>
      <p:cxnSp>
        <p:nvCxnSpPr>
          <p:cNvPr id="487" name="Connector 10"/>
          <p:cNvCxnSpPr/>
          <p:nvPr/>
        </p:nvCxnSpPr>
        <p:spPr>
          <a:xfrm>
            <a:off x="8001000" y="2395440"/>
            <a:ext cx="457560" cy="360"/>
          </a:xfrm>
          <a:prstGeom prst="straightConnector1">
            <a:avLst/>
          </a:prstGeom>
          <a:ln w="25400">
            <a:solidFill>
              <a:srgbClr val="082A43"/>
            </a:solidFill>
          </a:ln>
        </p:spPr>
      </p:cxnSp>
      <p:sp>
        <p:nvSpPr>
          <p:cNvPr id="488" name="Rounded Rectangle 11"/>
          <p:cNvSpPr/>
          <p:nvPr/>
        </p:nvSpPr>
        <p:spPr>
          <a:xfrm>
            <a:off x="8503920" y="2057400"/>
            <a:ext cx="2239920" cy="685440"/>
          </a:xfrm>
          <a:prstGeom prst="roundRect">
            <a:avLst>
              <a:gd name="adj" fmla="val 16667"/>
            </a:avLst>
          </a:prstGeom>
          <a:solidFill>
            <a:srgbClr val="DB9D29"/>
          </a:solidFill>
          <a:ln>
            <a:solidFill>
              <a:srgbClr val="DB9D2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700" b="1" u="none" strike="noStrike">
                <a:solidFill>
                  <a:srgbClr val="FFFFFF"/>
                </a:solidFill>
                <a:effectLst/>
                <a:uFillTx/>
                <a:latin typeface="Aptos"/>
              </a:rPr>
              <a:t>LR meta-learner</a:t>
            </a:r>
            <a:endParaRPr lang="en-US" sz="1700" b="0" u="none" strike="noStrike">
              <a:solidFill>
                <a:srgbClr val="000000"/>
              </a:solidFill>
              <a:effectLst/>
              <a:uFillTx/>
              <a:latin typeface="Arial"/>
            </a:endParaRPr>
          </a:p>
        </p:txBody>
      </p:sp>
      <p:sp>
        <p:nvSpPr>
          <p:cNvPr id="489" name="Rounded Rectangle 12"/>
          <p:cNvSpPr/>
          <p:nvPr/>
        </p:nvSpPr>
        <p:spPr>
          <a:xfrm>
            <a:off x="1828800" y="3429000"/>
            <a:ext cx="8229240" cy="658080"/>
          </a:xfrm>
          <a:prstGeom prst="roundRect">
            <a:avLst>
              <a:gd name="adj" fmla="val 16667"/>
            </a:avLst>
          </a:prstGeom>
          <a:solidFill>
            <a:srgbClr val="F4F7F9"/>
          </a:solidFill>
          <a:ln>
            <a:solidFill>
              <a:srgbClr val="F4F7F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2000" b="1" u="none" strike="noStrike">
                <a:solidFill>
                  <a:srgbClr val="082A43"/>
                </a:solidFill>
                <a:effectLst/>
                <a:uFillTx/>
                <a:latin typeface="Aptos"/>
              </a:rPr>
              <a:t>Z = [ P_LR , P_SVM , P_RF , P_XGB , P_MLP ]</a:t>
            </a:r>
            <a:endParaRPr lang="en-US" sz="2000" b="0" u="none" strike="noStrike">
              <a:solidFill>
                <a:srgbClr val="000000"/>
              </a:solidFill>
              <a:effectLst/>
              <a:uFillTx/>
              <a:latin typeface="Arial"/>
            </a:endParaRPr>
          </a:p>
        </p:txBody>
      </p:sp>
      <p:sp>
        <p:nvSpPr>
          <p:cNvPr id="490" name="TextBox 13"/>
          <p:cNvSpPr/>
          <p:nvPr/>
        </p:nvSpPr>
        <p:spPr>
          <a:xfrm>
            <a:off x="777240" y="443484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600" b="0" u="none" strike="noStrike">
                <a:solidFill>
                  <a:srgbClr val="1E2D37"/>
                </a:solidFill>
                <a:effectLst/>
                <a:uFillTx/>
                <a:latin typeface="Aptos"/>
              </a:rPr>
              <a:t>After the meta-model is fixed, refit the five base learners on the permitted training data and evaluate the complete ensemble once on the untouched test participants.</a:t>
            </a:r>
            <a:endParaRPr lang="en-US" sz="1600" b="0" u="none" strike="noStrike">
              <a:solidFill>
                <a:srgbClr val="000000"/>
              </a:solidFill>
              <a:effectLst/>
              <a:uFillTx/>
              <a:latin typeface="Arial"/>
            </a:endParaRPr>
          </a:p>
        </p:txBody>
      </p:sp>
      <p:sp>
        <p:nvSpPr>
          <p:cNvPr id="491" name="Rounded Rectangle 14"/>
          <p:cNvSpPr/>
          <p:nvPr/>
        </p:nvSpPr>
        <p:spPr>
          <a:xfrm>
            <a:off x="1920240" y="5486400"/>
            <a:ext cx="8046360" cy="529920"/>
          </a:xfrm>
          <a:prstGeom prst="roundRect">
            <a:avLst>
              <a:gd name="adj" fmla="val 16667"/>
            </a:avLst>
          </a:prstGeom>
          <a:solidFill>
            <a:srgbClr val="C94F48"/>
          </a:solidFill>
          <a:ln>
            <a:solidFill>
              <a:srgbClr val="C94F48"/>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TEST SET IS NEVER USED TO CHOOSE BASE MODELS, WEIGHTS OR META-MODEL</a:t>
            </a:r>
            <a:endParaRPr lang="en-US" sz="1500" b="0" u="none" strike="noStrike">
              <a:solidFill>
                <a:srgbClr val="FFFFFF"/>
              </a:solidFill>
              <a:effectLst/>
              <a:uFillTx/>
              <a:latin typeface="Arial"/>
            </a:endParaRPr>
          </a:p>
        </p:txBody>
      </p:sp>
      <p:sp>
        <p:nvSpPr>
          <p:cNvPr id="492" name="TextBox 15"/>
          <p:cNvSpPr/>
          <p:nvPr/>
        </p:nvSpPr>
        <p:spPr>
          <a:xfrm>
            <a:off x="11384280" y="6537960"/>
            <a:ext cx="319680" cy="200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r" defTabSz="914400">
              <a:lnSpc>
                <a:spcPct val="100000"/>
              </a:lnSpc>
            </a:pPr>
            <a:r>
              <a:rPr sz="850">
                <a:solidFill>
                  <a:srgbClr val="607488"/>
                </a:solidFill>
                <a:latin typeface="Aptos"/>
              </a:rPr>
              <a:t>30</a:t>
            </a:r>
            <a:endParaRPr lang="en-US" sz="9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 name="TextBox 2"/>
          <p:cNvSpPr/>
          <p:nvPr/>
        </p:nvSpPr>
        <p:spPr>
          <a:xfrm>
            <a:off x="502920" y="621720"/>
            <a:ext cx="11155320" cy="5666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2700" b="1" u="none" strike="noStrike">
                <a:solidFill>
                  <a:srgbClr val="082A43"/>
                </a:solidFill>
                <a:effectLst/>
                <a:uFillTx/>
                <a:latin typeface="Aptos"/>
              </a:rPr>
              <a:t>Phase 5 — Ensemble MCI→AD progression</a:t>
            </a:r>
            <a:endParaRPr lang="en-US" sz="2700" b="0" u="none" strike="noStrike">
              <a:solidFill>
                <a:srgbClr val="000000"/>
              </a:solidFill>
              <a:effectLst/>
              <a:uFillTx/>
              <a:latin typeface="Arial"/>
            </a:endParaRPr>
          </a:p>
        </p:txBody>
      </p:sp>
      <p:sp>
        <p:nvSpPr>
          <p:cNvPr id="495" name="TextBox 3"/>
          <p:cNvSpPr/>
          <p:nvPr/>
        </p:nvSpPr>
        <p:spPr>
          <a:xfrm>
            <a:off x="530280" y="122544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5A6973"/>
                </a:solidFill>
                <a:effectLst/>
                <a:uFillTx/>
                <a:latin typeface="Aptos"/>
              </a:rPr>
              <a:t>Reuse the five base learners and three ensemble strategies for future conversion risk.</a:t>
            </a:r>
            <a:endParaRPr lang="en-US" sz="1300" b="0" u="none" strike="noStrike">
              <a:solidFill>
                <a:srgbClr val="000000"/>
              </a:solidFill>
              <a:effectLst/>
              <a:uFillTx/>
              <a:latin typeface="Arial"/>
            </a:endParaRPr>
          </a:p>
        </p:txBody>
      </p:sp>
      <p:cxnSp>
        <p:nvCxnSpPr>
          <p:cNvPr id="496" name="Connector 4"/>
          <p:cNvCxnSpPr/>
          <p:nvPr/>
        </p:nvCxnSpPr>
        <p:spPr>
          <a:xfrm>
            <a:off x="502920" y="1764720"/>
            <a:ext cx="11156040" cy="360"/>
          </a:xfrm>
          <a:prstGeom prst="straightConnector1">
            <a:avLst/>
          </a:prstGeom>
          <a:ln w="17780">
            <a:solidFill>
              <a:srgbClr val="008197"/>
            </a:solidFill>
          </a:ln>
        </p:spPr>
      </p:cxnSp>
      <p:sp>
        <p:nvSpPr>
          <p:cNvPr id="497" name="TextBox 5"/>
          <p:cNvSpPr/>
          <p:nvPr/>
        </p:nvSpPr>
        <p:spPr>
          <a:xfrm>
            <a:off x="594360" y="1965960"/>
            <a:ext cx="1097244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200" b="1" u="none" strike="noStrike">
                <a:solidFill>
                  <a:srgbClr val="008197"/>
                </a:solidFill>
                <a:effectLst/>
                <a:uFillTx/>
                <a:latin typeface="Aptos"/>
              </a:rPr>
              <a:t>FEATURE WINDOW — only information available at or before index t₀</a:t>
            </a:r>
            <a:endParaRPr lang="en-US" sz="1200" b="0" u="none" strike="noStrike">
              <a:solidFill>
                <a:srgbClr val="000000"/>
              </a:solidFill>
              <a:effectLst/>
              <a:uFillTx/>
              <a:latin typeface="Arial"/>
            </a:endParaRPr>
          </a:p>
        </p:txBody>
      </p:sp>
      <p:cxnSp>
        <p:nvCxnSpPr>
          <p:cNvPr id="498" name="Connector 6"/>
          <p:cNvCxnSpPr/>
          <p:nvPr/>
        </p:nvCxnSpPr>
        <p:spPr>
          <a:xfrm>
            <a:off x="1097280" y="2743200"/>
            <a:ext cx="9693000" cy="360"/>
          </a:xfrm>
          <a:prstGeom prst="straightConnector1">
            <a:avLst/>
          </a:prstGeom>
          <a:ln w="25400">
            <a:solidFill>
              <a:srgbClr val="082A43"/>
            </a:solidFill>
          </a:ln>
        </p:spPr>
      </p:cxnSp>
      <p:cxnSp>
        <p:nvCxnSpPr>
          <p:cNvPr id="499" name="Connector 7"/>
          <p:cNvCxnSpPr/>
          <p:nvPr/>
        </p:nvCxnSpPr>
        <p:spPr>
          <a:xfrm>
            <a:off x="1280160" y="2560320"/>
            <a:ext cx="360" cy="366120"/>
          </a:xfrm>
          <a:prstGeom prst="straightConnector1">
            <a:avLst/>
          </a:prstGeom>
          <a:ln w="25400">
            <a:solidFill>
              <a:srgbClr val="008197"/>
            </a:solidFill>
          </a:ln>
        </p:spPr>
      </p:cxnSp>
      <p:sp>
        <p:nvSpPr>
          <p:cNvPr id="500" name="TextBox 8"/>
          <p:cNvSpPr/>
          <p:nvPr/>
        </p:nvSpPr>
        <p:spPr>
          <a:xfrm>
            <a:off x="868680" y="2971800"/>
            <a:ext cx="822600" cy="2739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000" b="1" u="none" strike="noStrike">
                <a:solidFill>
                  <a:srgbClr val="1E2D37"/>
                </a:solidFill>
                <a:effectLst/>
                <a:uFillTx/>
                <a:latin typeface="Aptos"/>
              </a:rPr>
              <a:t>Baseline</a:t>
            </a:r>
            <a:endParaRPr lang="en-US" sz="1000" b="0" u="none" strike="noStrike">
              <a:solidFill>
                <a:srgbClr val="000000"/>
              </a:solidFill>
              <a:effectLst/>
              <a:uFillTx/>
              <a:latin typeface="Arial"/>
            </a:endParaRPr>
          </a:p>
        </p:txBody>
      </p:sp>
      <p:cxnSp>
        <p:nvCxnSpPr>
          <p:cNvPr id="501" name="Connector 9"/>
          <p:cNvCxnSpPr/>
          <p:nvPr/>
        </p:nvCxnSpPr>
        <p:spPr>
          <a:xfrm>
            <a:off x="2834640" y="2560320"/>
            <a:ext cx="360" cy="366120"/>
          </a:xfrm>
          <a:prstGeom prst="straightConnector1">
            <a:avLst/>
          </a:prstGeom>
          <a:ln w="25400">
            <a:solidFill>
              <a:srgbClr val="008197"/>
            </a:solidFill>
          </a:ln>
        </p:spPr>
      </p:cxnSp>
      <p:sp>
        <p:nvSpPr>
          <p:cNvPr id="502" name="TextBox 10"/>
          <p:cNvSpPr/>
          <p:nvPr/>
        </p:nvSpPr>
        <p:spPr>
          <a:xfrm>
            <a:off x="2423160" y="2971800"/>
            <a:ext cx="822600" cy="2739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000" b="1" u="none" strike="noStrike">
                <a:solidFill>
                  <a:srgbClr val="1E2D37"/>
                </a:solidFill>
                <a:effectLst/>
                <a:uFillTx/>
                <a:latin typeface="Aptos"/>
              </a:rPr>
              <a:t>6 m</a:t>
            </a:r>
            <a:endParaRPr lang="en-US" sz="1000" b="0" u="none" strike="noStrike">
              <a:solidFill>
                <a:srgbClr val="000000"/>
              </a:solidFill>
              <a:effectLst/>
              <a:uFillTx/>
              <a:latin typeface="Arial"/>
            </a:endParaRPr>
          </a:p>
        </p:txBody>
      </p:sp>
      <p:cxnSp>
        <p:nvCxnSpPr>
          <p:cNvPr id="503" name="Connector 11"/>
          <p:cNvCxnSpPr/>
          <p:nvPr/>
        </p:nvCxnSpPr>
        <p:spPr>
          <a:xfrm>
            <a:off x="4389120" y="2560320"/>
            <a:ext cx="360" cy="366120"/>
          </a:xfrm>
          <a:prstGeom prst="straightConnector1">
            <a:avLst/>
          </a:prstGeom>
          <a:ln w="25400">
            <a:solidFill>
              <a:srgbClr val="008197"/>
            </a:solidFill>
          </a:ln>
        </p:spPr>
      </p:cxnSp>
      <p:sp>
        <p:nvSpPr>
          <p:cNvPr id="504" name="TextBox 12"/>
          <p:cNvSpPr/>
          <p:nvPr/>
        </p:nvSpPr>
        <p:spPr>
          <a:xfrm>
            <a:off x="3977640" y="2971800"/>
            <a:ext cx="822600" cy="2739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000" b="1" u="none" strike="noStrike">
                <a:solidFill>
                  <a:srgbClr val="1E2D37"/>
                </a:solidFill>
                <a:effectLst/>
                <a:uFillTx/>
                <a:latin typeface="Aptos"/>
              </a:rPr>
              <a:t>12 m</a:t>
            </a:r>
            <a:endParaRPr lang="en-US" sz="1000" b="0" u="none" strike="noStrike">
              <a:solidFill>
                <a:srgbClr val="000000"/>
              </a:solidFill>
              <a:effectLst/>
              <a:uFillTx/>
              <a:latin typeface="Arial"/>
            </a:endParaRPr>
          </a:p>
        </p:txBody>
      </p:sp>
      <p:cxnSp>
        <p:nvCxnSpPr>
          <p:cNvPr id="505" name="Connector 13"/>
          <p:cNvCxnSpPr/>
          <p:nvPr/>
        </p:nvCxnSpPr>
        <p:spPr>
          <a:xfrm>
            <a:off x="6035040" y="2560320"/>
            <a:ext cx="360" cy="366120"/>
          </a:xfrm>
          <a:prstGeom prst="straightConnector1">
            <a:avLst/>
          </a:prstGeom>
          <a:ln w="25400">
            <a:solidFill>
              <a:srgbClr val="008197"/>
            </a:solidFill>
          </a:ln>
        </p:spPr>
      </p:cxnSp>
      <p:sp>
        <p:nvSpPr>
          <p:cNvPr id="506" name="TextBox 14"/>
          <p:cNvSpPr/>
          <p:nvPr/>
        </p:nvSpPr>
        <p:spPr>
          <a:xfrm>
            <a:off x="5623560" y="2971800"/>
            <a:ext cx="822600" cy="2739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000" b="1" u="none" strike="noStrike">
                <a:solidFill>
                  <a:srgbClr val="1E2D37"/>
                </a:solidFill>
                <a:effectLst/>
                <a:uFillTx/>
                <a:latin typeface="Aptos"/>
              </a:rPr>
              <a:t>Index t₀</a:t>
            </a:r>
            <a:endParaRPr lang="en-US" sz="1000" b="0" u="none" strike="noStrike">
              <a:solidFill>
                <a:srgbClr val="000000"/>
              </a:solidFill>
              <a:effectLst/>
              <a:uFillTx/>
              <a:latin typeface="Arial"/>
            </a:endParaRPr>
          </a:p>
        </p:txBody>
      </p:sp>
      <p:cxnSp>
        <p:nvCxnSpPr>
          <p:cNvPr id="507" name="Connector 15"/>
          <p:cNvCxnSpPr/>
          <p:nvPr/>
        </p:nvCxnSpPr>
        <p:spPr>
          <a:xfrm>
            <a:off x="7954920" y="2560320"/>
            <a:ext cx="360" cy="366120"/>
          </a:xfrm>
          <a:prstGeom prst="straightConnector1">
            <a:avLst/>
          </a:prstGeom>
          <a:ln w="25400">
            <a:solidFill>
              <a:srgbClr val="DB9D29"/>
            </a:solidFill>
          </a:ln>
        </p:spPr>
      </p:cxnSp>
      <p:sp>
        <p:nvSpPr>
          <p:cNvPr id="508" name="TextBox 16"/>
          <p:cNvSpPr/>
          <p:nvPr/>
        </p:nvSpPr>
        <p:spPr>
          <a:xfrm>
            <a:off x="7543800" y="2971800"/>
            <a:ext cx="822600" cy="2739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000" b="1" u="none" strike="noStrike">
                <a:solidFill>
                  <a:srgbClr val="1E2D37"/>
                </a:solidFill>
                <a:effectLst/>
                <a:uFillTx/>
                <a:latin typeface="Aptos"/>
              </a:rPr>
              <a:t>24 m</a:t>
            </a:r>
            <a:endParaRPr lang="en-US" sz="1000" b="0" u="none" strike="noStrike">
              <a:solidFill>
                <a:srgbClr val="000000"/>
              </a:solidFill>
              <a:effectLst/>
              <a:uFillTx/>
              <a:latin typeface="Arial"/>
            </a:endParaRPr>
          </a:p>
        </p:txBody>
      </p:sp>
      <p:cxnSp>
        <p:nvCxnSpPr>
          <p:cNvPr id="509" name="Connector 17"/>
          <p:cNvCxnSpPr/>
          <p:nvPr/>
        </p:nvCxnSpPr>
        <p:spPr>
          <a:xfrm>
            <a:off x="9784080" y="2560320"/>
            <a:ext cx="360" cy="366120"/>
          </a:xfrm>
          <a:prstGeom prst="straightConnector1">
            <a:avLst/>
          </a:prstGeom>
          <a:ln w="25400">
            <a:solidFill>
              <a:srgbClr val="DB9D29"/>
            </a:solidFill>
          </a:ln>
        </p:spPr>
      </p:cxnSp>
      <p:sp>
        <p:nvSpPr>
          <p:cNvPr id="510" name="TextBox 18"/>
          <p:cNvSpPr/>
          <p:nvPr/>
        </p:nvSpPr>
        <p:spPr>
          <a:xfrm>
            <a:off x="9372600" y="2971800"/>
            <a:ext cx="822600" cy="2739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000" b="1" u="none" strike="noStrike">
                <a:solidFill>
                  <a:srgbClr val="1E2D37"/>
                </a:solidFill>
                <a:effectLst/>
                <a:uFillTx/>
                <a:latin typeface="Aptos"/>
              </a:rPr>
              <a:t>36 m</a:t>
            </a:r>
            <a:endParaRPr lang="en-US" sz="1000" b="0" u="none" strike="noStrike">
              <a:solidFill>
                <a:srgbClr val="000000"/>
              </a:solidFill>
              <a:effectLst/>
              <a:uFillTx/>
              <a:latin typeface="Arial"/>
            </a:endParaRPr>
          </a:p>
        </p:txBody>
      </p:sp>
      <p:sp>
        <p:nvSpPr>
          <p:cNvPr id="511" name="TextBox 19"/>
          <p:cNvSpPr/>
          <p:nvPr/>
        </p:nvSpPr>
        <p:spPr>
          <a:xfrm>
            <a:off x="6720840" y="1965960"/>
            <a:ext cx="411444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200" b="1" u="none" strike="noStrike">
                <a:solidFill>
                  <a:srgbClr val="DB9D29"/>
                </a:solidFill>
                <a:effectLst/>
                <a:uFillTx/>
                <a:latin typeface="Aptos"/>
              </a:rPr>
              <a:t>OUTCOME WINDOW — future conversion</a:t>
            </a:r>
            <a:endParaRPr lang="en-US" sz="1200" b="0" u="none" strike="noStrike">
              <a:solidFill>
                <a:srgbClr val="000000"/>
              </a:solidFill>
              <a:effectLst/>
              <a:uFillTx/>
              <a:latin typeface="Arial"/>
            </a:endParaRPr>
          </a:p>
        </p:txBody>
      </p:sp>
      <p:sp>
        <p:nvSpPr>
          <p:cNvPr id="512" name="Rounded Rectangle 20"/>
          <p:cNvSpPr/>
          <p:nvPr/>
        </p:nvSpPr>
        <p:spPr>
          <a:xfrm>
            <a:off x="822960" y="3703320"/>
            <a:ext cx="1828440" cy="63972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600" b="1" u="none" strike="noStrike">
                <a:solidFill>
                  <a:srgbClr val="FFFFFF"/>
                </a:solidFill>
                <a:effectLst/>
                <a:uFillTx/>
                <a:latin typeface="Aptos"/>
              </a:rPr>
              <a:t>LR</a:t>
            </a:r>
            <a:endParaRPr lang="en-US" sz="1600" b="0" u="none" strike="noStrike">
              <a:solidFill>
                <a:srgbClr val="FFFFFF"/>
              </a:solidFill>
              <a:effectLst/>
              <a:uFillTx/>
              <a:latin typeface="Arial"/>
            </a:endParaRPr>
          </a:p>
        </p:txBody>
      </p:sp>
      <p:sp>
        <p:nvSpPr>
          <p:cNvPr id="513" name="Rounded Rectangle 21"/>
          <p:cNvSpPr/>
          <p:nvPr/>
        </p:nvSpPr>
        <p:spPr>
          <a:xfrm>
            <a:off x="2788920" y="3703320"/>
            <a:ext cx="1828440" cy="63972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600" b="1" u="none" strike="noStrike">
                <a:solidFill>
                  <a:srgbClr val="FFFFFF"/>
                </a:solidFill>
                <a:effectLst/>
                <a:uFillTx/>
                <a:latin typeface="Aptos"/>
              </a:rPr>
              <a:t>SVM</a:t>
            </a:r>
            <a:endParaRPr lang="en-US" sz="1600" b="0" u="none" strike="noStrike">
              <a:solidFill>
                <a:srgbClr val="FFFFFF"/>
              </a:solidFill>
              <a:effectLst/>
              <a:uFillTx/>
              <a:latin typeface="Arial"/>
            </a:endParaRPr>
          </a:p>
        </p:txBody>
      </p:sp>
      <p:sp>
        <p:nvSpPr>
          <p:cNvPr id="514" name="Rounded Rectangle 22"/>
          <p:cNvSpPr/>
          <p:nvPr/>
        </p:nvSpPr>
        <p:spPr>
          <a:xfrm>
            <a:off x="4754880" y="3703320"/>
            <a:ext cx="1828440" cy="639720"/>
          </a:xfrm>
          <a:prstGeom prst="roundRect">
            <a:avLst>
              <a:gd name="adj" fmla="val 16667"/>
            </a:avLst>
          </a:prstGeom>
          <a:solidFill>
            <a:srgbClr val="229777"/>
          </a:solidFill>
          <a:ln>
            <a:solidFill>
              <a:srgbClr val="22977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600" b="1" u="none" strike="noStrike">
                <a:solidFill>
                  <a:srgbClr val="FFFFFF"/>
                </a:solidFill>
                <a:effectLst/>
                <a:uFillTx/>
                <a:latin typeface="Aptos"/>
              </a:rPr>
              <a:t>RF</a:t>
            </a:r>
            <a:endParaRPr lang="en-US" sz="1600" b="0" u="none" strike="noStrike">
              <a:solidFill>
                <a:srgbClr val="FFFFFF"/>
              </a:solidFill>
              <a:effectLst/>
              <a:uFillTx/>
              <a:latin typeface="Arial"/>
            </a:endParaRPr>
          </a:p>
        </p:txBody>
      </p:sp>
      <p:sp>
        <p:nvSpPr>
          <p:cNvPr id="515" name="Rounded Rectangle 23"/>
          <p:cNvSpPr/>
          <p:nvPr/>
        </p:nvSpPr>
        <p:spPr>
          <a:xfrm>
            <a:off x="6720840" y="3703320"/>
            <a:ext cx="1828440" cy="639720"/>
          </a:xfrm>
          <a:prstGeom prst="roundRect">
            <a:avLst>
              <a:gd name="adj" fmla="val 16667"/>
            </a:avLst>
          </a:prstGeom>
          <a:solidFill>
            <a:srgbClr val="DB9D29"/>
          </a:solidFill>
          <a:ln>
            <a:solidFill>
              <a:srgbClr val="DB9D29"/>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600" b="1" u="none" strike="noStrike">
                <a:solidFill>
                  <a:srgbClr val="FFFFFF"/>
                </a:solidFill>
                <a:effectLst/>
                <a:uFillTx/>
                <a:latin typeface="Aptos"/>
              </a:rPr>
              <a:t>XGBoost</a:t>
            </a:r>
            <a:endParaRPr lang="en-US" sz="1600" b="0" u="none" strike="noStrike">
              <a:solidFill>
                <a:srgbClr val="000000"/>
              </a:solidFill>
              <a:effectLst/>
              <a:uFillTx/>
              <a:latin typeface="Arial"/>
            </a:endParaRPr>
          </a:p>
        </p:txBody>
      </p:sp>
      <p:sp>
        <p:nvSpPr>
          <p:cNvPr id="516" name="Rounded Rectangle 24"/>
          <p:cNvSpPr/>
          <p:nvPr/>
        </p:nvSpPr>
        <p:spPr>
          <a:xfrm>
            <a:off x="8686800" y="3703320"/>
            <a:ext cx="1828440" cy="639720"/>
          </a:xfrm>
          <a:prstGeom prst="roundRect">
            <a:avLst>
              <a:gd name="adj" fmla="val 16667"/>
            </a:avLst>
          </a:prstGeom>
          <a:solidFill>
            <a:srgbClr val="C94F48"/>
          </a:solidFill>
          <a:ln>
            <a:solidFill>
              <a:srgbClr val="C94F48"/>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600" b="1" u="none" strike="noStrike">
                <a:solidFill>
                  <a:srgbClr val="FFFFFF"/>
                </a:solidFill>
                <a:effectLst/>
                <a:uFillTx/>
                <a:latin typeface="Aptos"/>
              </a:rPr>
              <a:t>MLP</a:t>
            </a:r>
            <a:endParaRPr lang="en-US" sz="1600" b="0" u="none" strike="noStrike">
              <a:solidFill>
                <a:srgbClr val="FFFFFF"/>
              </a:solidFill>
              <a:effectLst/>
              <a:uFillTx/>
              <a:latin typeface="Arial"/>
            </a:endParaRPr>
          </a:p>
        </p:txBody>
      </p:sp>
      <p:sp>
        <p:nvSpPr>
          <p:cNvPr id="517" name="Rounded Rectangle 25"/>
          <p:cNvSpPr/>
          <p:nvPr/>
        </p:nvSpPr>
        <p:spPr>
          <a:xfrm>
            <a:off x="1828800" y="4800600"/>
            <a:ext cx="8229240" cy="594000"/>
          </a:xfrm>
          <a:prstGeom prst="roundRect">
            <a:avLst>
              <a:gd name="adj" fmla="val 16667"/>
            </a:avLst>
          </a:prstGeom>
          <a:solidFill>
            <a:srgbClr val="082A43"/>
          </a:solidFill>
          <a:ln>
            <a:solidFill>
              <a:srgbClr val="082A43"/>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800" b="1" u="none" strike="noStrike">
                <a:solidFill>
                  <a:srgbClr val="FFFFFF"/>
                </a:solidFill>
                <a:effectLst/>
                <a:uFillTx/>
                <a:latin typeface="Aptos"/>
              </a:rPr>
              <a:t>Soft Voting  •  Weighted Voting  •  Stacking</a:t>
            </a:r>
            <a:endParaRPr lang="en-US" sz="1800" b="0" u="none" strike="noStrike">
              <a:solidFill>
                <a:srgbClr val="FFFFFF"/>
              </a:solidFill>
              <a:effectLst/>
              <a:uFillTx/>
              <a:latin typeface="Arial"/>
            </a:endParaRPr>
          </a:p>
        </p:txBody>
      </p:sp>
      <p:sp>
        <p:nvSpPr>
          <p:cNvPr id="518" name="TextBox 26"/>
          <p:cNvSpPr/>
          <p:nvPr/>
        </p:nvSpPr>
        <p:spPr>
          <a:xfrm>
            <a:off x="914400" y="5623560"/>
            <a:ext cx="1005804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400" b="0" u="none" strike="noStrike">
                <a:solidFill>
                  <a:srgbClr val="1E2D37"/>
                </a:solidFill>
                <a:effectLst/>
                <a:uFillTx/>
                <a:latin typeface="Aptos"/>
              </a:rPr>
              <a:t>Primary horizon: select after cohort inspection; 36 months is a candidate, with 12/24 months added only if follow-up and class counts are adequate.</a:t>
            </a:r>
            <a:endParaRPr lang="en-US" sz="1400" b="0" u="none" strike="noStrike">
              <a:solidFill>
                <a:srgbClr val="000000"/>
              </a:solidFill>
              <a:effectLst/>
              <a:uFillTx/>
              <a:latin typeface="Arial"/>
            </a:endParaRPr>
          </a:p>
        </p:txBody>
      </p:sp>
      <p:sp>
        <p:nvSpPr>
          <p:cNvPr id="519" name="TextBox 27"/>
          <p:cNvSpPr/>
          <p:nvPr/>
        </p:nvSpPr>
        <p:spPr>
          <a:xfrm>
            <a:off x="11384280" y="6537960"/>
            <a:ext cx="319680" cy="200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r" defTabSz="914400">
              <a:lnSpc>
                <a:spcPct val="100000"/>
              </a:lnSpc>
            </a:pPr>
            <a:r>
              <a:rPr sz="850">
                <a:solidFill>
                  <a:srgbClr val="607488"/>
                </a:solidFill>
                <a:latin typeface="Aptos"/>
              </a:rPr>
              <a:t>31</a:t>
            </a:r>
            <a:endParaRPr lang="en-US" sz="90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Phase 6 — Calibration, uncertainty and XAI</a:t>
            </a:r>
            <a:endParaRPr lang="en-US" sz="2800" b="0" u="none" strike="noStrike">
              <a:solidFill>
                <a:srgbClr val="000000"/>
              </a:solidFill>
              <a:effectLst/>
              <a:uFillTx/>
              <a:latin typeface="Arial"/>
            </a:endParaRPr>
          </a:p>
        </p:txBody>
      </p:sp>
      <p:sp>
        <p:nvSpPr>
          <p:cNvPr id="522" name="Shape 2"/>
          <p:cNvSpPr/>
          <p:nvPr/>
        </p:nvSpPr>
        <p:spPr>
          <a:xfrm>
            <a:off x="731520" y="1417320"/>
            <a:ext cx="3337200" cy="3611520"/>
          </a:xfrm>
          <a:prstGeom prst="roundRect">
            <a:avLst>
              <a:gd name="adj" fmla="val 1644"/>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523" name="Shape 3"/>
          <p:cNvSpPr/>
          <p:nvPr/>
        </p:nvSpPr>
        <p:spPr>
          <a:xfrm>
            <a:off x="731520" y="1417320"/>
            <a:ext cx="72720" cy="361152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524" name="Text 4"/>
          <p:cNvSpPr/>
          <p:nvPr/>
        </p:nvSpPr>
        <p:spPr>
          <a:xfrm>
            <a:off x="914400" y="1563480"/>
            <a:ext cx="3017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F8B8D"/>
                </a:solidFill>
                <a:effectLst/>
                <a:uFillTx/>
                <a:latin typeface="Aptos"/>
              </a:rPr>
              <a:t>Calibration</a:t>
            </a:r>
            <a:endParaRPr lang="en-US" sz="1500" b="0" u="none" strike="noStrike">
              <a:solidFill>
                <a:srgbClr val="000000"/>
              </a:solidFill>
              <a:effectLst/>
              <a:uFillTx/>
              <a:latin typeface="Arial"/>
            </a:endParaRPr>
          </a:p>
        </p:txBody>
      </p:sp>
      <p:sp>
        <p:nvSpPr>
          <p:cNvPr id="525" name="Text 5"/>
          <p:cNvSpPr/>
          <p:nvPr/>
        </p:nvSpPr>
        <p:spPr>
          <a:xfrm>
            <a:off x="914400" y="1947600"/>
            <a:ext cx="2989800" cy="297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Evaluate whether predicted probabilities correspond to observed frequencies. Candidate methods: Platt scaling, isotonic regression or temperature scaling, fitted on validation data only.</a:t>
            </a:r>
            <a:endParaRPr lang="en-US" sz="1250" b="0" u="none" strike="noStrike">
              <a:solidFill>
                <a:srgbClr val="000000"/>
              </a:solidFill>
              <a:effectLst/>
              <a:uFillTx/>
              <a:latin typeface="Arial"/>
            </a:endParaRPr>
          </a:p>
        </p:txBody>
      </p:sp>
      <p:sp>
        <p:nvSpPr>
          <p:cNvPr id="526" name="Shape 6"/>
          <p:cNvSpPr/>
          <p:nvPr/>
        </p:nvSpPr>
        <p:spPr>
          <a:xfrm>
            <a:off x="4434840" y="1417320"/>
            <a:ext cx="3337200" cy="3611520"/>
          </a:xfrm>
          <a:prstGeom prst="roundRect">
            <a:avLst>
              <a:gd name="adj" fmla="val 1644"/>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527" name="Shape 7"/>
          <p:cNvSpPr/>
          <p:nvPr/>
        </p:nvSpPr>
        <p:spPr>
          <a:xfrm>
            <a:off x="4434840" y="1417320"/>
            <a:ext cx="72720" cy="3611520"/>
          </a:xfrm>
          <a:prstGeom prst="rect">
            <a:avLst/>
          </a:prstGeom>
          <a:solidFill>
            <a:srgbClr val="D99A22"/>
          </a:solidFill>
          <a:ln w="12700">
            <a:solidFill>
              <a:srgbClr val="D99A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528" name="Text 8"/>
          <p:cNvSpPr/>
          <p:nvPr/>
        </p:nvSpPr>
        <p:spPr>
          <a:xfrm>
            <a:off x="4617720" y="1563480"/>
            <a:ext cx="3017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D99A22"/>
                </a:solidFill>
                <a:effectLst/>
                <a:uFillTx/>
                <a:latin typeface="Aptos"/>
              </a:rPr>
              <a:t>Uncertainty</a:t>
            </a:r>
            <a:endParaRPr lang="en-US" sz="1500" b="0" u="none" strike="noStrike">
              <a:solidFill>
                <a:srgbClr val="000000"/>
              </a:solidFill>
              <a:effectLst/>
              <a:uFillTx/>
              <a:latin typeface="Arial"/>
            </a:endParaRPr>
          </a:p>
        </p:txBody>
      </p:sp>
      <p:sp>
        <p:nvSpPr>
          <p:cNvPr id="529" name="Text 9"/>
          <p:cNvSpPr/>
          <p:nvPr/>
        </p:nvSpPr>
        <p:spPr>
          <a:xfrm>
            <a:off x="4617720" y="1947600"/>
            <a:ext cx="2989800" cy="297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Attach probability reliability, data-quality and modality-availability information to predictions. Define confidence explicitly; do not invent a cosmetic score.</a:t>
            </a:r>
            <a:endParaRPr lang="en-US" sz="1250" b="0" u="none" strike="noStrike">
              <a:solidFill>
                <a:srgbClr val="000000"/>
              </a:solidFill>
              <a:effectLst/>
              <a:uFillTx/>
              <a:latin typeface="Arial"/>
            </a:endParaRPr>
          </a:p>
        </p:txBody>
      </p:sp>
      <p:sp>
        <p:nvSpPr>
          <p:cNvPr id="530" name="Shape 10"/>
          <p:cNvSpPr/>
          <p:nvPr/>
        </p:nvSpPr>
        <p:spPr>
          <a:xfrm>
            <a:off x="8138160" y="1417320"/>
            <a:ext cx="3337200" cy="3611520"/>
          </a:xfrm>
          <a:prstGeom prst="roundRect">
            <a:avLst>
              <a:gd name="adj" fmla="val 1644"/>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531" name="Shape 11"/>
          <p:cNvSpPr/>
          <p:nvPr/>
        </p:nvSpPr>
        <p:spPr>
          <a:xfrm>
            <a:off x="8138160" y="1417320"/>
            <a:ext cx="72720" cy="361152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532" name="Text 12"/>
          <p:cNvSpPr/>
          <p:nvPr/>
        </p:nvSpPr>
        <p:spPr>
          <a:xfrm>
            <a:off x="8321040" y="1563480"/>
            <a:ext cx="3017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7357B4"/>
                </a:solidFill>
                <a:effectLst/>
                <a:uFillTx/>
                <a:latin typeface="Aptos"/>
              </a:rPr>
              <a:t>Explainability</a:t>
            </a:r>
            <a:endParaRPr lang="en-US" sz="1500" b="0" u="none" strike="noStrike">
              <a:solidFill>
                <a:srgbClr val="000000"/>
              </a:solidFill>
              <a:effectLst/>
              <a:uFillTx/>
              <a:latin typeface="Arial"/>
            </a:endParaRPr>
          </a:p>
        </p:txBody>
      </p:sp>
      <p:sp>
        <p:nvSpPr>
          <p:cNvPr id="533" name="Text 13"/>
          <p:cNvSpPr/>
          <p:nvPr/>
        </p:nvSpPr>
        <p:spPr>
          <a:xfrm>
            <a:off x="8321040" y="1947600"/>
            <a:ext cx="2989800" cy="297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Use SHAP for tree-based models; integrated gradients or ablation for neural models. Describe model contributions—not biological causation.</a:t>
            </a:r>
            <a:endParaRPr lang="en-US" sz="1250" b="0" u="none" strike="noStrike">
              <a:solidFill>
                <a:srgbClr val="000000"/>
              </a:solidFill>
              <a:effectLst/>
              <a:uFillTx/>
              <a:latin typeface="Arial"/>
            </a:endParaRPr>
          </a:p>
        </p:txBody>
      </p:sp>
      <p:sp>
        <p:nvSpPr>
          <p:cNvPr id="534" name="Text 14"/>
          <p:cNvSpPr/>
          <p:nvPr/>
        </p:nvSpPr>
        <p:spPr>
          <a:xfrm>
            <a:off x="1051560" y="553212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3558"/>
                </a:solidFill>
                <a:effectLst/>
                <a:uFillTx/>
                <a:latin typeface="Aptos"/>
              </a:rPr>
              <a:t>Trustworthiness is part of the experimental programme, not a dashboard decoration.</a:t>
            </a:r>
            <a:endParaRPr lang="en-US" sz="1800" b="0" u="none" strike="noStrike">
              <a:solidFill>
                <a:srgbClr val="000000"/>
              </a:solidFill>
              <a:effectLst/>
              <a:uFillTx/>
              <a:latin typeface="Arial"/>
            </a:endParaRPr>
          </a:p>
        </p:txBody>
      </p:sp>
      <p:sp>
        <p:nvSpPr>
          <p:cNvPr id="535" name="PlaceHolder 1"/>
          <p:cNvSpPr>
            <a:spLocks noGrp="1"/>
          </p:cNvSpPr>
          <p:nvPr>
            <p:ph type="sldNum" idx="22"/>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32</a:t>
            </a:r>
            <a:endParaRPr lang="en-US" sz="800" b="0" u="none" strike="noStrike">
              <a:solidFill>
                <a:srgbClr val="000000"/>
              </a:solidFill>
              <a:effectLst/>
              <a:uFillTx/>
              <a:latin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Phase 8 — Research dashboard</a:t>
            </a:r>
            <a:endParaRPr lang="en-US" sz="2800" b="0" u="none" strike="noStrike">
              <a:solidFill>
                <a:srgbClr val="000000"/>
              </a:solidFill>
              <a:effectLst/>
              <a:uFillTx/>
              <a:latin typeface="Arial"/>
            </a:endParaRPr>
          </a:p>
        </p:txBody>
      </p:sp>
      <p:sp>
        <p:nvSpPr>
          <p:cNvPr id="538" name="Shape 2"/>
          <p:cNvSpPr/>
          <p:nvPr/>
        </p:nvSpPr>
        <p:spPr>
          <a:xfrm>
            <a:off x="777240" y="1234440"/>
            <a:ext cx="10652400" cy="4525920"/>
          </a:xfrm>
          <a:prstGeom prst="roundRect">
            <a:avLst>
              <a:gd name="adj" fmla="val 16667"/>
            </a:avLst>
          </a:prstGeom>
          <a:solidFill>
            <a:srgbClr val="FFFFFF"/>
          </a:solidFill>
          <a:ln w="12700">
            <a:solidFill>
              <a:srgbClr val="CAD7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39" name="Shape 3"/>
          <p:cNvSpPr/>
          <p:nvPr/>
        </p:nvSpPr>
        <p:spPr>
          <a:xfrm>
            <a:off x="1051560" y="1600200"/>
            <a:ext cx="2102760" cy="914040"/>
          </a:xfrm>
          <a:prstGeom prst="roundRect">
            <a:avLst>
              <a:gd name="adj" fmla="val 16667"/>
            </a:avLst>
          </a:prstGeom>
          <a:solidFill>
            <a:srgbClr val="F6F9FB"/>
          </a:solidFill>
          <a:ln w="12700">
            <a:solidFill>
              <a:srgbClr val="D6E0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0" name="Text 4"/>
          <p:cNvSpPr/>
          <p:nvPr/>
        </p:nvSpPr>
        <p:spPr>
          <a:xfrm>
            <a:off x="1234440" y="1783080"/>
            <a:ext cx="17370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657786"/>
                </a:solidFill>
                <a:effectLst/>
                <a:uFillTx/>
                <a:latin typeface="Aptos"/>
              </a:rPr>
              <a:t>CURRENT STATE</a:t>
            </a:r>
            <a:endParaRPr lang="en-US" sz="900" b="0" u="none" strike="noStrike">
              <a:solidFill>
                <a:srgbClr val="000000"/>
              </a:solidFill>
              <a:effectLst/>
              <a:uFillTx/>
              <a:latin typeface="Arial"/>
            </a:endParaRPr>
          </a:p>
        </p:txBody>
      </p:sp>
      <p:sp>
        <p:nvSpPr>
          <p:cNvPr id="541" name="Text 5"/>
          <p:cNvSpPr/>
          <p:nvPr/>
        </p:nvSpPr>
        <p:spPr>
          <a:xfrm>
            <a:off x="1234440" y="2057400"/>
            <a:ext cx="1737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F8B8D"/>
                </a:solidFill>
                <a:effectLst/>
                <a:uFillTx/>
                <a:latin typeface="Aptos"/>
              </a:rPr>
              <a:t>MCI</a:t>
            </a:r>
            <a:endParaRPr lang="en-US" sz="2000" b="0" u="none" strike="noStrike">
              <a:solidFill>
                <a:srgbClr val="000000"/>
              </a:solidFill>
              <a:effectLst/>
              <a:uFillTx/>
              <a:latin typeface="Arial"/>
            </a:endParaRPr>
          </a:p>
        </p:txBody>
      </p:sp>
      <p:sp>
        <p:nvSpPr>
          <p:cNvPr id="542" name="Shape 6"/>
          <p:cNvSpPr/>
          <p:nvPr/>
        </p:nvSpPr>
        <p:spPr>
          <a:xfrm>
            <a:off x="3611880" y="1600200"/>
            <a:ext cx="2102760" cy="914040"/>
          </a:xfrm>
          <a:prstGeom prst="roundRect">
            <a:avLst>
              <a:gd name="adj" fmla="val 16667"/>
            </a:avLst>
          </a:prstGeom>
          <a:solidFill>
            <a:srgbClr val="F6F9FB"/>
          </a:solidFill>
          <a:ln w="12700">
            <a:solidFill>
              <a:srgbClr val="D6E0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3" name="Text 7"/>
          <p:cNvSpPr/>
          <p:nvPr/>
        </p:nvSpPr>
        <p:spPr>
          <a:xfrm>
            <a:off x="3794760" y="1783080"/>
            <a:ext cx="17370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657786"/>
                </a:solidFill>
                <a:effectLst/>
                <a:uFillTx/>
                <a:latin typeface="Aptos"/>
              </a:rPr>
              <a:t>36-MONTH RISK</a:t>
            </a:r>
            <a:endParaRPr lang="en-US" sz="900" b="0" u="none" strike="noStrike">
              <a:solidFill>
                <a:srgbClr val="000000"/>
              </a:solidFill>
              <a:effectLst/>
              <a:uFillTx/>
              <a:latin typeface="Arial"/>
            </a:endParaRPr>
          </a:p>
        </p:txBody>
      </p:sp>
      <p:sp>
        <p:nvSpPr>
          <p:cNvPr id="544" name="Text 8"/>
          <p:cNvSpPr/>
          <p:nvPr/>
        </p:nvSpPr>
        <p:spPr>
          <a:xfrm>
            <a:off x="3794760" y="2057400"/>
            <a:ext cx="1737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19A7A0"/>
                </a:solidFill>
                <a:effectLst/>
                <a:uFillTx/>
                <a:latin typeface="Aptos"/>
              </a:rPr>
              <a:t>68%</a:t>
            </a:r>
            <a:endParaRPr lang="en-US" sz="2000" b="0" u="none" strike="noStrike">
              <a:solidFill>
                <a:srgbClr val="000000"/>
              </a:solidFill>
              <a:effectLst/>
              <a:uFillTx/>
              <a:latin typeface="Arial"/>
            </a:endParaRPr>
          </a:p>
        </p:txBody>
      </p:sp>
      <p:sp>
        <p:nvSpPr>
          <p:cNvPr id="545" name="Shape 9"/>
          <p:cNvSpPr/>
          <p:nvPr/>
        </p:nvSpPr>
        <p:spPr>
          <a:xfrm>
            <a:off x="6172200" y="1600200"/>
            <a:ext cx="2102760" cy="914040"/>
          </a:xfrm>
          <a:prstGeom prst="roundRect">
            <a:avLst>
              <a:gd name="adj" fmla="val 16667"/>
            </a:avLst>
          </a:prstGeom>
          <a:solidFill>
            <a:srgbClr val="F6F9FB"/>
          </a:solidFill>
          <a:ln w="12700">
            <a:solidFill>
              <a:srgbClr val="D6E0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6" name="Text 10"/>
          <p:cNvSpPr/>
          <p:nvPr/>
        </p:nvSpPr>
        <p:spPr>
          <a:xfrm>
            <a:off x="6355080" y="1783080"/>
            <a:ext cx="17370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657786"/>
                </a:solidFill>
                <a:effectLst/>
                <a:uFillTx/>
                <a:latin typeface="Aptos"/>
              </a:rPr>
              <a:t>CONFIDENCE</a:t>
            </a:r>
            <a:endParaRPr lang="en-US" sz="900" b="0" u="none" strike="noStrike">
              <a:solidFill>
                <a:srgbClr val="000000"/>
              </a:solidFill>
              <a:effectLst/>
              <a:uFillTx/>
              <a:latin typeface="Arial"/>
            </a:endParaRPr>
          </a:p>
        </p:txBody>
      </p:sp>
      <p:sp>
        <p:nvSpPr>
          <p:cNvPr id="547" name="Text 11"/>
          <p:cNvSpPr/>
          <p:nvPr/>
        </p:nvSpPr>
        <p:spPr>
          <a:xfrm>
            <a:off x="6355080" y="2057400"/>
            <a:ext cx="1737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2E8B68"/>
                </a:solidFill>
                <a:effectLst/>
                <a:uFillTx/>
                <a:latin typeface="Aptos"/>
              </a:rPr>
              <a:t>0.81</a:t>
            </a:r>
            <a:endParaRPr lang="en-US" sz="2000" b="0" u="none" strike="noStrike">
              <a:solidFill>
                <a:srgbClr val="000000"/>
              </a:solidFill>
              <a:effectLst/>
              <a:uFillTx/>
              <a:latin typeface="Arial"/>
            </a:endParaRPr>
          </a:p>
        </p:txBody>
      </p:sp>
      <p:sp>
        <p:nvSpPr>
          <p:cNvPr id="548" name="Shape 12"/>
          <p:cNvSpPr/>
          <p:nvPr/>
        </p:nvSpPr>
        <p:spPr>
          <a:xfrm>
            <a:off x="8732520" y="1600200"/>
            <a:ext cx="2102760" cy="914040"/>
          </a:xfrm>
          <a:prstGeom prst="roundRect">
            <a:avLst>
              <a:gd name="adj" fmla="val 16667"/>
            </a:avLst>
          </a:prstGeom>
          <a:solidFill>
            <a:srgbClr val="F6F9FB"/>
          </a:solidFill>
          <a:ln w="12700">
            <a:solidFill>
              <a:srgbClr val="D6E0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9" name="Text 13"/>
          <p:cNvSpPr/>
          <p:nvPr/>
        </p:nvSpPr>
        <p:spPr>
          <a:xfrm>
            <a:off x="8915400" y="1783080"/>
            <a:ext cx="17370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657786"/>
                </a:solidFill>
                <a:effectLst/>
                <a:uFillTx/>
                <a:latin typeface="Aptos"/>
              </a:rPr>
              <a:t>DATA COMPLETE</a:t>
            </a:r>
            <a:endParaRPr lang="en-US" sz="900" b="0" u="none" strike="noStrike">
              <a:solidFill>
                <a:srgbClr val="000000"/>
              </a:solidFill>
              <a:effectLst/>
              <a:uFillTx/>
              <a:latin typeface="Arial"/>
            </a:endParaRPr>
          </a:p>
        </p:txBody>
      </p:sp>
      <p:sp>
        <p:nvSpPr>
          <p:cNvPr id="550" name="Text 14"/>
          <p:cNvSpPr/>
          <p:nvPr/>
        </p:nvSpPr>
        <p:spPr>
          <a:xfrm>
            <a:off x="8915400" y="2057400"/>
            <a:ext cx="1737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D99A22"/>
                </a:solidFill>
                <a:effectLst/>
                <a:uFillTx/>
                <a:latin typeface="Aptos"/>
              </a:rPr>
              <a:t>76%</a:t>
            </a:r>
            <a:endParaRPr lang="en-US" sz="2000" b="0" u="none" strike="noStrike">
              <a:solidFill>
                <a:srgbClr val="000000"/>
              </a:solidFill>
              <a:effectLst/>
              <a:uFillTx/>
              <a:latin typeface="Arial"/>
            </a:endParaRPr>
          </a:p>
        </p:txBody>
      </p:sp>
      <p:sp>
        <p:nvSpPr>
          <p:cNvPr id="551" name="Shape 15"/>
          <p:cNvSpPr/>
          <p:nvPr/>
        </p:nvSpPr>
        <p:spPr>
          <a:xfrm>
            <a:off x="1051560" y="2880360"/>
            <a:ext cx="4663080" cy="1965600"/>
          </a:xfrm>
          <a:prstGeom prst="roundRect">
            <a:avLst>
              <a:gd name="adj" fmla="val 279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2" name="Shape 16"/>
          <p:cNvSpPr/>
          <p:nvPr/>
        </p:nvSpPr>
        <p:spPr>
          <a:xfrm>
            <a:off x="1051560" y="2880360"/>
            <a:ext cx="72720" cy="1965600"/>
          </a:xfrm>
          <a:prstGeom prst="rect">
            <a:avLst/>
          </a:prstGeom>
          <a:solidFill>
            <a:srgbClr val="19A7A0"/>
          </a:solidFill>
          <a:ln w="12700">
            <a:solidFill>
              <a:srgbClr val="19A7A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53" name="Text 17"/>
          <p:cNvSpPr/>
          <p:nvPr/>
        </p:nvSpPr>
        <p:spPr>
          <a:xfrm>
            <a:off x="1234440" y="3026520"/>
            <a:ext cx="4343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9A7A0"/>
                </a:solidFill>
                <a:effectLst/>
                <a:uFillTx/>
                <a:latin typeface="Aptos"/>
              </a:rPr>
              <a:t>Progression forecast</a:t>
            </a:r>
            <a:endParaRPr lang="en-US" sz="1500" b="0" u="none" strike="noStrike">
              <a:solidFill>
                <a:srgbClr val="000000"/>
              </a:solidFill>
              <a:effectLst/>
              <a:uFillTx/>
              <a:latin typeface="Arial"/>
            </a:endParaRPr>
          </a:p>
        </p:txBody>
      </p:sp>
      <p:sp>
        <p:nvSpPr>
          <p:cNvPr id="554" name="Text 18"/>
          <p:cNvSpPr/>
          <p:nvPr/>
        </p:nvSpPr>
        <p:spPr>
          <a:xfrm>
            <a:off x="1234440" y="3410640"/>
            <a:ext cx="4315680" cy="132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12m  ▰▱▱▱   18%</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203040"/>
                </a:solidFill>
                <a:effectLst/>
                <a:uFillTx/>
                <a:latin typeface="Aptos"/>
              </a:rPr>
              <a:t>24m  ▰▰▱▱   43%</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203040"/>
                </a:solidFill>
                <a:effectLst/>
                <a:uFillTx/>
                <a:latin typeface="Aptos"/>
              </a:rPr>
              <a:t>36m  ▰▰▰▱   68%</a:t>
            </a:r>
            <a:endParaRPr lang="en-US" sz="1250" b="0" u="none" strike="noStrike">
              <a:solidFill>
                <a:srgbClr val="000000"/>
              </a:solidFill>
              <a:effectLst/>
              <a:uFillTx/>
              <a:latin typeface="Arial"/>
            </a:endParaRPr>
          </a:p>
        </p:txBody>
      </p:sp>
      <p:sp>
        <p:nvSpPr>
          <p:cNvPr id="555" name="Shape 19"/>
          <p:cNvSpPr/>
          <p:nvPr/>
        </p:nvSpPr>
        <p:spPr>
          <a:xfrm>
            <a:off x="5989320" y="2880360"/>
            <a:ext cx="4663080" cy="1965600"/>
          </a:xfrm>
          <a:prstGeom prst="roundRect">
            <a:avLst>
              <a:gd name="adj" fmla="val 2791"/>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6" name="Shape 20"/>
          <p:cNvSpPr/>
          <p:nvPr/>
        </p:nvSpPr>
        <p:spPr>
          <a:xfrm>
            <a:off x="5989320" y="2880360"/>
            <a:ext cx="72720" cy="196560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57" name="Text 21"/>
          <p:cNvSpPr/>
          <p:nvPr/>
        </p:nvSpPr>
        <p:spPr>
          <a:xfrm>
            <a:off x="6172200" y="3026520"/>
            <a:ext cx="4343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F8B8D"/>
                </a:solidFill>
                <a:effectLst/>
                <a:uFillTx/>
                <a:latin typeface="Aptos"/>
              </a:rPr>
              <a:t>Model contributions</a:t>
            </a:r>
            <a:endParaRPr lang="en-US" sz="1500" b="0" u="none" strike="noStrike">
              <a:solidFill>
                <a:srgbClr val="000000"/>
              </a:solidFill>
              <a:effectLst/>
              <a:uFillTx/>
              <a:latin typeface="Arial"/>
            </a:endParaRPr>
          </a:p>
        </p:txBody>
      </p:sp>
      <p:sp>
        <p:nvSpPr>
          <p:cNvPr id="558" name="Text 22"/>
          <p:cNvSpPr/>
          <p:nvPr/>
        </p:nvSpPr>
        <p:spPr>
          <a:xfrm>
            <a:off x="6172200" y="3410640"/>
            <a:ext cx="4315680" cy="132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Cognitive trajectory  █████</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203040"/>
                </a:solidFill>
                <a:effectLst/>
                <a:uFillTx/>
                <a:latin typeface="Aptos"/>
              </a:rPr>
              <a:t>MRI                  ████</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203040"/>
                </a:solidFill>
                <a:effectLst/>
                <a:uFillTx/>
                <a:latin typeface="Aptos"/>
              </a:rPr>
              <a:t>PET                  ███</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203040"/>
                </a:solidFill>
                <a:effectLst/>
                <a:uFillTx/>
                <a:latin typeface="Aptos"/>
              </a:rPr>
              <a:t>APOE                 ██</a:t>
            </a:r>
            <a:endParaRPr lang="en-US" sz="1250" b="0" u="none" strike="noStrike">
              <a:solidFill>
                <a:srgbClr val="000000"/>
              </a:solidFill>
              <a:effectLst/>
              <a:uFillTx/>
              <a:latin typeface="Arial"/>
            </a:endParaRPr>
          </a:p>
        </p:txBody>
      </p:sp>
      <p:sp>
        <p:nvSpPr>
          <p:cNvPr id="559" name="Text 23"/>
          <p:cNvSpPr/>
          <p:nvPr/>
        </p:nvSpPr>
        <p:spPr>
          <a:xfrm>
            <a:off x="1188720" y="5212080"/>
            <a:ext cx="9875160" cy="273960"/>
          </a:xfrm>
          <a:prstGeom prst="rect">
            <a:avLst/>
          </a:prstGeom>
          <a:solidFill>
            <a:srgbClr val="0B3558"/>
          </a:solid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ct val="100000"/>
              </a:lnSpc>
              <a:tabLst>
                <a:tab pos="0" algn="l"/>
              </a:tabLst>
            </a:pPr>
            <a:r>
              <a:rPr lang="en-US" sz="1200" b="1" u="none" strike="noStrike">
                <a:solidFill>
                  <a:srgbClr val="FFFFFF"/>
                </a:solidFill>
                <a:effectLst/>
                <a:uFillTx/>
                <a:latin typeface="Aptos"/>
              </a:rPr>
              <a:t>Research use only — model estimates are not clinical diagnosis or treatment advice.</a:t>
            </a:r>
            <a:endParaRPr lang="en-US" sz="1200" b="0" u="none" strike="noStrike">
              <a:solidFill>
                <a:srgbClr val="FFFFFF"/>
              </a:solidFill>
              <a:effectLst/>
              <a:uFillTx/>
              <a:latin typeface="Arial"/>
            </a:endParaRPr>
          </a:p>
        </p:txBody>
      </p:sp>
      <p:sp>
        <p:nvSpPr>
          <p:cNvPr id="560" name="PlaceHolder 1"/>
          <p:cNvSpPr>
            <a:spLocks noGrp="1"/>
          </p:cNvSpPr>
          <p:nvPr>
            <p:ph type="sldNum" idx="23"/>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33</a:t>
            </a:r>
            <a:endParaRPr lang="en-US" sz="800" b="0" u="none" strike="noStrike">
              <a:solidFill>
                <a:srgbClr val="000000"/>
              </a:solidFill>
              <a:effectLst/>
              <a:uFillTx/>
              <a:latin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3558"/>
        </a:solidFill>
        <a:effectLst/>
      </p:bgPr>
    </p:bg>
    <p:spTree>
      <p:nvGrpSpPr>
        <p:cNvPr id="1" name=""/>
        <p:cNvGrpSpPr/>
        <p:nvPr/>
      </p:nvGrpSpPr>
      <p:grpSpPr>
        <a:xfrm>
          <a:off x="0" y="0"/>
          <a:ext cx="0" cy="0"/>
          <a:chOff x="0" y="0"/>
          <a:chExt cx="0" cy="0"/>
        </a:xfrm>
      </p:grpSpPr>
      <p:sp>
        <p:nvSpPr>
          <p:cNvPr id="561" name="Text 0"/>
          <p:cNvSpPr/>
          <p:nvPr/>
        </p:nvSpPr>
        <p:spPr>
          <a:xfrm>
            <a:off x="640080" y="1005840"/>
            <a:ext cx="10969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400" b="1" u="none" strike="noStrike">
                <a:solidFill>
                  <a:srgbClr val="19A7A0"/>
                </a:solidFill>
                <a:effectLst/>
                <a:uFillTx/>
                <a:latin typeface="Aptos"/>
              </a:rPr>
              <a:t>05</a:t>
            </a:r>
            <a:endParaRPr lang="en-US" sz="4400" b="0" u="none" strike="noStrike">
              <a:solidFill>
                <a:srgbClr val="FFFFFF"/>
              </a:solidFill>
              <a:effectLst/>
              <a:uFillTx/>
              <a:latin typeface="Arial"/>
            </a:endParaRPr>
          </a:p>
        </p:txBody>
      </p:sp>
      <p:sp>
        <p:nvSpPr>
          <p:cNvPr id="562" name="Text 1"/>
          <p:cNvSpPr/>
          <p:nvPr/>
        </p:nvSpPr>
        <p:spPr>
          <a:xfrm>
            <a:off x="640080" y="1874520"/>
            <a:ext cx="105152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u="none" strike="noStrike">
                <a:solidFill>
                  <a:srgbClr val="FFFFFF"/>
                </a:solidFill>
                <a:effectLst/>
                <a:uFillTx/>
                <a:latin typeface="Aptos"/>
              </a:rPr>
              <a:t>Experimental discipline</a:t>
            </a:r>
            <a:endParaRPr lang="en-US" sz="3400" b="0" u="none" strike="noStrike">
              <a:solidFill>
                <a:srgbClr val="FFFFFF"/>
              </a:solidFill>
              <a:effectLst/>
              <a:uFillTx/>
              <a:latin typeface="Arial"/>
            </a:endParaRPr>
          </a:p>
        </p:txBody>
      </p:sp>
      <p:sp>
        <p:nvSpPr>
          <p:cNvPr id="563" name="Text 2"/>
          <p:cNvSpPr/>
          <p:nvPr/>
        </p:nvSpPr>
        <p:spPr>
          <a:xfrm>
            <a:off x="658440" y="2743200"/>
            <a:ext cx="98751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u="none" strike="noStrike">
                <a:solidFill>
                  <a:srgbClr val="DCE7EF"/>
                </a:solidFill>
                <a:effectLst/>
                <a:uFillTx/>
                <a:latin typeface="Aptos"/>
              </a:rPr>
              <a:t>A defensible thesis depends on leakage-safe splitting, nested preprocessing, consistent held-out participants, transparent attrition and reproducible experiment metadata.</a:t>
            </a:r>
            <a:endParaRPr lang="en-US" sz="2000" b="0" u="none" strike="noStrike">
              <a:solidFill>
                <a:srgbClr val="FFFFFF"/>
              </a:solidFill>
              <a:effectLst/>
              <a:uFillTx/>
              <a:latin typeface="Arial"/>
            </a:endParaRPr>
          </a:p>
        </p:txBody>
      </p:sp>
      <p:sp>
        <p:nvSpPr>
          <p:cNvPr id="564" name="PlaceHolder 1"/>
          <p:cNvSpPr>
            <a:spLocks noGrp="1"/>
          </p:cNvSpPr>
          <p:nvPr>
            <p:ph type="sldNum" idx="24"/>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34</a:t>
            </a:r>
            <a:endParaRPr lang="en-US" sz="800" b="0" u="none" strike="noStrike">
              <a:solidFill>
                <a:srgbClr val="FFFFFF"/>
              </a:solidFill>
              <a:effectLst/>
              <a:uFillTx/>
              <a:latin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Text 0"/>
          <p:cNvSpPr/>
          <p:nvPr/>
        </p:nvSpPr>
        <p:spPr>
          <a:xfrm>
            <a:off x="567000" y="384120"/>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11">
                <a:solidFill>
                  <a:srgbClr val="0F8B8D"/>
                </a:solidFill>
                <a:effectLst/>
                <a:uFillTx/>
                <a:latin typeface="Aptos"/>
              </a:rPr>
              <a:t>NON-NEGOTIABLE</a:t>
            </a:r>
            <a:endParaRPr lang="en-US" sz="1000" b="0" u="none" strike="noStrike">
              <a:solidFill>
                <a:srgbClr val="000000"/>
              </a:solidFill>
              <a:effectLst/>
              <a:uFillTx/>
              <a:latin typeface="Arial"/>
            </a:endParaRPr>
          </a:p>
        </p:txBody>
      </p:sp>
      <p:sp>
        <p:nvSpPr>
          <p:cNvPr id="566"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Leakage prevention checklist</a:t>
            </a:r>
            <a:endParaRPr lang="en-US" sz="2800" b="0" u="none" strike="noStrike">
              <a:solidFill>
                <a:srgbClr val="000000"/>
              </a:solidFill>
              <a:effectLst/>
              <a:uFillTx/>
              <a:latin typeface="Arial"/>
            </a:endParaRPr>
          </a:p>
        </p:txBody>
      </p:sp>
      <p:sp>
        <p:nvSpPr>
          <p:cNvPr id="567" name="Shape 2"/>
          <p:cNvSpPr/>
          <p:nvPr/>
        </p:nvSpPr>
        <p:spPr>
          <a:xfrm>
            <a:off x="777240" y="1234440"/>
            <a:ext cx="347040" cy="347040"/>
          </a:xfrm>
          <a:prstGeom prst="ellipse">
            <a:avLst/>
          </a:prstGeom>
          <a:solidFill>
            <a:srgbClr val="2E8B68"/>
          </a:solidFill>
          <a:ln w="12700">
            <a:solidFill>
              <a:srgbClr val="2E8B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8" name="Text 3"/>
          <p:cNvSpPr/>
          <p:nvPr/>
        </p:nvSpPr>
        <p:spPr>
          <a:xfrm>
            <a:off x="777240" y="1316880"/>
            <a:ext cx="3470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a:t>
            </a:r>
            <a:endParaRPr lang="en-US" sz="1100" b="0" u="none" strike="noStrike">
              <a:solidFill>
                <a:srgbClr val="000000"/>
              </a:solidFill>
              <a:effectLst/>
              <a:uFillTx/>
              <a:latin typeface="Arial"/>
            </a:endParaRPr>
          </a:p>
        </p:txBody>
      </p:sp>
      <p:sp>
        <p:nvSpPr>
          <p:cNvPr id="569" name="Text 4"/>
          <p:cNvSpPr/>
          <p:nvPr/>
        </p:nvSpPr>
        <p:spPr>
          <a:xfrm>
            <a:off x="1325880" y="1216080"/>
            <a:ext cx="9692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u="none" strike="noStrike">
                <a:solidFill>
                  <a:srgbClr val="203040"/>
                </a:solidFill>
                <a:effectLst/>
                <a:uFillTx/>
                <a:latin typeface="Aptos"/>
              </a:rPr>
              <a:t>Split at participant level — repeated visits/scans never cross partitions.</a:t>
            </a:r>
            <a:endParaRPr lang="en-US" sz="1500" b="0" u="none" strike="noStrike">
              <a:solidFill>
                <a:srgbClr val="000000"/>
              </a:solidFill>
              <a:effectLst/>
              <a:uFillTx/>
              <a:latin typeface="Arial"/>
            </a:endParaRPr>
          </a:p>
        </p:txBody>
      </p:sp>
      <p:sp>
        <p:nvSpPr>
          <p:cNvPr id="570" name="Shape 5"/>
          <p:cNvSpPr/>
          <p:nvPr/>
        </p:nvSpPr>
        <p:spPr>
          <a:xfrm>
            <a:off x="777240" y="1892880"/>
            <a:ext cx="347040" cy="347040"/>
          </a:xfrm>
          <a:prstGeom prst="ellipse">
            <a:avLst/>
          </a:prstGeom>
          <a:solidFill>
            <a:srgbClr val="2E8B68"/>
          </a:solidFill>
          <a:ln w="12700">
            <a:solidFill>
              <a:srgbClr val="2E8B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71" name="Text 6"/>
          <p:cNvSpPr/>
          <p:nvPr/>
        </p:nvSpPr>
        <p:spPr>
          <a:xfrm>
            <a:off x="777240" y="1974960"/>
            <a:ext cx="3470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a:t>
            </a:r>
            <a:endParaRPr lang="en-US" sz="1100" b="0" u="none" strike="noStrike">
              <a:solidFill>
                <a:srgbClr val="000000"/>
              </a:solidFill>
              <a:effectLst/>
              <a:uFillTx/>
              <a:latin typeface="Arial"/>
            </a:endParaRPr>
          </a:p>
        </p:txBody>
      </p:sp>
      <p:sp>
        <p:nvSpPr>
          <p:cNvPr id="572" name="Text 7"/>
          <p:cNvSpPr/>
          <p:nvPr/>
        </p:nvSpPr>
        <p:spPr>
          <a:xfrm>
            <a:off x="1325880" y="1874520"/>
            <a:ext cx="9692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u="none" strike="noStrike">
                <a:solidFill>
                  <a:srgbClr val="203040"/>
                </a:solidFill>
                <a:effectLst/>
                <a:uFillTx/>
                <a:latin typeface="Aptos"/>
              </a:rPr>
              <a:t>Fit imputation, scaling and feature selection inside training folds only.</a:t>
            </a:r>
            <a:endParaRPr lang="en-US" sz="1500" b="0" u="none" strike="noStrike">
              <a:solidFill>
                <a:srgbClr val="000000"/>
              </a:solidFill>
              <a:effectLst/>
              <a:uFillTx/>
              <a:latin typeface="Arial"/>
            </a:endParaRPr>
          </a:p>
        </p:txBody>
      </p:sp>
      <p:sp>
        <p:nvSpPr>
          <p:cNvPr id="573" name="Shape 8"/>
          <p:cNvSpPr/>
          <p:nvPr/>
        </p:nvSpPr>
        <p:spPr>
          <a:xfrm>
            <a:off x="777240" y="2551320"/>
            <a:ext cx="347040" cy="347040"/>
          </a:xfrm>
          <a:prstGeom prst="ellipse">
            <a:avLst/>
          </a:prstGeom>
          <a:solidFill>
            <a:srgbClr val="2E8B68"/>
          </a:solidFill>
          <a:ln w="12700">
            <a:solidFill>
              <a:srgbClr val="2E8B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74" name="Text 9"/>
          <p:cNvSpPr/>
          <p:nvPr/>
        </p:nvSpPr>
        <p:spPr>
          <a:xfrm>
            <a:off x="777240" y="2633400"/>
            <a:ext cx="3470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a:t>
            </a:r>
            <a:endParaRPr lang="en-US" sz="1100" b="0" u="none" strike="noStrike">
              <a:solidFill>
                <a:srgbClr val="000000"/>
              </a:solidFill>
              <a:effectLst/>
              <a:uFillTx/>
              <a:latin typeface="Arial"/>
            </a:endParaRPr>
          </a:p>
        </p:txBody>
      </p:sp>
      <p:sp>
        <p:nvSpPr>
          <p:cNvPr id="575" name="Text 10"/>
          <p:cNvSpPr/>
          <p:nvPr/>
        </p:nvSpPr>
        <p:spPr>
          <a:xfrm>
            <a:off x="1325880" y="2532960"/>
            <a:ext cx="9692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u="none" strike="noStrike">
                <a:solidFill>
                  <a:srgbClr val="203040"/>
                </a:solidFill>
                <a:effectLst/>
                <a:uFillTx/>
                <a:latin typeface="Aptos"/>
              </a:rPr>
              <a:t>Fit calibration using validation data, never the final test set.</a:t>
            </a:r>
            <a:endParaRPr lang="en-US" sz="1500" b="0" u="none" strike="noStrike">
              <a:solidFill>
                <a:srgbClr val="000000"/>
              </a:solidFill>
              <a:effectLst/>
              <a:uFillTx/>
              <a:latin typeface="Arial"/>
            </a:endParaRPr>
          </a:p>
        </p:txBody>
      </p:sp>
      <p:sp>
        <p:nvSpPr>
          <p:cNvPr id="576" name="Shape 11"/>
          <p:cNvSpPr/>
          <p:nvPr/>
        </p:nvSpPr>
        <p:spPr>
          <a:xfrm>
            <a:off x="777240" y="3209400"/>
            <a:ext cx="347040" cy="347040"/>
          </a:xfrm>
          <a:prstGeom prst="ellipse">
            <a:avLst/>
          </a:prstGeom>
          <a:solidFill>
            <a:srgbClr val="2E8B68"/>
          </a:solidFill>
          <a:ln w="12700">
            <a:solidFill>
              <a:srgbClr val="2E8B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77" name="Text 12"/>
          <p:cNvSpPr/>
          <p:nvPr/>
        </p:nvSpPr>
        <p:spPr>
          <a:xfrm>
            <a:off x="777240" y="3291840"/>
            <a:ext cx="3470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a:t>
            </a:r>
            <a:endParaRPr lang="en-US" sz="1100" b="0" u="none" strike="noStrike">
              <a:solidFill>
                <a:srgbClr val="000000"/>
              </a:solidFill>
              <a:effectLst/>
              <a:uFillTx/>
              <a:latin typeface="Arial"/>
            </a:endParaRPr>
          </a:p>
        </p:txBody>
      </p:sp>
      <p:sp>
        <p:nvSpPr>
          <p:cNvPr id="578" name="Text 13"/>
          <p:cNvSpPr/>
          <p:nvPr/>
        </p:nvSpPr>
        <p:spPr>
          <a:xfrm>
            <a:off x="1325880" y="3191400"/>
            <a:ext cx="9692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u="none" strike="noStrike">
                <a:solidFill>
                  <a:srgbClr val="203040"/>
                </a:solidFill>
                <a:effectLst/>
                <a:uFillTx/>
                <a:latin typeface="Aptos"/>
              </a:rPr>
              <a:t>For progression, enforce timestamp cut-offs programmatically.</a:t>
            </a:r>
            <a:endParaRPr lang="en-US" sz="1500" b="0" u="none" strike="noStrike">
              <a:solidFill>
                <a:srgbClr val="000000"/>
              </a:solidFill>
              <a:effectLst/>
              <a:uFillTx/>
              <a:latin typeface="Arial"/>
            </a:endParaRPr>
          </a:p>
        </p:txBody>
      </p:sp>
      <p:sp>
        <p:nvSpPr>
          <p:cNvPr id="579" name="Shape 14"/>
          <p:cNvSpPr/>
          <p:nvPr/>
        </p:nvSpPr>
        <p:spPr>
          <a:xfrm>
            <a:off x="777240" y="3867840"/>
            <a:ext cx="347040" cy="347040"/>
          </a:xfrm>
          <a:prstGeom prst="ellipse">
            <a:avLst/>
          </a:prstGeom>
          <a:solidFill>
            <a:srgbClr val="2E8B68"/>
          </a:solidFill>
          <a:ln w="12700">
            <a:solidFill>
              <a:srgbClr val="2E8B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0" name="Text 15"/>
          <p:cNvSpPr/>
          <p:nvPr/>
        </p:nvSpPr>
        <p:spPr>
          <a:xfrm>
            <a:off x="777240" y="3950280"/>
            <a:ext cx="3470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a:t>
            </a:r>
            <a:endParaRPr lang="en-US" sz="1100" b="0" u="none" strike="noStrike">
              <a:solidFill>
                <a:srgbClr val="000000"/>
              </a:solidFill>
              <a:effectLst/>
              <a:uFillTx/>
              <a:latin typeface="Arial"/>
            </a:endParaRPr>
          </a:p>
        </p:txBody>
      </p:sp>
      <p:sp>
        <p:nvSpPr>
          <p:cNvPr id="581" name="Text 16"/>
          <p:cNvSpPr/>
          <p:nvPr/>
        </p:nvSpPr>
        <p:spPr>
          <a:xfrm>
            <a:off x="1325880" y="3849480"/>
            <a:ext cx="9692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u="none" strike="noStrike">
                <a:solidFill>
                  <a:srgbClr val="203040"/>
                </a:solidFill>
                <a:effectLst/>
                <a:uFillTx/>
                <a:latin typeface="Aptos"/>
              </a:rPr>
              <a:t>Use the same held-out participants for model comparisons whenever possible.</a:t>
            </a:r>
            <a:endParaRPr lang="en-US" sz="1500" b="0" u="none" strike="noStrike">
              <a:solidFill>
                <a:srgbClr val="000000"/>
              </a:solidFill>
              <a:effectLst/>
              <a:uFillTx/>
              <a:latin typeface="Arial"/>
            </a:endParaRPr>
          </a:p>
        </p:txBody>
      </p:sp>
      <p:sp>
        <p:nvSpPr>
          <p:cNvPr id="582" name="Shape 17"/>
          <p:cNvSpPr/>
          <p:nvPr/>
        </p:nvSpPr>
        <p:spPr>
          <a:xfrm>
            <a:off x="777240" y="4526280"/>
            <a:ext cx="347040" cy="347040"/>
          </a:xfrm>
          <a:prstGeom prst="ellipse">
            <a:avLst/>
          </a:prstGeom>
          <a:solidFill>
            <a:srgbClr val="2E8B68"/>
          </a:solidFill>
          <a:ln w="12700">
            <a:solidFill>
              <a:srgbClr val="2E8B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3" name="Text 18"/>
          <p:cNvSpPr/>
          <p:nvPr/>
        </p:nvSpPr>
        <p:spPr>
          <a:xfrm>
            <a:off x="777240" y="4608720"/>
            <a:ext cx="3470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a:t>
            </a:r>
            <a:endParaRPr lang="en-US" sz="1100" b="0" u="none" strike="noStrike">
              <a:solidFill>
                <a:srgbClr val="000000"/>
              </a:solidFill>
              <a:effectLst/>
              <a:uFillTx/>
              <a:latin typeface="Arial"/>
            </a:endParaRPr>
          </a:p>
        </p:txBody>
      </p:sp>
      <p:sp>
        <p:nvSpPr>
          <p:cNvPr id="584" name="Text 19"/>
          <p:cNvSpPr/>
          <p:nvPr/>
        </p:nvSpPr>
        <p:spPr>
          <a:xfrm>
            <a:off x="1325880" y="4507920"/>
            <a:ext cx="9692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u="none" strike="noStrike">
                <a:solidFill>
                  <a:srgbClr val="203040"/>
                </a:solidFill>
                <a:effectLst/>
                <a:uFillTx/>
                <a:latin typeface="Aptos"/>
              </a:rPr>
              <a:t>Persist seeds, cohort query/version, preprocessing parameters and model configuration.</a:t>
            </a:r>
            <a:endParaRPr lang="en-US" sz="1500" b="0" u="none" strike="noStrike">
              <a:solidFill>
                <a:srgbClr val="000000"/>
              </a:solidFill>
              <a:effectLst/>
              <a:uFillTx/>
              <a:latin typeface="Arial"/>
            </a:endParaRPr>
          </a:p>
        </p:txBody>
      </p:sp>
      <p:sp>
        <p:nvSpPr>
          <p:cNvPr id="585" name="Shape 20"/>
          <p:cNvSpPr/>
          <p:nvPr/>
        </p:nvSpPr>
        <p:spPr>
          <a:xfrm>
            <a:off x="777240" y="5184720"/>
            <a:ext cx="347040" cy="347040"/>
          </a:xfrm>
          <a:prstGeom prst="ellipse">
            <a:avLst/>
          </a:prstGeom>
          <a:solidFill>
            <a:srgbClr val="2E8B68"/>
          </a:solidFill>
          <a:ln w="12700">
            <a:solidFill>
              <a:srgbClr val="2E8B6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6" name="Text 21"/>
          <p:cNvSpPr/>
          <p:nvPr/>
        </p:nvSpPr>
        <p:spPr>
          <a:xfrm>
            <a:off x="777240" y="5266800"/>
            <a:ext cx="3470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ptos"/>
              </a:rPr>
              <a:t>✓</a:t>
            </a:r>
            <a:endParaRPr lang="en-US" sz="1100" b="0" u="none" strike="noStrike">
              <a:solidFill>
                <a:srgbClr val="000000"/>
              </a:solidFill>
              <a:effectLst/>
              <a:uFillTx/>
              <a:latin typeface="Arial"/>
            </a:endParaRPr>
          </a:p>
        </p:txBody>
      </p:sp>
      <p:sp>
        <p:nvSpPr>
          <p:cNvPr id="587" name="Text 22"/>
          <p:cNvSpPr/>
          <p:nvPr/>
        </p:nvSpPr>
        <p:spPr>
          <a:xfrm>
            <a:off x="1325880" y="5166360"/>
            <a:ext cx="96922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u="none" strike="noStrike">
                <a:solidFill>
                  <a:srgbClr val="203040"/>
                </a:solidFill>
                <a:effectLst/>
                <a:uFillTx/>
                <a:latin typeface="Aptos"/>
              </a:rPr>
              <a:t>Maintain a prediction ledger with model version, modality mask and probabilities.</a:t>
            </a:r>
            <a:endParaRPr lang="en-US" sz="1500" b="0" u="none" strike="noStrike">
              <a:solidFill>
                <a:srgbClr val="000000"/>
              </a:solidFill>
              <a:effectLst/>
              <a:uFillTx/>
              <a:latin typeface="Arial"/>
            </a:endParaRPr>
          </a:p>
        </p:txBody>
      </p:sp>
      <p:sp>
        <p:nvSpPr>
          <p:cNvPr id="588" name="PlaceHolder 1"/>
          <p:cNvSpPr>
            <a:spLocks noGrp="1"/>
          </p:cNvSpPr>
          <p:nvPr>
            <p:ph type="sldNum" idx="25"/>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35</a:t>
            </a:r>
            <a:endParaRPr lang="en-US" sz="800" b="0" u="none" strike="noStrike">
              <a:solidFill>
                <a:srgbClr val="000000"/>
              </a:solidFill>
              <a:effectLst/>
              <a:uFillTx/>
              <a:latin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 name="TextBox 1"/>
          <p:cNvSpPr/>
          <p:nvPr/>
        </p:nvSpPr>
        <p:spPr>
          <a:xfrm>
            <a:off x="502920" y="255960"/>
            <a:ext cx="1115532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100" b="1" u="none" strike="noStrike">
                <a:solidFill>
                  <a:srgbClr val="008197"/>
                </a:solidFill>
                <a:effectLst/>
                <a:uFillTx/>
                <a:latin typeface="Aptos"/>
              </a:rPr>
              <a:t>EVIDENCE CHAIN</a:t>
            </a:r>
            <a:endParaRPr lang="en-US" sz="1100" b="0" u="none" strike="noStrike">
              <a:solidFill>
                <a:srgbClr val="000000"/>
              </a:solidFill>
              <a:effectLst/>
              <a:uFillTx/>
              <a:latin typeface="Arial"/>
            </a:endParaRPr>
          </a:p>
        </p:txBody>
      </p:sp>
      <p:sp>
        <p:nvSpPr>
          <p:cNvPr id="590" name="TextBox 2"/>
          <p:cNvSpPr/>
          <p:nvPr/>
        </p:nvSpPr>
        <p:spPr>
          <a:xfrm>
            <a:off x="502920" y="621720"/>
            <a:ext cx="11155320" cy="5666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2700" b="1" u="none" strike="noStrike">
                <a:solidFill>
                  <a:srgbClr val="082A43"/>
                </a:solidFill>
                <a:effectLst/>
                <a:uFillTx/>
                <a:latin typeface="Aptos"/>
              </a:rPr>
              <a:t>Experimental programme</a:t>
            </a:r>
            <a:endParaRPr lang="en-US" sz="2700" b="0" u="none" strike="noStrike">
              <a:solidFill>
                <a:srgbClr val="000000"/>
              </a:solidFill>
              <a:effectLst/>
              <a:uFillTx/>
              <a:latin typeface="Arial"/>
            </a:endParaRPr>
          </a:p>
        </p:txBody>
      </p:sp>
      <p:sp>
        <p:nvSpPr>
          <p:cNvPr id="591" name="TextBox 3"/>
          <p:cNvSpPr/>
          <p:nvPr/>
        </p:nvSpPr>
        <p:spPr>
          <a:xfrm>
            <a:off x="530280" y="122544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5A6973"/>
                </a:solidFill>
                <a:effectLst/>
                <a:uFillTx/>
                <a:latin typeface="Aptos"/>
              </a:rPr>
              <a:t>The thesis should answer a small number of explicit questions rather than accumulate algorithms.</a:t>
            </a:r>
            <a:endParaRPr lang="en-US" sz="1300" b="0" u="none" strike="noStrike">
              <a:solidFill>
                <a:srgbClr val="000000"/>
              </a:solidFill>
              <a:effectLst/>
              <a:uFillTx/>
              <a:latin typeface="Arial"/>
            </a:endParaRPr>
          </a:p>
        </p:txBody>
      </p:sp>
      <p:cxnSp>
        <p:nvCxnSpPr>
          <p:cNvPr id="592" name="Connector 4"/>
          <p:cNvCxnSpPr/>
          <p:nvPr/>
        </p:nvCxnSpPr>
        <p:spPr>
          <a:xfrm>
            <a:off x="502920" y="1764720"/>
            <a:ext cx="11156040" cy="360"/>
          </a:xfrm>
          <a:prstGeom prst="straightConnector1">
            <a:avLst/>
          </a:prstGeom>
          <a:ln w="17780">
            <a:solidFill>
              <a:srgbClr val="008197"/>
            </a:solidFill>
          </a:ln>
        </p:spPr>
      </p:cxnSp>
      <p:sp>
        <p:nvSpPr>
          <p:cNvPr id="593" name="Rounded Rectangle 5"/>
          <p:cNvSpPr/>
          <p:nvPr/>
        </p:nvSpPr>
        <p:spPr>
          <a:xfrm>
            <a:off x="502920" y="2057400"/>
            <a:ext cx="1965600" cy="65808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E1</a:t>
            </a:r>
            <a:endParaRPr lang="en-US" sz="1500" b="0" u="none" strike="noStrike">
              <a:solidFill>
                <a:srgbClr val="FFFFFF"/>
              </a:solidFill>
              <a:effectLst/>
              <a:uFillTx/>
              <a:latin typeface="Arial"/>
            </a:endParaRPr>
          </a:p>
        </p:txBody>
      </p:sp>
      <p:sp>
        <p:nvSpPr>
          <p:cNvPr id="594" name="TextBox 6"/>
          <p:cNvSpPr/>
          <p:nvPr/>
        </p:nvSpPr>
        <p:spPr>
          <a:xfrm>
            <a:off x="502920" y="2770560"/>
            <a:ext cx="196560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0" u="none" strike="noStrike">
                <a:solidFill>
                  <a:srgbClr val="1E2D37"/>
                </a:solidFill>
                <a:effectLst/>
                <a:uFillTx/>
                <a:latin typeface="Aptos"/>
              </a:rPr>
              <a:t>Single-modality benchmarks</a:t>
            </a:r>
            <a:endParaRPr lang="en-US" sz="1100" b="0" u="none" strike="noStrike">
              <a:solidFill>
                <a:srgbClr val="000000"/>
              </a:solidFill>
              <a:effectLst/>
              <a:uFillTx/>
              <a:latin typeface="Arial"/>
            </a:endParaRPr>
          </a:p>
        </p:txBody>
      </p:sp>
      <p:sp>
        <p:nvSpPr>
          <p:cNvPr id="595" name="Rounded Rectangle 7"/>
          <p:cNvSpPr/>
          <p:nvPr/>
        </p:nvSpPr>
        <p:spPr>
          <a:xfrm>
            <a:off x="2770560" y="2057400"/>
            <a:ext cx="1965600" cy="65808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E2</a:t>
            </a:r>
            <a:endParaRPr lang="en-US" sz="1500" b="0" u="none" strike="noStrike">
              <a:solidFill>
                <a:srgbClr val="FFFFFF"/>
              </a:solidFill>
              <a:effectLst/>
              <a:uFillTx/>
              <a:latin typeface="Arial"/>
            </a:endParaRPr>
          </a:p>
        </p:txBody>
      </p:sp>
      <p:sp>
        <p:nvSpPr>
          <p:cNvPr id="596" name="TextBox 8"/>
          <p:cNvSpPr/>
          <p:nvPr/>
        </p:nvSpPr>
        <p:spPr>
          <a:xfrm>
            <a:off x="2770560" y="2770560"/>
            <a:ext cx="196560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0" u="none" strike="noStrike">
                <a:solidFill>
                  <a:srgbClr val="1E2D37"/>
                </a:solidFill>
                <a:effectLst/>
                <a:uFillTx/>
                <a:latin typeface="Aptos"/>
              </a:rPr>
              <a:t>Multimodal five-model benchmark</a:t>
            </a:r>
            <a:endParaRPr lang="en-US" sz="1100" b="0" u="none" strike="noStrike">
              <a:solidFill>
                <a:srgbClr val="000000"/>
              </a:solidFill>
              <a:effectLst/>
              <a:uFillTx/>
              <a:latin typeface="Arial"/>
            </a:endParaRPr>
          </a:p>
        </p:txBody>
      </p:sp>
      <p:sp>
        <p:nvSpPr>
          <p:cNvPr id="597" name="Rounded Rectangle 9"/>
          <p:cNvSpPr/>
          <p:nvPr/>
        </p:nvSpPr>
        <p:spPr>
          <a:xfrm>
            <a:off x="5038200" y="2057400"/>
            <a:ext cx="1965600" cy="65808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E3</a:t>
            </a:r>
            <a:endParaRPr lang="en-US" sz="1500" b="0" u="none" strike="noStrike">
              <a:solidFill>
                <a:srgbClr val="FFFFFF"/>
              </a:solidFill>
              <a:effectLst/>
              <a:uFillTx/>
              <a:latin typeface="Arial"/>
            </a:endParaRPr>
          </a:p>
        </p:txBody>
      </p:sp>
      <p:sp>
        <p:nvSpPr>
          <p:cNvPr id="598" name="TextBox 10"/>
          <p:cNvSpPr/>
          <p:nvPr/>
        </p:nvSpPr>
        <p:spPr>
          <a:xfrm>
            <a:off x="5038200" y="2770560"/>
            <a:ext cx="196560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0" u="none" strike="noStrike">
                <a:solidFill>
                  <a:srgbClr val="1E2D37"/>
                </a:solidFill>
                <a:effectLst/>
                <a:uFillTx/>
                <a:latin typeface="Aptos"/>
              </a:rPr>
              <a:t>Soft voting</a:t>
            </a:r>
            <a:endParaRPr lang="en-US" sz="1100" b="0" u="none" strike="noStrike">
              <a:solidFill>
                <a:srgbClr val="000000"/>
              </a:solidFill>
              <a:effectLst/>
              <a:uFillTx/>
              <a:latin typeface="Arial"/>
            </a:endParaRPr>
          </a:p>
        </p:txBody>
      </p:sp>
      <p:sp>
        <p:nvSpPr>
          <p:cNvPr id="599" name="Rounded Rectangle 11"/>
          <p:cNvSpPr/>
          <p:nvPr/>
        </p:nvSpPr>
        <p:spPr>
          <a:xfrm>
            <a:off x="7306200" y="2057400"/>
            <a:ext cx="1965600" cy="65808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E4</a:t>
            </a:r>
            <a:endParaRPr lang="en-US" sz="1500" b="0" u="none" strike="noStrike">
              <a:solidFill>
                <a:srgbClr val="FFFFFF"/>
              </a:solidFill>
              <a:effectLst/>
              <a:uFillTx/>
              <a:latin typeface="Arial"/>
            </a:endParaRPr>
          </a:p>
        </p:txBody>
      </p:sp>
      <p:sp>
        <p:nvSpPr>
          <p:cNvPr id="600" name="TextBox 12"/>
          <p:cNvSpPr/>
          <p:nvPr/>
        </p:nvSpPr>
        <p:spPr>
          <a:xfrm>
            <a:off x="7306200" y="2770560"/>
            <a:ext cx="196560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0" u="none" strike="noStrike">
                <a:solidFill>
                  <a:srgbClr val="1E2D37"/>
                </a:solidFill>
                <a:effectLst/>
                <a:uFillTx/>
                <a:latin typeface="Aptos"/>
              </a:rPr>
              <a:t>Weighted soft voting</a:t>
            </a:r>
            <a:endParaRPr lang="en-US" sz="1100" b="0" u="none" strike="noStrike">
              <a:solidFill>
                <a:srgbClr val="000000"/>
              </a:solidFill>
              <a:effectLst/>
              <a:uFillTx/>
              <a:latin typeface="Arial"/>
            </a:endParaRPr>
          </a:p>
        </p:txBody>
      </p:sp>
      <p:sp>
        <p:nvSpPr>
          <p:cNvPr id="601" name="Rounded Rectangle 13"/>
          <p:cNvSpPr/>
          <p:nvPr/>
        </p:nvSpPr>
        <p:spPr>
          <a:xfrm>
            <a:off x="9573840" y="2057400"/>
            <a:ext cx="1965600" cy="65808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E5</a:t>
            </a:r>
            <a:endParaRPr lang="en-US" sz="1500" b="0" u="none" strike="noStrike">
              <a:solidFill>
                <a:srgbClr val="FFFFFF"/>
              </a:solidFill>
              <a:effectLst/>
              <a:uFillTx/>
              <a:latin typeface="Arial"/>
            </a:endParaRPr>
          </a:p>
        </p:txBody>
      </p:sp>
      <p:sp>
        <p:nvSpPr>
          <p:cNvPr id="602" name="TextBox 14"/>
          <p:cNvSpPr/>
          <p:nvPr/>
        </p:nvSpPr>
        <p:spPr>
          <a:xfrm>
            <a:off x="9573840" y="2770560"/>
            <a:ext cx="196560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0" u="none" strike="noStrike">
                <a:solidFill>
                  <a:srgbClr val="1E2D37"/>
                </a:solidFill>
                <a:effectLst/>
                <a:uFillTx/>
                <a:latin typeface="Aptos"/>
              </a:rPr>
              <a:t>Stacking</a:t>
            </a:r>
            <a:endParaRPr lang="en-US" sz="1100" b="0" u="none" strike="noStrike">
              <a:solidFill>
                <a:srgbClr val="000000"/>
              </a:solidFill>
              <a:effectLst/>
              <a:uFillTx/>
              <a:latin typeface="Arial"/>
            </a:endParaRPr>
          </a:p>
        </p:txBody>
      </p:sp>
      <p:sp>
        <p:nvSpPr>
          <p:cNvPr id="603" name="Rounded Rectangle 15"/>
          <p:cNvSpPr/>
          <p:nvPr/>
        </p:nvSpPr>
        <p:spPr>
          <a:xfrm>
            <a:off x="502920" y="3474720"/>
            <a:ext cx="1965600" cy="65808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E6</a:t>
            </a:r>
            <a:endParaRPr lang="en-US" sz="1500" b="0" u="none" strike="noStrike">
              <a:solidFill>
                <a:srgbClr val="FFFFFF"/>
              </a:solidFill>
              <a:effectLst/>
              <a:uFillTx/>
              <a:latin typeface="Arial"/>
            </a:endParaRPr>
          </a:p>
        </p:txBody>
      </p:sp>
      <p:sp>
        <p:nvSpPr>
          <p:cNvPr id="604" name="TextBox 16"/>
          <p:cNvSpPr/>
          <p:nvPr/>
        </p:nvSpPr>
        <p:spPr>
          <a:xfrm>
            <a:off x="502920" y="4187880"/>
            <a:ext cx="196560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0" u="none" strike="noStrike">
                <a:solidFill>
                  <a:srgbClr val="1E2D37"/>
                </a:solidFill>
                <a:effectLst/>
                <a:uFillTx/>
                <a:latin typeface="Aptos"/>
              </a:rPr>
              <a:t>MCI→AD ensemble progression</a:t>
            </a:r>
            <a:endParaRPr lang="en-US" sz="1100" b="0" u="none" strike="noStrike">
              <a:solidFill>
                <a:srgbClr val="000000"/>
              </a:solidFill>
              <a:effectLst/>
              <a:uFillTx/>
              <a:latin typeface="Arial"/>
            </a:endParaRPr>
          </a:p>
        </p:txBody>
      </p:sp>
      <p:sp>
        <p:nvSpPr>
          <p:cNvPr id="605" name="Rounded Rectangle 17"/>
          <p:cNvSpPr/>
          <p:nvPr/>
        </p:nvSpPr>
        <p:spPr>
          <a:xfrm>
            <a:off x="2770560" y="3474720"/>
            <a:ext cx="1965600" cy="65808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E7</a:t>
            </a:r>
            <a:endParaRPr lang="en-US" sz="1500" b="0" u="none" strike="noStrike">
              <a:solidFill>
                <a:srgbClr val="FFFFFF"/>
              </a:solidFill>
              <a:effectLst/>
              <a:uFillTx/>
              <a:latin typeface="Arial"/>
            </a:endParaRPr>
          </a:p>
        </p:txBody>
      </p:sp>
      <p:sp>
        <p:nvSpPr>
          <p:cNvPr id="606" name="TextBox 18"/>
          <p:cNvSpPr/>
          <p:nvPr/>
        </p:nvSpPr>
        <p:spPr>
          <a:xfrm>
            <a:off x="2770560" y="4187880"/>
            <a:ext cx="196560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0" u="none" strike="noStrike">
                <a:solidFill>
                  <a:srgbClr val="1E2D37"/>
                </a:solidFill>
                <a:effectLst/>
                <a:uFillTx/>
                <a:latin typeface="Aptos"/>
              </a:rPr>
              <a:t>Missing-modality stress test</a:t>
            </a:r>
            <a:endParaRPr lang="en-US" sz="1100" b="0" u="none" strike="noStrike">
              <a:solidFill>
                <a:srgbClr val="000000"/>
              </a:solidFill>
              <a:effectLst/>
              <a:uFillTx/>
              <a:latin typeface="Arial"/>
            </a:endParaRPr>
          </a:p>
        </p:txBody>
      </p:sp>
      <p:sp>
        <p:nvSpPr>
          <p:cNvPr id="607" name="Rounded Rectangle 19"/>
          <p:cNvSpPr/>
          <p:nvPr/>
        </p:nvSpPr>
        <p:spPr>
          <a:xfrm>
            <a:off x="5038200" y="3474720"/>
            <a:ext cx="1965600" cy="65808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E8</a:t>
            </a:r>
            <a:endParaRPr lang="en-US" sz="1500" b="0" u="none" strike="noStrike">
              <a:solidFill>
                <a:srgbClr val="FFFFFF"/>
              </a:solidFill>
              <a:effectLst/>
              <a:uFillTx/>
              <a:latin typeface="Arial"/>
            </a:endParaRPr>
          </a:p>
        </p:txBody>
      </p:sp>
      <p:sp>
        <p:nvSpPr>
          <p:cNvPr id="608" name="TextBox 20"/>
          <p:cNvSpPr/>
          <p:nvPr/>
        </p:nvSpPr>
        <p:spPr>
          <a:xfrm>
            <a:off x="5038200" y="4187880"/>
            <a:ext cx="196560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0" u="none" strike="noStrike">
                <a:solidFill>
                  <a:srgbClr val="1E2D37"/>
                </a:solidFill>
                <a:effectLst/>
                <a:uFillTx/>
                <a:latin typeface="Aptos"/>
              </a:rPr>
              <a:t>Calibration + uncertainty</a:t>
            </a:r>
            <a:endParaRPr lang="en-US" sz="1100" b="0" u="none" strike="noStrike">
              <a:solidFill>
                <a:srgbClr val="000000"/>
              </a:solidFill>
              <a:effectLst/>
              <a:uFillTx/>
              <a:latin typeface="Arial"/>
            </a:endParaRPr>
          </a:p>
        </p:txBody>
      </p:sp>
      <p:sp>
        <p:nvSpPr>
          <p:cNvPr id="609" name="Rounded Rectangle 21"/>
          <p:cNvSpPr/>
          <p:nvPr/>
        </p:nvSpPr>
        <p:spPr>
          <a:xfrm>
            <a:off x="7306200" y="3474720"/>
            <a:ext cx="1965600" cy="65808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E9</a:t>
            </a:r>
            <a:endParaRPr lang="en-US" sz="1500" b="0" u="none" strike="noStrike">
              <a:solidFill>
                <a:srgbClr val="FFFFFF"/>
              </a:solidFill>
              <a:effectLst/>
              <a:uFillTx/>
              <a:latin typeface="Arial"/>
            </a:endParaRPr>
          </a:p>
        </p:txBody>
      </p:sp>
      <p:sp>
        <p:nvSpPr>
          <p:cNvPr id="610" name="TextBox 22"/>
          <p:cNvSpPr/>
          <p:nvPr/>
        </p:nvSpPr>
        <p:spPr>
          <a:xfrm>
            <a:off x="7306200" y="4187880"/>
            <a:ext cx="196560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0" u="none" strike="noStrike">
                <a:solidFill>
                  <a:srgbClr val="1E2D37"/>
                </a:solidFill>
                <a:effectLst/>
                <a:uFillTx/>
                <a:latin typeface="Aptos"/>
              </a:rPr>
              <a:t>Explainability + ablation</a:t>
            </a:r>
            <a:endParaRPr lang="en-US" sz="1100" b="0" u="none" strike="noStrike">
              <a:solidFill>
                <a:srgbClr val="000000"/>
              </a:solidFill>
              <a:effectLst/>
              <a:uFillTx/>
              <a:latin typeface="Arial"/>
            </a:endParaRPr>
          </a:p>
        </p:txBody>
      </p:sp>
      <p:sp>
        <p:nvSpPr>
          <p:cNvPr id="611" name="Rounded Rectangle 23"/>
          <p:cNvSpPr/>
          <p:nvPr/>
        </p:nvSpPr>
        <p:spPr>
          <a:xfrm>
            <a:off x="9573840" y="3474720"/>
            <a:ext cx="1965600" cy="65808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E10</a:t>
            </a:r>
            <a:endParaRPr lang="en-US" sz="1500" b="0" u="none" strike="noStrike">
              <a:solidFill>
                <a:srgbClr val="FFFFFF"/>
              </a:solidFill>
              <a:effectLst/>
              <a:uFillTx/>
              <a:latin typeface="Arial"/>
            </a:endParaRPr>
          </a:p>
        </p:txBody>
      </p:sp>
      <p:sp>
        <p:nvSpPr>
          <p:cNvPr id="612" name="TextBox 24"/>
          <p:cNvSpPr/>
          <p:nvPr/>
        </p:nvSpPr>
        <p:spPr>
          <a:xfrm>
            <a:off x="9573840" y="4187880"/>
            <a:ext cx="196560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defTabSz="914400">
              <a:lnSpc>
                <a:spcPct val="100000"/>
              </a:lnSpc>
            </a:pPr>
            <a:r>
              <a:rPr lang="en-US" sz="1100" b="0" u="none" strike="noStrike">
                <a:solidFill>
                  <a:srgbClr val="1E2D37"/>
                </a:solidFill>
                <a:effectLst/>
                <a:uFillTx/>
                <a:latin typeface="Aptos"/>
              </a:rPr>
              <a:t>Subgroup analysis</a:t>
            </a:r>
            <a:endParaRPr lang="en-US" sz="1100" b="0" u="none" strike="noStrike">
              <a:solidFill>
                <a:srgbClr val="000000"/>
              </a:solidFill>
              <a:effectLst/>
              <a:uFillTx/>
              <a:latin typeface="Arial"/>
            </a:endParaRPr>
          </a:p>
        </p:txBody>
      </p:sp>
      <p:sp>
        <p:nvSpPr>
          <p:cNvPr id="613" name="Rounded Rectangle 25"/>
          <p:cNvSpPr/>
          <p:nvPr/>
        </p:nvSpPr>
        <p:spPr>
          <a:xfrm>
            <a:off x="1188720" y="5257800"/>
            <a:ext cx="9783720" cy="566640"/>
          </a:xfrm>
          <a:prstGeom prst="roundRect">
            <a:avLst>
              <a:gd name="adj" fmla="val 16667"/>
            </a:avLst>
          </a:prstGeom>
          <a:solidFill>
            <a:srgbClr val="082A43"/>
          </a:solidFill>
          <a:ln>
            <a:solidFill>
              <a:srgbClr val="082A43"/>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700" b="1" u="none" strike="noStrike">
                <a:solidFill>
                  <a:srgbClr val="FFFFFF"/>
                </a:solidFill>
                <a:effectLst/>
                <a:uFillTx/>
                <a:latin typeface="Aptos"/>
              </a:rPr>
              <a:t>Main comparison: best individual learner vs three ensembles on identical held-out participants</a:t>
            </a:r>
            <a:endParaRPr lang="en-US" sz="1700" b="0" u="none" strike="noStrike">
              <a:solidFill>
                <a:srgbClr val="FFFFFF"/>
              </a:solidFill>
              <a:effectLst/>
              <a:uFillTx/>
              <a:latin typeface="Arial"/>
            </a:endParaRPr>
          </a:p>
        </p:txBody>
      </p:sp>
      <p:sp>
        <p:nvSpPr>
          <p:cNvPr id="614" name="TextBox 26"/>
          <p:cNvSpPr/>
          <p:nvPr/>
        </p:nvSpPr>
        <p:spPr>
          <a:xfrm>
            <a:off x="11384280" y="6537960"/>
            <a:ext cx="319680" cy="200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r" defTabSz="914400">
              <a:lnSpc>
                <a:spcPct val="100000"/>
              </a:lnSpc>
            </a:pPr>
            <a:r>
              <a:rPr sz="850">
                <a:solidFill>
                  <a:srgbClr val="607488"/>
                </a:solidFill>
                <a:latin typeface="Aptos"/>
              </a:rPr>
              <a:t>36</a:t>
            </a:r>
            <a:endParaRPr lang="en-US" sz="90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 name="Text 0"/>
          <p:cNvSpPr/>
          <p:nvPr/>
        </p:nvSpPr>
        <p:spPr>
          <a:xfrm>
            <a:off x="567000" y="384120"/>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11">
                <a:solidFill>
                  <a:srgbClr val="0F8B8D"/>
                </a:solidFill>
                <a:effectLst/>
                <a:uFillTx/>
                <a:latin typeface="Aptos"/>
              </a:rPr>
              <a:t>METRICS</a:t>
            </a:r>
            <a:endParaRPr lang="en-US" sz="1000" b="0" u="none" strike="noStrike">
              <a:solidFill>
                <a:srgbClr val="000000"/>
              </a:solidFill>
              <a:effectLst/>
              <a:uFillTx/>
              <a:latin typeface="Arial"/>
            </a:endParaRPr>
          </a:p>
        </p:txBody>
      </p:sp>
      <p:sp>
        <p:nvSpPr>
          <p:cNvPr id="616"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Evaluation framework</a:t>
            </a:r>
            <a:endParaRPr lang="en-US" sz="2800" b="0" u="none" strike="noStrike">
              <a:solidFill>
                <a:srgbClr val="000000"/>
              </a:solidFill>
              <a:effectLst/>
              <a:uFillTx/>
              <a:latin typeface="Arial"/>
            </a:endParaRPr>
          </a:p>
        </p:txBody>
      </p:sp>
      <p:sp>
        <p:nvSpPr>
          <p:cNvPr id="617" name="Shape 2"/>
          <p:cNvSpPr/>
          <p:nvPr/>
        </p:nvSpPr>
        <p:spPr>
          <a:xfrm>
            <a:off x="685800" y="1325880"/>
            <a:ext cx="10789560" cy="475200"/>
          </a:xfrm>
          <a:prstGeom prst="rect">
            <a:avLst/>
          </a:prstGeom>
          <a:solidFill>
            <a:srgbClr val="0B3558"/>
          </a:solidFill>
          <a:ln w="12700">
            <a:solidFill>
              <a:srgbClr val="0B355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618" name="Text 3"/>
          <p:cNvSpPr/>
          <p:nvPr/>
        </p:nvSpPr>
        <p:spPr>
          <a:xfrm>
            <a:off x="868680" y="1481400"/>
            <a:ext cx="18284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FFFFFF"/>
                </a:solidFill>
                <a:effectLst/>
                <a:uFillTx/>
                <a:latin typeface="Aptos"/>
              </a:rPr>
              <a:t>TASK</a:t>
            </a:r>
            <a:endParaRPr lang="en-US" sz="1200" b="0" u="none" strike="noStrike">
              <a:solidFill>
                <a:srgbClr val="000000"/>
              </a:solidFill>
              <a:effectLst/>
              <a:uFillTx/>
              <a:latin typeface="Arial"/>
            </a:endParaRPr>
          </a:p>
        </p:txBody>
      </p:sp>
      <p:sp>
        <p:nvSpPr>
          <p:cNvPr id="619" name="Text 4"/>
          <p:cNvSpPr/>
          <p:nvPr/>
        </p:nvSpPr>
        <p:spPr>
          <a:xfrm>
            <a:off x="2971800" y="1481400"/>
            <a:ext cx="41144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FFFFFF"/>
                </a:solidFill>
                <a:effectLst/>
                <a:uFillTx/>
                <a:latin typeface="Aptos"/>
              </a:rPr>
              <a:t>PRIMARY METRICS</a:t>
            </a:r>
            <a:endParaRPr lang="en-US" sz="1200" b="0" u="none" strike="noStrike">
              <a:solidFill>
                <a:srgbClr val="000000"/>
              </a:solidFill>
              <a:effectLst/>
              <a:uFillTx/>
              <a:latin typeface="Arial"/>
            </a:endParaRPr>
          </a:p>
        </p:txBody>
      </p:sp>
      <p:sp>
        <p:nvSpPr>
          <p:cNvPr id="620" name="Text 5"/>
          <p:cNvSpPr/>
          <p:nvPr/>
        </p:nvSpPr>
        <p:spPr>
          <a:xfrm>
            <a:off x="7498080" y="1481400"/>
            <a:ext cx="3474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FFFFFF"/>
                </a:solidFill>
                <a:effectLst/>
                <a:uFillTx/>
                <a:latin typeface="Aptos"/>
              </a:rPr>
              <a:t>SECONDARY ANALYSES</a:t>
            </a:r>
            <a:endParaRPr lang="en-US" sz="1200" b="0" u="none" strike="noStrike">
              <a:solidFill>
                <a:srgbClr val="000000"/>
              </a:solidFill>
              <a:effectLst/>
              <a:uFillTx/>
              <a:latin typeface="Arial"/>
            </a:endParaRPr>
          </a:p>
        </p:txBody>
      </p:sp>
      <p:sp>
        <p:nvSpPr>
          <p:cNvPr id="621" name="Shape 6"/>
          <p:cNvSpPr/>
          <p:nvPr/>
        </p:nvSpPr>
        <p:spPr>
          <a:xfrm>
            <a:off x="685800" y="1874520"/>
            <a:ext cx="10789560" cy="621360"/>
          </a:xfrm>
          <a:prstGeom prst="rect">
            <a:avLst/>
          </a:prstGeom>
          <a:solidFill>
            <a:srgbClr val="FFFFFF"/>
          </a:solidFill>
          <a:ln w="7620">
            <a:solidFill>
              <a:srgbClr val="D9E2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622" name="Text 7"/>
          <p:cNvSpPr/>
          <p:nvPr/>
        </p:nvSpPr>
        <p:spPr>
          <a:xfrm>
            <a:off x="868680" y="2057400"/>
            <a:ext cx="1828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0F8B8D"/>
                </a:solidFill>
                <a:effectLst/>
                <a:uFillTx/>
                <a:latin typeface="Aptos"/>
              </a:rPr>
              <a:t>CN/MCI/AD</a:t>
            </a:r>
            <a:endParaRPr lang="en-US" sz="1300" b="0" u="none" strike="noStrike">
              <a:solidFill>
                <a:srgbClr val="000000"/>
              </a:solidFill>
              <a:effectLst/>
              <a:uFillTx/>
              <a:latin typeface="Arial"/>
            </a:endParaRPr>
          </a:p>
        </p:txBody>
      </p:sp>
      <p:sp>
        <p:nvSpPr>
          <p:cNvPr id="623" name="Text 8"/>
          <p:cNvSpPr/>
          <p:nvPr/>
        </p:nvSpPr>
        <p:spPr>
          <a:xfrm>
            <a:off x="2971800" y="1993320"/>
            <a:ext cx="4114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203040"/>
                </a:solidFill>
                <a:effectLst/>
                <a:uFillTx/>
                <a:latin typeface="Aptos"/>
              </a:rPr>
              <a:t>Macro-F1; class sensitivity; one-vs-rest AUROC</a:t>
            </a:r>
            <a:endParaRPr lang="en-US" sz="1250" b="0" u="none" strike="noStrike">
              <a:solidFill>
                <a:srgbClr val="000000"/>
              </a:solidFill>
              <a:effectLst/>
              <a:uFillTx/>
              <a:latin typeface="Arial"/>
            </a:endParaRPr>
          </a:p>
        </p:txBody>
      </p:sp>
      <p:sp>
        <p:nvSpPr>
          <p:cNvPr id="624" name="Text 9"/>
          <p:cNvSpPr/>
          <p:nvPr/>
        </p:nvSpPr>
        <p:spPr>
          <a:xfrm>
            <a:off x="7498080" y="1993320"/>
            <a:ext cx="3474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203040"/>
                </a:solidFill>
                <a:effectLst/>
                <a:uFillTx/>
                <a:latin typeface="Aptos"/>
              </a:rPr>
              <a:t>Confusion matrix; calibration</a:t>
            </a:r>
            <a:endParaRPr lang="en-US" sz="1250" b="0" u="none" strike="noStrike">
              <a:solidFill>
                <a:srgbClr val="000000"/>
              </a:solidFill>
              <a:effectLst/>
              <a:uFillTx/>
              <a:latin typeface="Arial"/>
            </a:endParaRPr>
          </a:p>
        </p:txBody>
      </p:sp>
      <p:sp>
        <p:nvSpPr>
          <p:cNvPr id="625" name="Shape 10"/>
          <p:cNvSpPr/>
          <p:nvPr/>
        </p:nvSpPr>
        <p:spPr>
          <a:xfrm>
            <a:off x="685800" y="2587680"/>
            <a:ext cx="10789560" cy="621360"/>
          </a:xfrm>
          <a:prstGeom prst="rect">
            <a:avLst/>
          </a:prstGeom>
          <a:solidFill>
            <a:srgbClr val="F2F6F9"/>
          </a:solidFill>
          <a:ln w="7620">
            <a:solidFill>
              <a:srgbClr val="D9E2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626" name="Text 11"/>
          <p:cNvSpPr/>
          <p:nvPr/>
        </p:nvSpPr>
        <p:spPr>
          <a:xfrm>
            <a:off x="868680" y="2770560"/>
            <a:ext cx="1828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0F8B8D"/>
                </a:solidFill>
                <a:effectLst/>
                <a:uFillTx/>
                <a:latin typeface="Aptos"/>
              </a:rPr>
              <a:t>MCI→AD</a:t>
            </a:r>
            <a:endParaRPr lang="en-US" sz="1300" b="0" u="none" strike="noStrike">
              <a:solidFill>
                <a:srgbClr val="000000"/>
              </a:solidFill>
              <a:effectLst/>
              <a:uFillTx/>
              <a:latin typeface="Arial"/>
            </a:endParaRPr>
          </a:p>
        </p:txBody>
      </p:sp>
      <p:sp>
        <p:nvSpPr>
          <p:cNvPr id="627" name="Text 12"/>
          <p:cNvSpPr/>
          <p:nvPr/>
        </p:nvSpPr>
        <p:spPr>
          <a:xfrm>
            <a:off x="2971800" y="2706480"/>
            <a:ext cx="4114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203040"/>
                </a:solidFill>
                <a:effectLst/>
                <a:uFillTx/>
                <a:latin typeface="Aptos"/>
              </a:rPr>
              <a:t>AUROC; AUPRC; sensitivity; specificity</a:t>
            </a:r>
            <a:endParaRPr lang="en-US" sz="1250" b="0" u="none" strike="noStrike">
              <a:solidFill>
                <a:srgbClr val="000000"/>
              </a:solidFill>
              <a:effectLst/>
              <a:uFillTx/>
              <a:latin typeface="Arial"/>
            </a:endParaRPr>
          </a:p>
        </p:txBody>
      </p:sp>
      <p:sp>
        <p:nvSpPr>
          <p:cNvPr id="628" name="Text 13"/>
          <p:cNvSpPr/>
          <p:nvPr/>
        </p:nvSpPr>
        <p:spPr>
          <a:xfrm>
            <a:off x="7498080" y="2706480"/>
            <a:ext cx="3474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203040"/>
                </a:solidFill>
                <a:effectLst/>
                <a:uFillTx/>
                <a:latin typeface="Aptos"/>
              </a:rPr>
              <a:t>Brier score; calibration; PPV/NPV</a:t>
            </a:r>
            <a:endParaRPr lang="en-US" sz="1250" b="0" u="none" strike="noStrike">
              <a:solidFill>
                <a:srgbClr val="000000"/>
              </a:solidFill>
              <a:effectLst/>
              <a:uFillTx/>
              <a:latin typeface="Arial"/>
            </a:endParaRPr>
          </a:p>
        </p:txBody>
      </p:sp>
      <p:sp>
        <p:nvSpPr>
          <p:cNvPr id="629" name="Shape 14"/>
          <p:cNvSpPr/>
          <p:nvPr/>
        </p:nvSpPr>
        <p:spPr>
          <a:xfrm>
            <a:off x="685800" y="3300840"/>
            <a:ext cx="10789560" cy="621360"/>
          </a:xfrm>
          <a:prstGeom prst="rect">
            <a:avLst/>
          </a:prstGeom>
          <a:solidFill>
            <a:srgbClr val="FFFFFF"/>
          </a:solidFill>
          <a:ln w="7620">
            <a:solidFill>
              <a:srgbClr val="D9E2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630" name="Text 15"/>
          <p:cNvSpPr/>
          <p:nvPr/>
        </p:nvSpPr>
        <p:spPr>
          <a:xfrm>
            <a:off x="868680" y="3483720"/>
            <a:ext cx="1828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0F8B8D"/>
                </a:solidFill>
                <a:effectLst/>
                <a:uFillTx/>
                <a:latin typeface="Aptos"/>
              </a:rPr>
              <a:t>Fusion</a:t>
            </a:r>
            <a:endParaRPr lang="en-US" sz="1300" b="0" u="none" strike="noStrike">
              <a:solidFill>
                <a:srgbClr val="000000"/>
              </a:solidFill>
              <a:effectLst/>
              <a:uFillTx/>
              <a:latin typeface="Arial"/>
            </a:endParaRPr>
          </a:p>
        </p:txBody>
      </p:sp>
      <p:sp>
        <p:nvSpPr>
          <p:cNvPr id="631" name="Text 16"/>
          <p:cNvSpPr/>
          <p:nvPr/>
        </p:nvSpPr>
        <p:spPr>
          <a:xfrm>
            <a:off x="2971800" y="3420000"/>
            <a:ext cx="4114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203040"/>
                </a:solidFill>
                <a:effectLst/>
                <a:uFillTx/>
                <a:latin typeface="Aptos"/>
              </a:rPr>
              <a:t>Δ performance vs best single modality</a:t>
            </a:r>
            <a:endParaRPr lang="en-US" sz="1250" b="0" u="none" strike="noStrike">
              <a:solidFill>
                <a:srgbClr val="000000"/>
              </a:solidFill>
              <a:effectLst/>
              <a:uFillTx/>
              <a:latin typeface="Arial"/>
            </a:endParaRPr>
          </a:p>
        </p:txBody>
      </p:sp>
      <p:sp>
        <p:nvSpPr>
          <p:cNvPr id="632" name="Text 17"/>
          <p:cNvSpPr/>
          <p:nvPr/>
        </p:nvSpPr>
        <p:spPr>
          <a:xfrm>
            <a:off x="7498080" y="3420000"/>
            <a:ext cx="3474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203040"/>
                </a:solidFill>
                <a:effectLst/>
                <a:uFillTx/>
                <a:latin typeface="Aptos"/>
              </a:rPr>
              <a:t>Paired bootstrap confidence intervals</a:t>
            </a:r>
            <a:endParaRPr lang="en-US" sz="1250" b="0" u="none" strike="noStrike">
              <a:solidFill>
                <a:srgbClr val="000000"/>
              </a:solidFill>
              <a:effectLst/>
              <a:uFillTx/>
              <a:latin typeface="Arial"/>
            </a:endParaRPr>
          </a:p>
        </p:txBody>
      </p:sp>
      <p:sp>
        <p:nvSpPr>
          <p:cNvPr id="633" name="Shape 18"/>
          <p:cNvSpPr/>
          <p:nvPr/>
        </p:nvSpPr>
        <p:spPr>
          <a:xfrm>
            <a:off x="685800" y="4014360"/>
            <a:ext cx="10789560" cy="621360"/>
          </a:xfrm>
          <a:prstGeom prst="rect">
            <a:avLst/>
          </a:prstGeom>
          <a:solidFill>
            <a:srgbClr val="F2F6F9"/>
          </a:solidFill>
          <a:ln w="7620">
            <a:solidFill>
              <a:srgbClr val="D9E2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634" name="Text 19"/>
          <p:cNvSpPr/>
          <p:nvPr/>
        </p:nvSpPr>
        <p:spPr>
          <a:xfrm>
            <a:off x="868680" y="4197240"/>
            <a:ext cx="1828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0F8B8D"/>
                </a:solidFill>
                <a:effectLst/>
                <a:uFillTx/>
                <a:latin typeface="Aptos"/>
              </a:rPr>
              <a:t>Robustness</a:t>
            </a:r>
            <a:endParaRPr lang="en-US" sz="1300" b="0" u="none" strike="noStrike">
              <a:solidFill>
                <a:srgbClr val="000000"/>
              </a:solidFill>
              <a:effectLst/>
              <a:uFillTx/>
              <a:latin typeface="Arial"/>
            </a:endParaRPr>
          </a:p>
        </p:txBody>
      </p:sp>
      <p:sp>
        <p:nvSpPr>
          <p:cNvPr id="635" name="Text 20"/>
          <p:cNvSpPr/>
          <p:nvPr/>
        </p:nvSpPr>
        <p:spPr>
          <a:xfrm>
            <a:off x="2971800" y="4133160"/>
            <a:ext cx="4114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203040"/>
                </a:solidFill>
                <a:effectLst/>
                <a:uFillTx/>
                <a:latin typeface="Aptos"/>
              </a:rPr>
              <a:t>Performance under missing modalities</a:t>
            </a:r>
            <a:endParaRPr lang="en-US" sz="1250" b="0" u="none" strike="noStrike">
              <a:solidFill>
                <a:srgbClr val="000000"/>
              </a:solidFill>
              <a:effectLst/>
              <a:uFillTx/>
              <a:latin typeface="Arial"/>
            </a:endParaRPr>
          </a:p>
        </p:txBody>
      </p:sp>
      <p:sp>
        <p:nvSpPr>
          <p:cNvPr id="636" name="Text 21"/>
          <p:cNvSpPr/>
          <p:nvPr/>
        </p:nvSpPr>
        <p:spPr>
          <a:xfrm>
            <a:off x="7498080" y="4133160"/>
            <a:ext cx="3474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203040"/>
                </a:solidFill>
                <a:effectLst/>
                <a:uFillTx/>
                <a:latin typeface="Aptos"/>
              </a:rPr>
              <a:t>Degradation curves</a:t>
            </a:r>
            <a:endParaRPr lang="en-US" sz="1250" b="0" u="none" strike="noStrike">
              <a:solidFill>
                <a:srgbClr val="000000"/>
              </a:solidFill>
              <a:effectLst/>
              <a:uFillTx/>
              <a:latin typeface="Arial"/>
            </a:endParaRPr>
          </a:p>
        </p:txBody>
      </p:sp>
      <p:sp>
        <p:nvSpPr>
          <p:cNvPr id="637" name="Shape 22"/>
          <p:cNvSpPr/>
          <p:nvPr/>
        </p:nvSpPr>
        <p:spPr>
          <a:xfrm>
            <a:off x="685800" y="4727520"/>
            <a:ext cx="10789560" cy="621360"/>
          </a:xfrm>
          <a:prstGeom prst="rect">
            <a:avLst/>
          </a:prstGeom>
          <a:solidFill>
            <a:srgbClr val="FFFFFF"/>
          </a:solidFill>
          <a:ln w="7620">
            <a:solidFill>
              <a:srgbClr val="D9E2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638" name="Text 23"/>
          <p:cNvSpPr/>
          <p:nvPr/>
        </p:nvSpPr>
        <p:spPr>
          <a:xfrm>
            <a:off x="868680" y="4910400"/>
            <a:ext cx="1828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0F8B8D"/>
                </a:solidFill>
                <a:effectLst/>
                <a:uFillTx/>
                <a:latin typeface="Aptos"/>
              </a:rPr>
              <a:t>Subgroups</a:t>
            </a:r>
            <a:endParaRPr lang="en-US" sz="1300" b="0" u="none" strike="noStrike">
              <a:solidFill>
                <a:srgbClr val="000000"/>
              </a:solidFill>
              <a:effectLst/>
              <a:uFillTx/>
              <a:latin typeface="Arial"/>
            </a:endParaRPr>
          </a:p>
        </p:txBody>
      </p:sp>
      <p:sp>
        <p:nvSpPr>
          <p:cNvPr id="639" name="Text 24"/>
          <p:cNvSpPr/>
          <p:nvPr/>
        </p:nvSpPr>
        <p:spPr>
          <a:xfrm>
            <a:off x="2971800" y="4846320"/>
            <a:ext cx="4114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203040"/>
                </a:solidFill>
                <a:effectLst/>
                <a:uFillTx/>
                <a:latin typeface="Aptos"/>
              </a:rPr>
              <a:t>Metrics by prespecified strata</a:t>
            </a:r>
            <a:endParaRPr lang="en-US" sz="1250" b="0" u="none" strike="noStrike">
              <a:solidFill>
                <a:srgbClr val="000000"/>
              </a:solidFill>
              <a:effectLst/>
              <a:uFillTx/>
              <a:latin typeface="Arial"/>
            </a:endParaRPr>
          </a:p>
        </p:txBody>
      </p:sp>
      <p:sp>
        <p:nvSpPr>
          <p:cNvPr id="640" name="Text 25"/>
          <p:cNvSpPr/>
          <p:nvPr/>
        </p:nvSpPr>
        <p:spPr>
          <a:xfrm>
            <a:off x="7498080" y="4846320"/>
            <a:ext cx="3474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203040"/>
                </a:solidFill>
                <a:effectLst/>
                <a:uFillTx/>
                <a:latin typeface="Aptos"/>
              </a:rPr>
              <a:t>Uncertainty + sample-size reporting</a:t>
            </a:r>
            <a:endParaRPr lang="en-US" sz="1250" b="0" u="none" strike="noStrike">
              <a:solidFill>
                <a:srgbClr val="000000"/>
              </a:solidFill>
              <a:effectLst/>
              <a:uFillTx/>
              <a:latin typeface="Arial"/>
            </a:endParaRPr>
          </a:p>
        </p:txBody>
      </p:sp>
      <p:sp>
        <p:nvSpPr>
          <p:cNvPr id="641" name="Text 26"/>
          <p:cNvSpPr/>
          <p:nvPr/>
        </p:nvSpPr>
        <p:spPr>
          <a:xfrm>
            <a:off x="914400" y="5806440"/>
            <a:ext cx="103323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C65353"/>
                </a:solidFill>
                <a:effectLst/>
                <a:uFillTx/>
                <a:latin typeface="Aptos"/>
              </a:rPr>
              <a:t>Accuracy alone is insufficient. Principal results should include confidence intervals.</a:t>
            </a:r>
            <a:endParaRPr lang="en-US" sz="1500" b="0" u="none" strike="noStrike">
              <a:solidFill>
                <a:srgbClr val="000000"/>
              </a:solidFill>
              <a:effectLst/>
              <a:uFillTx/>
              <a:latin typeface="Arial"/>
            </a:endParaRPr>
          </a:p>
        </p:txBody>
      </p:sp>
      <p:sp>
        <p:nvSpPr>
          <p:cNvPr id="642" name="PlaceHolder 1"/>
          <p:cNvSpPr>
            <a:spLocks noGrp="1"/>
          </p:cNvSpPr>
          <p:nvPr>
            <p:ph type="sldNum" idx="26"/>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37</a:t>
            </a:r>
            <a:endParaRPr lang="en-US" sz="800" b="0" u="none" strike="noStrike">
              <a:solidFill>
                <a:srgbClr val="000000"/>
              </a:solidFill>
              <a:effectLst/>
              <a:uFillTx/>
              <a:latin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Text 0"/>
          <p:cNvSpPr/>
          <p:nvPr/>
        </p:nvSpPr>
        <p:spPr>
          <a:xfrm>
            <a:off x="567000" y="384120"/>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11">
                <a:solidFill>
                  <a:srgbClr val="0F8B8D"/>
                </a:solidFill>
                <a:effectLst/>
                <a:uFillTx/>
                <a:latin typeface="Aptos"/>
              </a:rPr>
              <a:t>DEFINITION OF DONE</a:t>
            </a:r>
            <a:endParaRPr lang="en-US" sz="1000" b="0" u="none" strike="noStrike">
              <a:solidFill>
                <a:srgbClr val="000000"/>
              </a:solidFill>
              <a:effectLst/>
              <a:uFillTx/>
              <a:latin typeface="Arial"/>
            </a:endParaRPr>
          </a:p>
        </p:txBody>
      </p:sp>
      <p:sp>
        <p:nvSpPr>
          <p:cNvPr id="683"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Deliverables and thesis outputs</a:t>
            </a:r>
            <a:endParaRPr lang="en-US" sz="2800" b="0" u="none" strike="noStrike">
              <a:solidFill>
                <a:srgbClr val="000000"/>
              </a:solidFill>
              <a:effectLst/>
              <a:uFillTx/>
              <a:latin typeface="Arial"/>
            </a:endParaRPr>
          </a:p>
        </p:txBody>
      </p:sp>
      <p:sp>
        <p:nvSpPr>
          <p:cNvPr id="684" name="Shape 2"/>
          <p:cNvSpPr/>
          <p:nvPr/>
        </p:nvSpPr>
        <p:spPr>
          <a:xfrm>
            <a:off x="594360" y="1234440"/>
            <a:ext cx="5394600" cy="914040"/>
          </a:xfrm>
          <a:prstGeom prst="roundRect">
            <a:avLst>
              <a:gd name="adj" fmla="val 6000"/>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685" name="Shape 3"/>
          <p:cNvSpPr/>
          <p:nvPr/>
        </p:nvSpPr>
        <p:spPr>
          <a:xfrm>
            <a:off x="594360" y="1234440"/>
            <a:ext cx="72720" cy="91404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686" name="Text 4"/>
          <p:cNvSpPr/>
          <p:nvPr/>
        </p:nvSpPr>
        <p:spPr>
          <a:xfrm>
            <a:off x="777240" y="138060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F8B8D"/>
                </a:solidFill>
                <a:effectLst/>
                <a:uFillTx/>
                <a:latin typeface="Aptos"/>
              </a:rPr>
              <a:t>D1 — Data &amp; cohort specification</a:t>
            </a:r>
            <a:endParaRPr lang="en-US" sz="1500" b="0" u="none" strike="noStrike">
              <a:solidFill>
                <a:srgbClr val="000000"/>
              </a:solidFill>
              <a:effectLst/>
              <a:uFillTx/>
              <a:latin typeface="Arial"/>
            </a:endParaRPr>
          </a:p>
        </p:txBody>
      </p:sp>
      <p:sp>
        <p:nvSpPr>
          <p:cNvPr id="687" name="Text 5"/>
          <p:cNvSpPr/>
          <p:nvPr/>
        </p:nvSpPr>
        <p:spPr>
          <a:xfrm>
            <a:off x="777240" y="1764720"/>
            <a:ext cx="5047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variables, rules, labels, horizons, provenance</a:t>
            </a:r>
            <a:endParaRPr lang="en-US" sz="1250" b="0" u="none" strike="noStrike">
              <a:solidFill>
                <a:srgbClr val="000000"/>
              </a:solidFill>
              <a:effectLst/>
              <a:uFillTx/>
              <a:latin typeface="Arial"/>
            </a:endParaRPr>
          </a:p>
        </p:txBody>
      </p:sp>
      <p:sp>
        <p:nvSpPr>
          <p:cNvPr id="688" name="Shape 6"/>
          <p:cNvSpPr/>
          <p:nvPr/>
        </p:nvSpPr>
        <p:spPr>
          <a:xfrm>
            <a:off x="6309360" y="1234440"/>
            <a:ext cx="5394600" cy="914040"/>
          </a:xfrm>
          <a:prstGeom prst="roundRect">
            <a:avLst>
              <a:gd name="adj" fmla="val 6000"/>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689" name="Shape 7"/>
          <p:cNvSpPr/>
          <p:nvPr/>
        </p:nvSpPr>
        <p:spPr>
          <a:xfrm>
            <a:off x="6309360" y="1234440"/>
            <a:ext cx="72720" cy="91404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690" name="Text 8"/>
          <p:cNvSpPr/>
          <p:nvPr/>
        </p:nvSpPr>
        <p:spPr>
          <a:xfrm>
            <a:off x="6492240" y="138060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7357B4"/>
                </a:solidFill>
                <a:effectLst/>
                <a:uFillTx/>
                <a:latin typeface="Aptos"/>
              </a:rPr>
              <a:t>D2 — Reproducible Python pipeline</a:t>
            </a:r>
            <a:endParaRPr lang="en-US" sz="1500" b="0" u="none" strike="noStrike">
              <a:solidFill>
                <a:srgbClr val="000000"/>
              </a:solidFill>
              <a:effectLst/>
              <a:uFillTx/>
              <a:latin typeface="Arial"/>
            </a:endParaRPr>
          </a:p>
        </p:txBody>
      </p:sp>
      <p:sp>
        <p:nvSpPr>
          <p:cNvPr id="691" name="Text 9"/>
          <p:cNvSpPr/>
          <p:nvPr/>
        </p:nvSpPr>
        <p:spPr>
          <a:xfrm>
            <a:off x="6492240" y="1764720"/>
            <a:ext cx="5047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import, harmonization, QC, features, splits</a:t>
            </a:r>
            <a:endParaRPr lang="en-US" sz="1250" b="0" u="none" strike="noStrike">
              <a:solidFill>
                <a:srgbClr val="000000"/>
              </a:solidFill>
              <a:effectLst/>
              <a:uFillTx/>
              <a:latin typeface="Arial"/>
            </a:endParaRPr>
          </a:p>
        </p:txBody>
      </p:sp>
      <p:sp>
        <p:nvSpPr>
          <p:cNvPr id="692" name="Shape 10"/>
          <p:cNvSpPr/>
          <p:nvPr/>
        </p:nvSpPr>
        <p:spPr>
          <a:xfrm>
            <a:off x="594360" y="2377440"/>
            <a:ext cx="5394600" cy="914040"/>
          </a:xfrm>
          <a:prstGeom prst="roundRect">
            <a:avLst>
              <a:gd name="adj" fmla="val 6000"/>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693" name="Shape 11"/>
          <p:cNvSpPr/>
          <p:nvPr/>
        </p:nvSpPr>
        <p:spPr>
          <a:xfrm>
            <a:off x="594360" y="2377440"/>
            <a:ext cx="72720" cy="91404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694" name="Text 12"/>
          <p:cNvSpPr/>
          <p:nvPr/>
        </p:nvSpPr>
        <p:spPr>
          <a:xfrm>
            <a:off x="777240" y="252360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F8B8D"/>
                </a:solidFill>
                <a:effectLst/>
                <a:uFillTx/>
                <a:latin typeface="Aptos"/>
              </a:rPr>
              <a:t>D3 — Baseline benchmark</a:t>
            </a:r>
            <a:endParaRPr lang="en-US" sz="1500" b="0" u="none" strike="noStrike">
              <a:solidFill>
                <a:srgbClr val="000000"/>
              </a:solidFill>
              <a:effectLst/>
              <a:uFillTx/>
              <a:latin typeface="Arial"/>
            </a:endParaRPr>
          </a:p>
        </p:txBody>
      </p:sp>
      <p:sp>
        <p:nvSpPr>
          <p:cNvPr id="695" name="Text 13"/>
          <p:cNvSpPr/>
          <p:nvPr/>
        </p:nvSpPr>
        <p:spPr>
          <a:xfrm>
            <a:off x="777240" y="2907720"/>
            <a:ext cx="5047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classical ML + single-modality results</a:t>
            </a:r>
            <a:endParaRPr lang="en-US" sz="1250" b="0" u="none" strike="noStrike">
              <a:solidFill>
                <a:srgbClr val="000000"/>
              </a:solidFill>
              <a:effectLst/>
              <a:uFillTx/>
              <a:latin typeface="Arial"/>
            </a:endParaRPr>
          </a:p>
        </p:txBody>
      </p:sp>
      <p:sp>
        <p:nvSpPr>
          <p:cNvPr id="696" name="Shape 14"/>
          <p:cNvSpPr/>
          <p:nvPr/>
        </p:nvSpPr>
        <p:spPr>
          <a:xfrm>
            <a:off x="6309360" y="2377440"/>
            <a:ext cx="5394600" cy="914040"/>
          </a:xfrm>
          <a:prstGeom prst="roundRect">
            <a:avLst>
              <a:gd name="adj" fmla="val 6000"/>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697" name="Shape 15"/>
          <p:cNvSpPr/>
          <p:nvPr/>
        </p:nvSpPr>
        <p:spPr>
          <a:xfrm>
            <a:off x="6309360" y="2377440"/>
            <a:ext cx="72720" cy="91404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698" name="Text 16"/>
          <p:cNvSpPr/>
          <p:nvPr/>
        </p:nvSpPr>
        <p:spPr>
          <a:xfrm>
            <a:off x="6492240" y="252360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7357B4"/>
                </a:solidFill>
                <a:effectLst/>
                <a:uFillTx/>
                <a:latin typeface="Aptos"/>
              </a:rPr>
              <a:t>D4 — Multimodal models</a:t>
            </a:r>
            <a:endParaRPr lang="en-US" sz="1500" b="0" u="none" strike="noStrike">
              <a:solidFill>
                <a:srgbClr val="000000"/>
              </a:solidFill>
              <a:effectLst/>
              <a:uFillTx/>
              <a:latin typeface="Arial"/>
            </a:endParaRPr>
          </a:p>
        </p:txBody>
      </p:sp>
      <p:sp>
        <p:nvSpPr>
          <p:cNvPr id="699" name="Text 17"/>
          <p:cNvSpPr/>
          <p:nvPr/>
        </p:nvSpPr>
        <p:spPr>
          <a:xfrm>
            <a:off x="6492240" y="2907720"/>
            <a:ext cx="5047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early, late and hybrid fusion</a:t>
            </a:r>
            <a:endParaRPr lang="en-US" sz="1250" b="0" u="none" strike="noStrike">
              <a:solidFill>
                <a:srgbClr val="000000"/>
              </a:solidFill>
              <a:effectLst/>
              <a:uFillTx/>
              <a:latin typeface="Arial"/>
            </a:endParaRPr>
          </a:p>
        </p:txBody>
      </p:sp>
      <p:sp>
        <p:nvSpPr>
          <p:cNvPr id="700" name="Shape 18"/>
          <p:cNvSpPr/>
          <p:nvPr/>
        </p:nvSpPr>
        <p:spPr>
          <a:xfrm>
            <a:off x="594360" y="3520440"/>
            <a:ext cx="5394600" cy="914040"/>
          </a:xfrm>
          <a:prstGeom prst="roundRect">
            <a:avLst>
              <a:gd name="adj" fmla="val 6000"/>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701" name="Shape 19"/>
          <p:cNvSpPr/>
          <p:nvPr/>
        </p:nvSpPr>
        <p:spPr>
          <a:xfrm>
            <a:off x="594360" y="3520440"/>
            <a:ext cx="72720" cy="91404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702" name="Text 20"/>
          <p:cNvSpPr/>
          <p:nvPr/>
        </p:nvSpPr>
        <p:spPr>
          <a:xfrm>
            <a:off x="777240" y="366660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F8B8D"/>
                </a:solidFill>
                <a:effectLst/>
                <a:uFillTx/>
                <a:latin typeface="Aptos"/>
              </a:rPr>
              <a:t>D5 — Longitudinal predictor</a:t>
            </a:r>
            <a:endParaRPr lang="en-US" sz="1500" b="0" u="none" strike="noStrike">
              <a:solidFill>
                <a:srgbClr val="000000"/>
              </a:solidFill>
              <a:effectLst/>
              <a:uFillTx/>
              <a:latin typeface="Arial"/>
            </a:endParaRPr>
          </a:p>
        </p:txBody>
      </p:sp>
      <p:sp>
        <p:nvSpPr>
          <p:cNvPr id="703" name="Text 21"/>
          <p:cNvSpPr/>
          <p:nvPr/>
        </p:nvSpPr>
        <p:spPr>
          <a:xfrm>
            <a:off x="777240" y="4050720"/>
            <a:ext cx="5047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MCI→AD models at defensible horizons</a:t>
            </a:r>
            <a:endParaRPr lang="en-US" sz="1250" b="0" u="none" strike="noStrike">
              <a:solidFill>
                <a:srgbClr val="000000"/>
              </a:solidFill>
              <a:effectLst/>
              <a:uFillTx/>
              <a:latin typeface="Arial"/>
            </a:endParaRPr>
          </a:p>
        </p:txBody>
      </p:sp>
      <p:sp>
        <p:nvSpPr>
          <p:cNvPr id="704" name="Shape 22"/>
          <p:cNvSpPr/>
          <p:nvPr/>
        </p:nvSpPr>
        <p:spPr>
          <a:xfrm>
            <a:off x="6309360" y="3520440"/>
            <a:ext cx="5394600" cy="914040"/>
          </a:xfrm>
          <a:prstGeom prst="roundRect">
            <a:avLst>
              <a:gd name="adj" fmla="val 6000"/>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705" name="Shape 23"/>
          <p:cNvSpPr/>
          <p:nvPr/>
        </p:nvSpPr>
        <p:spPr>
          <a:xfrm>
            <a:off x="6309360" y="3520440"/>
            <a:ext cx="72720" cy="91404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706" name="Text 24"/>
          <p:cNvSpPr/>
          <p:nvPr/>
        </p:nvSpPr>
        <p:spPr>
          <a:xfrm>
            <a:off x="6492240" y="366660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7357B4"/>
                </a:solidFill>
                <a:effectLst/>
                <a:uFillTx/>
                <a:latin typeface="Aptos"/>
              </a:rPr>
              <a:t>D6 — Trustworthiness suite</a:t>
            </a:r>
            <a:endParaRPr lang="en-US" sz="1500" b="0" u="none" strike="noStrike">
              <a:solidFill>
                <a:srgbClr val="000000"/>
              </a:solidFill>
              <a:effectLst/>
              <a:uFillTx/>
              <a:latin typeface="Arial"/>
            </a:endParaRPr>
          </a:p>
        </p:txBody>
      </p:sp>
      <p:sp>
        <p:nvSpPr>
          <p:cNvPr id="707" name="Text 25"/>
          <p:cNvSpPr/>
          <p:nvPr/>
        </p:nvSpPr>
        <p:spPr>
          <a:xfrm>
            <a:off x="6492240" y="4050720"/>
            <a:ext cx="5047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calibration, uncertainty, XAI, subgroup, robustness</a:t>
            </a:r>
            <a:endParaRPr lang="en-US" sz="1250" b="0" u="none" strike="noStrike">
              <a:solidFill>
                <a:srgbClr val="000000"/>
              </a:solidFill>
              <a:effectLst/>
              <a:uFillTx/>
              <a:latin typeface="Arial"/>
            </a:endParaRPr>
          </a:p>
        </p:txBody>
      </p:sp>
      <p:sp>
        <p:nvSpPr>
          <p:cNvPr id="708" name="Shape 26"/>
          <p:cNvSpPr/>
          <p:nvPr/>
        </p:nvSpPr>
        <p:spPr>
          <a:xfrm>
            <a:off x="594360" y="4663440"/>
            <a:ext cx="5394600" cy="914040"/>
          </a:xfrm>
          <a:prstGeom prst="roundRect">
            <a:avLst>
              <a:gd name="adj" fmla="val 6000"/>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709" name="Shape 27"/>
          <p:cNvSpPr/>
          <p:nvPr/>
        </p:nvSpPr>
        <p:spPr>
          <a:xfrm>
            <a:off x="594360" y="4663440"/>
            <a:ext cx="72720" cy="914040"/>
          </a:xfrm>
          <a:prstGeom prst="rect">
            <a:avLst/>
          </a:prstGeom>
          <a:solidFill>
            <a:srgbClr val="0F8B8D"/>
          </a:solidFill>
          <a:ln w="12700">
            <a:solidFill>
              <a:srgbClr val="0F8B8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710" name="Text 28"/>
          <p:cNvSpPr/>
          <p:nvPr/>
        </p:nvSpPr>
        <p:spPr>
          <a:xfrm>
            <a:off x="777240" y="480960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F8B8D"/>
                </a:solidFill>
                <a:effectLst/>
                <a:uFillTx/>
                <a:latin typeface="Aptos"/>
              </a:rPr>
              <a:t>D7 — Research dashboard</a:t>
            </a:r>
            <a:endParaRPr lang="en-US" sz="1500" b="0" u="none" strike="noStrike">
              <a:solidFill>
                <a:srgbClr val="000000"/>
              </a:solidFill>
              <a:effectLst/>
              <a:uFillTx/>
              <a:latin typeface="Arial"/>
            </a:endParaRPr>
          </a:p>
        </p:txBody>
      </p:sp>
      <p:sp>
        <p:nvSpPr>
          <p:cNvPr id="711" name="Text 29"/>
          <p:cNvSpPr/>
          <p:nvPr/>
        </p:nvSpPr>
        <p:spPr>
          <a:xfrm>
            <a:off x="777240" y="5193720"/>
            <a:ext cx="5047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interactive experiment + participant views</a:t>
            </a:r>
            <a:endParaRPr lang="en-US" sz="1250" b="0" u="none" strike="noStrike">
              <a:solidFill>
                <a:srgbClr val="000000"/>
              </a:solidFill>
              <a:effectLst/>
              <a:uFillTx/>
              <a:latin typeface="Arial"/>
            </a:endParaRPr>
          </a:p>
        </p:txBody>
      </p:sp>
      <p:sp>
        <p:nvSpPr>
          <p:cNvPr id="712" name="Shape 30"/>
          <p:cNvSpPr/>
          <p:nvPr/>
        </p:nvSpPr>
        <p:spPr>
          <a:xfrm>
            <a:off x="6309360" y="4663440"/>
            <a:ext cx="5394600" cy="914040"/>
          </a:xfrm>
          <a:prstGeom prst="roundRect">
            <a:avLst>
              <a:gd name="adj" fmla="val 6000"/>
            </a:avLst>
          </a:prstGeom>
          <a:solidFill>
            <a:srgbClr val="FFFFFF"/>
          </a:solidFill>
          <a:ln w="13970">
            <a:solidFill>
              <a:srgbClr val="D6E0E8"/>
            </a:solidFill>
            <a:round/>
          </a:ln>
          <a:effectLst>
            <a:outerShdw blurRad="12600" dist="50402" dir="2700000" algn="bl" rotWithShape="0">
              <a:srgbClr val="B6C3CE">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713" name="Shape 31"/>
          <p:cNvSpPr/>
          <p:nvPr/>
        </p:nvSpPr>
        <p:spPr>
          <a:xfrm>
            <a:off x="6309360" y="4663440"/>
            <a:ext cx="72720" cy="914040"/>
          </a:xfrm>
          <a:prstGeom prst="rect">
            <a:avLst/>
          </a:prstGeom>
          <a:solidFill>
            <a:srgbClr val="7357B4"/>
          </a:solidFill>
          <a:ln w="12700">
            <a:solidFill>
              <a:srgbClr val="7357B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Aptos"/>
            </a:endParaRPr>
          </a:p>
        </p:txBody>
      </p:sp>
      <p:sp>
        <p:nvSpPr>
          <p:cNvPr id="714" name="Text 32"/>
          <p:cNvSpPr/>
          <p:nvPr/>
        </p:nvSpPr>
        <p:spPr>
          <a:xfrm>
            <a:off x="6492240" y="4809600"/>
            <a:ext cx="5074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7357B4"/>
                </a:solidFill>
                <a:effectLst/>
                <a:uFillTx/>
                <a:latin typeface="Aptos"/>
              </a:rPr>
              <a:t>D8 — Master’s thesis + reproducibility package</a:t>
            </a:r>
            <a:endParaRPr lang="en-US" sz="1500" b="0" u="none" strike="noStrike">
              <a:solidFill>
                <a:srgbClr val="000000"/>
              </a:solidFill>
              <a:effectLst/>
              <a:uFillTx/>
              <a:latin typeface="Arial"/>
            </a:endParaRPr>
          </a:p>
        </p:txBody>
      </p:sp>
      <p:sp>
        <p:nvSpPr>
          <p:cNvPr id="715" name="Text 33"/>
          <p:cNvSpPr/>
          <p:nvPr/>
        </p:nvSpPr>
        <p:spPr>
          <a:xfrm>
            <a:off x="6492240" y="5193720"/>
            <a:ext cx="5047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50" b="0" u="none" strike="noStrike">
                <a:solidFill>
                  <a:srgbClr val="203040"/>
                </a:solidFill>
                <a:effectLst/>
                <a:uFillTx/>
                <a:latin typeface="Aptos"/>
              </a:rPr>
              <a:t>methods, experiments, results, limitations, reproducibility</a:t>
            </a:r>
            <a:endParaRPr lang="en-US" sz="1250" b="0" u="none" strike="noStrike">
              <a:solidFill>
                <a:srgbClr val="000000"/>
              </a:solidFill>
              <a:effectLst/>
              <a:uFillTx/>
              <a:latin typeface="Arial"/>
            </a:endParaRPr>
          </a:p>
        </p:txBody>
      </p:sp>
      <p:sp>
        <p:nvSpPr>
          <p:cNvPr id="716" name="PlaceHolder 1"/>
          <p:cNvSpPr>
            <a:spLocks noGrp="1"/>
          </p:cNvSpPr>
          <p:nvPr>
            <p:ph type="sldNum" idx="28"/>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39</a:t>
            </a:r>
            <a:endParaRPr lang="en-US" sz="800" b="0" u="none" strike="noStrike">
              <a:solidFill>
                <a:srgbClr val="000000"/>
              </a:solidFill>
              <a:effectLst/>
              <a:uFillTx/>
              <a:latin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 name="Text 0"/>
          <p:cNvSpPr/>
          <p:nvPr/>
        </p:nvSpPr>
        <p:spPr>
          <a:xfrm>
            <a:off x="567000" y="384120"/>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11">
                <a:solidFill>
                  <a:srgbClr val="0F8B8D"/>
                </a:solidFill>
                <a:effectLst/>
                <a:uFillTx/>
                <a:latin typeface="Aptos"/>
              </a:rPr>
              <a:t>WHAT A STRONG FINAL PROJECT DEMONSTRATES</a:t>
            </a:r>
            <a:endParaRPr lang="en-US" sz="1000" b="0" u="none" strike="noStrike">
              <a:solidFill>
                <a:srgbClr val="000000"/>
              </a:solidFill>
              <a:effectLst/>
              <a:uFillTx/>
              <a:latin typeface="Arial"/>
            </a:endParaRPr>
          </a:p>
        </p:txBody>
      </p:sp>
      <p:sp>
        <p:nvSpPr>
          <p:cNvPr id="718"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Success criteria</a:t>
            </a:r>
            <a:endParaRPr lang="en-US" sz="2800" b="0" u="none" strike="noStrike">
              <a:solidFill>
                <a:srgbClr val="000000"/>
              </a:solidFill>
              <a:effectLst/>
              <a:uFillTx/>
              <a:latin typeface="Arial"/>
            </a:endParaRPr>
          </a:p>
        </p:txBody>
      </p:sp>
      <p:sp>
        <p:nvSpPr>
          <p:cNvPr id="719" name="Text 2"/>
          <p:cNvSpPr/>
          <p:nvPr/>
        </p:nvSpPr>
        <p:spPr>
          <a:xfrm>
            <a:off x="822960" y="1325880"/>
            <a:ext cx="10423800" cy="4480200"/>
          </a:xfrm>
          <a:prstGeom prst="rect">
            <a:avLst/>
          </a:prstGeom>
          <a:noFill/>
          <a:ln w="0">
            <a:noFill/>
          </a:ln>
        </p:spPr>
        <p:style>
          <a:lnRef idx="0">
            <a:scrgbClr r="0" g="0" b="0"/>
          </a:lnRef>
          <a:fillRef idx="0">
            <a:scrgbClr r="0" g="0" b="0"/>
          </a:fillRef>
          <a:effectRef idx="0">
            <a:scrgbClr r="0" g="0" b="0"/>
          </a:effectRef>
          <a:fontRef idx="minor"/>
        </p:style>
        <p:txBody>
          <a:bodyPr lIns="38160" tIns="38160" rIns="38160" bIns="38160" anchor="t">
            <a:noAutofit/>
          </a:bodyPr>
          <a:lstStyle/>
          <a:p>
            <a:pPr marL="228600" indent="-228600" defTabSz="914400">
              <a:lnSpc>
                <a:spcPct val="100000"/>
              </a:lnSpc>
              <a:buClr>
                <a:srgbClr val="203040"/>
              </a:buClr>
              <a:buFont typeface="Symbol" charset="2"/>
              <a:buChar char=""/>
            </a:pPr>
            <a:r>
              <a:rPr lang="en-US" sz="1700" b="0" u="none" strike="noStrike">
                <a:solidFill>
                  <a:srgbClr val="203040"/>
                </a:solidFill>
                <a:effectLst/>
                <a:uFillTx/>
                <a:latin typeface="Aptos"/>
              </a:rPr>
              <a:t>A leakage-safe, documented cohort can be reconstructed from the manually provided ADNI files using code and configuration.</a:t>
            </a:r>
            <a:endParaRPr lang="en-US" sz="170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700" b="0" u="none" strike="noStrike">
                <a:solidFill>
                  <a:srgbClr val="203040"/>
                </a:solidFill>
                <a:effectLst/>
                <a:uFillTx/>
                <a:latin typeface="Aptos"/>
              </a:rPr>
              <a:t>All five base learners and all three ensemble strategies are evaluated on the same leakage-safe protocol.</a:t>
            </a:r>
            <a:endParaRPr lang="en-US" sz="170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700" b="0" u="none" strike="noStrike">
                <a:solidFill>
                  <a:srgbClr val="203040"/>
                </a:solidFill>
                <a:effectLst/>
                <a:uFillTx/>
                <a:latin typeface="Aptos"/>
              </a:rPr>
              <a:t>MCI→AD prediction is evaluated at one or more defensible horizons.</a:t>
            </a:r>
            <a:endParaRPr lang="en-US" sz="170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700" b="0" u="none" strike="noStrike">
                <a:solidFill>
                  <a:srgbClr val="203040"/>
                </a:solidFill>
                <a:effectLst/>
                <a:uFillTx/>
                <a:latin typeface="Aptos"/>
              </a:rPr>
              <a:t>Calibration and uncertainty are assessed—not only classification accuracy.</a:t>
            </a:r>
            <a:endParaRPr lang="en-US" sz="170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700" b="0" u="none" strike="noStrike">
                <a:solidFill>
                  <a:srgbClr val="203040"/>
                </a:solidFill>
                <a:effectLst/>
                <a:uFillTx/>
                <a:latin typeface="Aptos"/>
              </a:rPr>
              <a:t>Missing-modality and modality-ablation experiments are completed.</a:t>
            </a:r>
            <a:endParaRPr lang="en-US" sz="170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700" b="0" u="none" strike="noStrike">
                <a:solidFill>
                  <a:srgbClr val="203040"/>
                </a:solidFill>
                <a:effectLst/>
                <a:uFillTx/>
                <a:latin typeface="Aptos"/>
              </a:rPr>
              <a:t>Participant-level explanations and model provenance are available in the dashboard.</a:t>
            </a:r>
            <a:endParaRPr lang="en-US" sz="1700" b="0" u="none" strike="noStrike">
              <a:solidFill>
                <a:srgbClr val="000000"/>
              </a:solidFill>
              <a:effectLst/>
              <a:uFillTx/>
              <a:latin typeface="Arial"/>
            </a:endParaRPr>
          </a:p>
          <a:p>
            <a:pPr marL="228600" indent="-228600" defTabSz="914400">
              <a:lnSpc>
                <a:spcPct val="100000"/>
              </a:lnSpc>
              <a:buClr>
                <a:srgbClr val="203040"/>
              </a:buClr>
              <a:buFont typeface="Symbol" charset="2"/>
              <a:buChar char=""/>
            </a:pPr>
            <a:r>
              <a:rPr lang="en-US" sz="1700" b="0" u="none" strike="noStrike">
                <a:solidFill>
                  <a:srgbClr val="203040"/>
                </a:solidFill>
                <a:effectLst/>
                <a:uFillTx/>
                <a:latin typeface="Aptos"/>
              </a:rPr>
              <a:t>The student can explain limitations, selection bias, scanner/site heterogeneity and why the system is research support—not a clinical diagnostic device.</a:t>
            </a:r>
            <a:endParaRPr lang="en-US" sz="1700" b="0" u="none" strike="noStrike">
              <a:solidFill>
                <a:srgbClr val="000000"/>
              </a:solidFill>
              <a:effectLst/>
              <a:uFillTx/>
              <a:latin typeface="Arial"/>
            </a:endParaRPr>
          </a:p>
        </p:txBody>
      </p:sp>
      <p:sp>
        <p:nvSpPr>
          <p:cNvPr id="720" name="PlaceHolder 1"/>
          <p:cNvSpPr>
            <a:spLocks noGrp="1"/>
          </p:cNvSpPr>
          <p:nvPr>
            <p:ph type="sldNum" idx="29"/>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40</a:t>
            </a:r>
            <a:endParaRPr lang="en-US" sz="800" b="0" u="none" strike="noStrike">
              <a:solidFill>
                <a:srgbClr val="000000"/>
              </a:solidFill>
              <a:effectLst/>
              <a:uFillTx/>
              <a:latin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 name="TextBox 1"/>
          <p:cNvSpPr/>
          <p:nvPr/>
        </p:nvSpPr>
        <p:spPr>
          <a:xfrm>
            <a:off x="502920" y="255960"/>
            <a:ext cx="1115532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100" b="1" u="none" strike="noStrike">
                <a:solidFill>
                  <a:srgbClr val="008197"/>
                </a:solidFill>
                <a:effectLst/>
                <a:uFillTx/>
                <a:latin typeface="Aptos"/>
              </a:rPr>
              <a:t>START HERE</a:t>
            </a:r>
            <a:endParaRPr lang="en-US" sz="1100" b="0" u="none" strike="noStrike">
              <a:solidFill>
                <a:srgbClr val="000000"/>
              </a:solidFill>
              <a:effectLst/>
              <a:uFillTx/>
              <a:latin typeface="Arial"/>
            </a:endParaRPr>
          </a:p>
        </p:txBody>
      </p:sp>
      <p:sp>
        <p:nvSpPr>
          <p:cNvPr id="722" name="TextBox 2"/>
          <p:cNvSpPr/>
          <p:nvPr/>
        </p:nvSpPr>
        <p:spPr>
          <a:xfrm>
            <a:off x="502920" y="621720"/>
            <a:ext cx="11155320" cy="5666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2700" b="1" u="none" strike="noStrike">
                <a:solidFill>
                  <a:srgbClr val="082A43"/>
                </a:solidFill>
                <a:effectLst/>
                <a:uFillTx/>
                <a:latin typeface="Aptos"/>
              </a:rPr>
              <a:t>First actions for students</a:t>
            </a:r>
            <a:endParaRPr lang="en-US" sz="2700" b="0" u="none" strike="noStrike">
              <a:solidFill>
                <a:srgbClr val="000000"/>
              </a:solidFill>
              <a:effectLst/>
              <a:uFillTx/>
              <a:latin typeface="Arial"/>
            </a:endParaRPr>
          </a:p>
        </p:txBody>
      </p:sp>
      <p:sp>
        <p:nvSpPr>
          <p:cNvPr id="723" name="TextBox 3"/>
          <p:cNvSpPr/>
          <p:nvPr/>
        </p:nvSpPr>
        <p:spPr>
          <a:xfrm>
            <a:off x="530280" y="122544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5A6973"/>
                </a:solidFill>
                <a:effectLst/>
                <a:uFillTx/>
                <a:latin typeface="Aptos"/>
              </a:rPr>
              <a:t>Assume the approved ADNI files have already been downloaded manually.</a:t>
            </a:r>
            <a:endParaRPr lang="en-US" sz="1300" b="0" u="none" strike="noStrike">
              <a:solidFill>
                <a:srgbClr val="000000"/>
              </a:solidFill>
              <a:effectLst/>
              <a:uFillTx/>
              <a:latin typeface="Arial"/>
            </a:endParaRPr>
          </a:p>
        </p:txBody>
      </p:sp>
      <p:cxnSp>
        <p:nvCxnSpPr>
          <p:cNvPr id="724" name="Connector 4"/>
          <p:cNvCxnSpPr/>
          <p:nvPr/>
        </p:nvCxnSpPr>
        <p:spPr>
          <a:xfrm>
            <a:off x="502920" y="1764720"/>
            <a:ext cx="11156040" cy="360"/>
          </a:xfrm>
          <a:prstGeom prst="straightConnector1">
            <a:avLst/>
          </a:prstGeom>
          <a:ln w="17780">
            <a:solidFill>
              <a:srgbClr val="008197"/>
            </a:solidFill>
          </a:ln>
        </p:spPr>
      </p:cxnSp>
      <p:sp>
        <p:nvSpPr>
          <p:cNvPr id="725" name="Rounded Rectangle 5"/>
          <p:cNvSpPr/>
          <p:nvPr/>
        </p:nvSpPr>
        <p:spPr>
          <a:xfrm>
            <a:off x="411480" y="1965960"/>
            <a:ext cx="475200" cy="47520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1</a:t>
            </a:r>
            <a:endParaRPr lang="en-US" sz="1500" b="0" u="none" strike="noStrike">
              <a:solidFill>
                <a:srgbClr val="FFFFFF"/>
              </a:solidFill>
              <a:effectLst/>
              <a:uFillTx/>
              <a:latin typeface="Arial"/>
            </a:endParaRPr>
          </a:p>
        </p:txBody>
      </p:sp>
      <p:sp>
        <p:nvSpPr>
          <p:cNvPr id="726" name="TextBox 6"/>
          <p:cNvSpPr/>
          <p:nvPr/>
        </p:nvSpPr>
        <p:spPr>
          <a:xfrm>
            <a:off x="978480" y="1965960"/>
            <a:ext cx="214848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500" b="1" u="none" strike="noStrike">
                <a:solidFill>
                  <a:srgbClr val="082A43"/>
                </a:solidFill>
                <a:effectLst/>
                <a:uFillTx/>
                <a:latin typeface="Aptos"/>
              </a:rPr>
              <a:t>Place files</a:t>
            </a:r>
            <a:endParaRPr lang="en-US" sz="1500" b="0" u="none" strike="noStrike">
              <a:solidFill>
                <a:srgbClr val="000000"/>
              </a:solidFill>
              <a:effectLst/>
              <a:uFillTx/>
              <a:latin typeface="Arial"/>
            </a:endParaRPr>
          </a:p>
        </p:txBody>
      </p:sp>
      <p:sp>
        <p:nvSpPr>
          <p:cNvPr id="727" name="TextBox 7"/>
          <p:cNvSpPr/>
          <p:nvPr/>
        </p:nvSpPr>
        <p:spPr>
          <a:xfrm>
            <a:off x="978480" y="2359080"/>
            <a:ext cx="2148480" cy="776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100" b="0" u="none" strike="noStrike">
                <a:solidFill>
                  <a:srgbClr val="1E2D37"/>
                </a:solidFill>
                <a:effectLst/>
                <a:uFillTx/>
                <a:latin typeface="Aptos"/>
              </a:rPr>
              <a:t>Organize approved ADNI tables under data/raw/; keep them immutable.</a:t>
            </a:r>
            <a:endParaRPr lang="en-US" sz="1100" b="0" u="none" strike="noStrike">
              <a:solidFill>
                <a:srgbClr val="000000"/>
              </a:solidFill>
              <a:effectLst/>
              <a:uFillTx/>
              <a:latin typeface="Arial"/>
            </a:endParaRPr>
          </a:p>
        </p:txBody>
      </p:sp>
      <p:sp>
        <p:nvSpPr>
          <p:cNvPr id="728" name="Rounded Rectangle 8"/>
          <p:cNvSpPr/>
          <p:nvPr/>
        </p:nvSpPr>
        <p:spPr>
          <a:xfrm>
            <a:off x="3291840" y="1965960"/>
            <a:ext cx="475200" cy="47520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2</a:t>
            </a:r>
            <a:endParaRPr lang="en-US" sz="1500" b="0" u="none" strike="noStrike">
              <a:solidFill>
                <a:srgbClr val="FFFFFF"/>
              </a:solidFill>
              <a:effectLst/>
              <a:uFillTx/>
              <a:latin typeface="Arial"/>
            </a:endParaRPr>
          </a:p>
        </p:txBody>
      </p:sp>
      <p:sp>
        <p:nvSpPr>
          <p:cNvPr id="729" name="TextBox 9"/>
          <p:cNvSpPr/>
          <p:nvPr/>
        </p:nvSpPr>
        <p:spPr>
          <a:xfrm>
            <a:off x="3858840" y="1965960"/>
            <a:ext cx="214848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500" b="1" u="none" strike="noStrike">
                <a:solidFill>
                  <a:srgbClr val="082A43"/>
                </a:solidFill>
                <a:effectLst/>
                <a:uFillTx/>
                <a:latin typeface="Aptos"/>
              </a:rPr>
              <a:t>Create manifest</a:t>
            </a:r>
            <a:endParaRPr lang="en-US" sz="1500" b="0" u="none" strike="noStrike">
              <a:solidFill>
                <a:srgbClr val="000000"/>
              </a:solidFill>
              <a:effectLst/>
              <a:uFillTx/>
              <a:latin typeface="Arial"/>
            </a:endParaRPr>
          </a:p>
        </p:txBody>
      </p:sp>
      <p:sp>
        <p:nvSpPr>
          <p:cNvPr id="730" name="TextBox 10"/>
          <p:cNvSpPr/>
          <p:nvPr/>
        </p:nvSpPr>
        <p:spPr>
          <a:xfrm>
            <a:off x="3858840" y="2359080"/>
            <a:ext cx="2148480" cy="776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100" b="0" u="none" strike="noStrike">
                <a:solidFill>
                  <a:srgbClr val="1E2D37"/>
                </a:solidFill>
                <a:effectLst/>
                <a:uFillTx/>
                <a:latin typeface="Aptos"/>
              </a:rPr>
              <a:t>Record file/release/date/version/dictionary and modality.</a:t>
            </a:r>
            <a:endParaRPr lang="en-US" sz="1100" b="0" u="none" strike="noStrike">
              <a:solidFill>
                <a:srgbClr val="000000"/>
              </a:solidFill>
              <a:effectLst/>
              <a:uFillTx/>
              <a:latin typeface="Arial"/>
            </a:endParaRPr>
          </a:p>
        </p:txBody>
      </p:sp>
      <p:sp>
        <p:nvSpPr>
          <p:cNvPr id="731" name="Rounded Rectangle 11"/>
          <p:cNvSpPr/>
          <p:nvPr/>
        </p:nvSpPr>
        <p:spPr>
          <a:xfrm>
            <a:off x="6172200" y="1965960"/>
            <a:ext cx="475200" cy="47520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3</a:t>
            </a:r>
            <a:endParaRPr lang="en-US" sz="1500" b="0" u="none" strike="noStrike">
              <a:solidFill>
                <a:srgbClr val="FFFFFF"/>
              </a:solidFill>
              <a:effectLst/>
              <a:uFillTx/>
              <a:latin typeface="Arial"/>
            </a:endParaRPr>
          </a:p>
        </p:txBody>
      </p:sp>
      <p:sp>
        <p:nvSpPr>
          <p:cNvPr id="732" name="TextBox 12"/>
          <p:cNvSpPr/>
          <p:nvPr/>
        </p:nvSpPr>
        <p:spPr>
          <a:xfrm>
            <a:off x="6739200" y="1965960"/>
            <a:ext cx="214848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500" b="1" u="none" strike="noStrike">
                <a:solidFill>
                  <a:srgbClr val="082A43"/>
                </a:solidFill>
                <a:effectLst/>
                <a:uFillTx/>
                <a:latin typeface="Aptos"/>
              </a:rPr>
              <a:t>Harmonize</a:t>
            </a:r>
            <a:endParaRPr lang="en-US" sz="1500" b="0" u="none" strike="noStrike">
              <a:solidFill>
                <a:srgbClr val="000000"/>
              </a:solidFill>
              <a:effectLst/>
              <a:uFillTx/>
              <a:latin typeface="Arial"/>
            </a:endParaRPr>
          </a:p>
        </p:txBody>
      </p:sp>
      <p:sp>
        <p:nvSpPr>
          <p:cNvPr id="733" name="TextBox 13"/>
          <p:cNvSpPr/>
          <p:nvPr/>
        </p:nvSpPr>
        <p:spPr>
          <a:xfrm>
            <a:off x="6739200" y="2359080"/>
            <a:ext cx="2148480" cy="776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100" b="0" u="none" strike="noStrike">
                <a:solidFill>
                  <a:srgbClr val="1E2D37"/>
                </a:solidFill>
                <a:effectLst/>
                <a:uFillTx/>
                <a:latin typeface="Aptos"/>
              </a:rPr>
              <a:t>Normalize identifiers, visits, dates and variable names in code.</a:t>
            </a:r>
            <a:endParaRPr lang="en-US" sz="1100" b="0" u="none" strike="noStrike">
              <a:solidFill>
                <a:srgbClr val="000000"/>
              </a:solidFill>
              <a:effectLst/>
              <a:uFillTx/>
              <a:latin typeface="Arial"/>
            </a:endParaRPr>
          </a:p>
        </p:txBody>
      </p:sp>
      <p:sp>
        <p:nvSpPr>
          <p:cNvPr id="734" name="Rounded Rectangle 14"/>
          <p:cNvSpPr/>
          <p:nvPr/>
        </p:nvSpPr>
        <p:spPr>
          <a:xfrm>
            <a:off x="9052560" y="1965960"/>
            <a:ext cx="475200" cy="475200"/>
          </a:xfrm>
          <a:prstGeom prst="roundRect">
            <a:avLst>
              <a:gd name="adj" fmla="val 16667"/>
            </a:avLst>
          </a:prstGeom>
          <a:solidFill>
            <a:srgbClr val="008197"/>
          </a:solidFill>
          <a:ln>
            <a:solidFill>
              <a:srgbClr val="008197"/>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4</a:t>
            </a:r>
            <a:endParaRPr lang="en-US" sz="1500" b="0" u="none" strike="noStrike">
              <a:solidFill>
                <a:srgbClr val="FFFFFF"/>
              </a:solidFill>
              <a:effectLst/>
              <a:uFillTx/>
              <a:latin typeface="Arial"/>
            </a:endParaRPr>
          </a:p>
        </p:txBody>
      </p:sp>
      <p:sp>
        <p:nvSpPr>
          <p:cNvPr id="735" name="TextBox 15"/>
          <p:cNvSpPr/>
          <p:nvPr/>
        </p:nvSpPr>
        <p:spPr>
          <a:xfrm>
            <a:off x="9619560" y="1965960"/>
            <a:ext cx="214848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500" b="1" u="none" strike="noStrike">
                <a:solidFill>
                  <a:srgbClr val="082A43"/>
                </a:solidFill>
                <a:effectLst/>
                <a:uFillTx/>
                <a:latin typeface="Aptos"/>
              </a:rPr>
              <a:t>Build cohort</a:t>
            </a:r>
            <a:endParaRPr lang="en-US" sz="1500" b="0" u="none" strike="noStrike">
              <a:solidFill>
                <a:srgbClr val="000000"/>
              </a:solidFill>
              <a:effectLst/>
              <a:uFillTx/>
              <a:latin typeface="Arial"/>
            </a:endParaRPr>
          </a:p>
        </p:txBody>
      </p:sp>
      <p:sp>
        <p:nvSpPr>
          <p:cNvPr id="736" name="TextBox 16"/>
          <p:cNvSpPr/>
          <p:nvPr/>
        </p:nvSpPr>
        <p:spPr>
          <a:xfrm>
            <a:off x="9619560" y="2359080"/>
            <a:ext cx="2148480" cy="776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100" b="0" u="none" strike="noStrike">
                <a:solidFill>
                  <a:srgbClr val="1E2D37"/>
                </a:solidFill>
                <a:effectLst/>
                <a:uFillTx/>
                <a:latin typeface="Aptos"/>
              </a:rPr>
              <a:t>Create participant × visit table and CN/MCI/AD labels.</a:t>
            </a:r>
            <a:endParaRPr lang="en-US" sz="1100" b="0" u="none" strike="noStrike">
              <a:solidFill>
                <a:srgbClr val="000000"/>
              </a:solidFill>
              <a:effectLst/>
              <a:uFillTx/>
              <a:latin typeface="Arial"/>
            </a:endParaRPr>
          </a:p>
        </p:txBody>
      </p:sp>
      <p:sp>
        <p:nvSpPr>
          <p:cNvPr id="737" name="Rounded Rectangle 17"/>
          <p:cNvSpPr/>
          <p:nvPr/>
        </p:nvSpPr>
        <p:spPr>
          <a:xfrm>
            <a:off x="411480" y="3794760"/>
            <a:ext cx="475200" cy="47520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5</a:t>
            </a:r>
            <a:endParaRPr lang="en-US" sz="1500" b="0" u="none" strike="noStrike">
              <a:solidFill>
                <a:srgbClr val="FFFFFF"/>
              </a:solidFill>
              <a:effectLst/>
              <a:uFillTx/>
              <a:latin typeface="Arial"/>
            </a:endParaRPr>
          </a:p>
        </p:txBody>
      </p:sp>
      <p:sp>
        <p:nvSpPr>
          <p:cNvPr id="738" name="TextBox 18"/>
          <p:cNvSpPr/>
          <p:nvPr/>
        </p:nvSpPr>
        <p:spPr>
          <a:xfrm>
            <a:off x="978480" y="3794760"/>
            <a:ext cx="214848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500" b="1" u="none" strike="noStrike">
                <a:solidFill>
                  <a:srgbClr val="082A43"/>
                </a:solidFill>
                <a:effectLst/>
                <a:uFillTx/>
                <a:latin typeface="Aptos"/>
              </a:rPr>
              <a:t>Split safely</a:t>
            </a:r>
            <a:endParaRPr lang="en-US" sz="1500" b="0" u="none" strike="noStrike">
              <a:solidFill>
                <a:srgbClr val="000000"/>
              </a:solidFill>
              <a:effectLst/>
              <a:uFillTx/>
              <a:latin typeface="Arial"/>
            </a:endParaRPr>
          </a:p>
        </p:txBody>
      </p:sp>
      <p:sp>
        <p:nvSpPr>
          <p:cNvPr id="739" name="TextBox 19"/>
          <p:cNvSpPr/>
          <p:nvPr/>
        </p:nvSpPr>
        <p:spPr>
          <a:xfrm>
            <a:off x="978480" y="4187880"/>
            <a:ext cx="2148480" cy="776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100" b="0" u="none" strike="noStrike">
                <a:solidFill>
                  <a:srgbClr val="1E2D37"/>
                </a:solidFill>
                <a:effectLst/>
                <a:uFillTx/>
                <a:latin typeface="Aptos"/>
              </a:rPr>
              <a:t>Create participant-level train/validation/test partitions.</a:t>
            </a:r>
            <a:endParaRPr lang="en-US" sz="1100" b="0" u="none" strike="noStrike">
              <a:solidFill>
                <a:srgbClr val="000000"/>
              </a:solidFill>
              <a:effectLst/>
              <a:uFillTx/>
              <a:latin typeface="Arial"/>
            </a:endParaRPr>
          </a:p>
        </p:txBody>
      </p:sp>
      <p:sp>
        <p:nvSpPr>
          <p:cNvPr id="740" name="Rounded Rectangle 20"/>
          <p:cNvSpPr/>
          <p:nvPr/>
        </p:nvSpPr>
        <p:spPr>
          <a:xfrm>
            <a:off x="3291840" y="3794760"/>
            <a:ext cx="475200" cy="47520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6</a:t>
            </a:r>
            <a:endParaRPr lang="en-US" sz="1500" b="0" u="none" strike="noStrike">
              <a:solidFill>
                <a:srgbClr val="FFFFFF"/>
              </a:solidFill>
              <a:effectLst/>
              <a:uFillTx/>
              <a:latin typeface="Arial"/>
            </a:endParaRPr>
          </a:p>
        </p:txBody>
      </p:sp>
      <p:sp>
        <p:nvSpPr>
          <p:cNvPr id="741" name="TextBox 21"/>
          <p:cNvSpPr/>
          <p:nvPr/>
        </p:nvSpPr>
        <p:spPr>
          <a:xfrm>
            <a:off x="3858840" y="3794760"/>
            <a:ext cx="214848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500" b="1" u="none" strike="noStrike">
                <a:solidFill>
                  <a:srgbClr val="082A43"/>
                </a:solidFill>
                <a:effectLst/>
                <a:uFillTx/>
                <a:latin typeface="Aptos"/>
              </a:rPr>
              <a:t>Train 5 models</a:t>
            </a:r>
            <a:endParaRPr lang="en-US" sz="1500" b="0" u="none" strike="noStrike">
              <a:solidFill>
                <a:srgbClr val="000000"/>
              </a:solidFill>
              <a:effectLst/>
              <a:uFillTx/>
              <a:latin typeface="Arial"/>
            </a:endParaRPr>
          </a:p>
        </p:txBody>
      </p:sp>
      <p:sp>
        <p:nvSpPr>
          <p:cNvPr id="742" name="TextBox 22"/>
          <p:cNvSpPr/>
          <p:nvPr/>
        </p:nvSpPr>
        <p:spPr>
          <a:xfrm>
            <a:off x="3858840" y="4187880"/>
            <a:ext cx="2148480" cy="776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100" b="0" u="none" strike="noStrike">
                <a:solidFill>
                  <a:srgbClr val="1E2D37"/>
                </a:solidFill>
                <a:effectLst/>
                <a:uFillTx/>
                <a:latin typeface="Aptos"/>
              </a:rPr>
              <a:t>LR, SVM, Random Forest, XGBoost and MLP.</a:t>
            </a:r>
            <a:endParaRPr lang="en-US" sz="1100" b="0" u="none" strike="noStrike">
              <a:solidFill>
                <a:srgbClr val="000000"/>
              </a:solidFill>
              <a:effectLst/>
              <a:uFillTx/>
              <a:latin typeface="Arial"/>
            </a:endParaRPr>
          </a:p>
        </p:txBody>
      </p:sp>
      <p:sp>
        <p:nvSpPr>
          <p:cNvPr id="743" name="Rounded Rectangle 23"/>
          <p:cNvSpPr/>
          <p:nvPr/>
        </p:nvSpPr>
        <p:spPr>
          <a:xfrm>
            <a:off x="6172200" y="3794760"/>
            <a:ext cx="475200" cy="47520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7</a:t>
            </a:r>
            <a:endParaRPr lang="en-US" sz="1500" b="0" u="none" strike="noStrike">
              <a:solidFill>
                <a:srgbClr val="FFFFFF"/>
              </a:solidFill>
              <a:effectLst/>
              <a:uFillTx/>
              <a:latin typeface="Arial"/>
            </a:endParaRPr>
          </a:p>
        </p:txBody>
      </p:sp>
      <p:sp>
        <p:nvSpPr>
          <p:cNvPr id="744" name="TextBox 24"/>
          <p:cNvSpPr/>
          <p:nvPr/>
        </p:nvSpPr>
        <p:spPr>
          <a:xfrm>
            <a:off x="6739200" y="3794760"/>
            <a:ext cx="214848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500" b="1" u="none" strike="noStrike">
                <a:solidFill>
                  <a:srgbClr val="082A43"/>
                </a:solidFill>
                <a:effectLst/>
                <a:uFillTx/>
                <a:latin typeface="Aptos"/>
              </a:rPr>
              <a:t>Build ensembles</a:t>
            </a:r>
            <a:endParaRPr lang="en-US" sz="1500" b="0" u="none" strike="noStrike">
              <a:solidFill>
                <a:srgbClr val="000000"/>
              </a:solidFill>
              <a:effectLst/>
              <a:uFillTx/>
              <a:latin typeface="Arial"/>
            </a:endParaRPr>
          </a:p>
        </p:txBody>
      </p:sp>
      <p:sp>
        <p:nvSpPr>
          <p:cNvPr id="745" name="TextBox 25"/>
          <p:cNvSpPr/>
          <p:nvPr/>
        </p:nvSpPr>
        <p:spPr>
          <a:xfrm>
            <a:off x="6739200" y="4187880"/>
            <a:ext cx="2148480" cy="776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100" b="0" u="none" strike="noStrike">
                <a:solidFill>
                  <a:srgbClr val="1E2D37"/>
                </a:solidFill>
                <a:effectLst/>
                <a:uFillTx/>
                <a:latin typeface="Aptos"/>
              </a:rPr>
              <a:t>Soft voting, weighted voting and stacking.</a:t>
            </a:r>
            <a:endParaRPr lang="en-US" sz="1100" b="0" u="none" strike="noStrike">
              <a:solidFill>
                <a:srgbClr val="000000"/>
              </a:solidFill>
              <a:effectLst/>
              <a:uFillTx/>
              <a:latin typeface="Arial"/>
            </a:endParaRPr>
          </a:p>
        </p:txBody>
      </p:sp>
      <p:sp>
        <p:nvSpPr>
          <p:cNvPr id="746" name="Rounded Rectangle 26"/>
          <p:cNvSpPr/>
          <p:nvPr/>
        </p:nvSpPr>
        <p:spPr>
          <a:xfrm>
            <a:off x="9052560" y="3794760"/>
            <a:ext cx="475200" cy="475200"/>
          </a:xfrm>
          <a:prstGeom prst="roundRect">
            <a:avLst>
              <a:gd name="adj" fmla="val 16667"/>
            </a:avLst>
          </a:prstGeom>
          <a:solidFill>
            <a:srgbClr val="684BA4"/>
          </a:solidFill>
          <a:ln>
            <a:solidFill>
              <a:srgbClr val="684BA4"/>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8</a:t>
            </a:r>
            <a:endParaRPr lang="en-US" sz="1500" b="0" u="none" strike="noStrike">
              <a:solidFill>
                <a:srgbClr val="FFFFFF"/>
              </a:solidFill>
              <a:effectLst/>
              <a:uFillTx/>
              <a:latin typeface="Arial"/>
            </a:endParaRPr>
          </a:p>
        </p:txBody>
      </p:sp>
      <p:sp>
        <p:nvSpPr>
          <p:cNvPr id="747" name="TextBox 27"/>
          <p:cNvSpPr/>
          <p:nvPr/>
        </p:nvSpPr>
        <p:spPr>
          <a:xfrm>
            <a:off x="9619560" y="3794760"/>
            <a:ext cx="2148480" cy="3196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500" b="1" u="none" strike="noStrike">
                <a:solidFill>
                  <a:srgbClr val="082A43"/>
                </a:solidFill>
                <a:effectLst/>
                <a:uFillTx/>
                <a:latin typeface="Aptos"/>
              </a:rPr>
              <a:t>Evaluate</a:t>
            </a:r>
            <a:endParaRPr lang="en-US" sz="1500" b="0" u="none" strike="noStrike">
              <a:solidFill>
                <a:srgbClr val="000000"/>
              </a:solidFill>
              <a:effectLst/>
              <a:uFillTx/>
              <a:latin typeface="Arial"/>
            </a:endParaRPr>
          </a:p>
        </p:txBody>
      </p:sp>
      <p:sp>
        <p:nvSpPr>
          <p:cNvPr id="748" name="TextBox 28"/>
          <p:cNvSpPr/>
          <p:nvPr/>
        </p:nvSpPr>
        <p:spPr>
          <a:xfrm>
            <a:off x="9619560" y="4187880"/>
            <a:ext cx="2148480" cy="776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100" b="0" u="none" strike="noStrike">
                <a:solidFill>
                  <a:srgbClr val="1E2D37"/>
                </a:solidFill>
                <a:effectLst/>
                <a:uFillTx/>
                <a:latin typeface="Aptos"/>
              </a:rPr>
              <a:t>Classification → progression → calibration → XAI → robustness.</a:t>
            </a:r>
            <a:endParaRPr lang="en-US" sz="1100" b="0" u="none" strike="noStrike">
              <a:solidFill>
                <a:srgbClr val="000000"/>
              </a:solidFill>
              <a:effectLst/>
              <a:uFillTx/>
              <a:latin typeface="Arial"/>
            </a:endParaRPr>
          </a:p>
        </p:txBody>
      </p:sp>
      <p:sp>
        <p:nvSpPr>
          <p:cNvPr id="749" name="Rounded Rectangle 29"/>
          <p:cNvSpPr/>
          <p:nvPr/>
        </p:nvSpPr>
        <p:spPr>
          <a:xfrm>
            <a:off x="1097280" y="5852160"/>
            <a:ext cx="9875160" cy="529920"/>
          </a:xfrm>
          <a:prstGeom prst="roundRect">
            <a:avLst>
              <a:gd name="adj" fmla="val 16667"/>
            </a:avLst>
          </a:prstGeom>
          <a:solidFill>
            <a:srgbClr val="082A43"/>
          </a:solidFill>
          <a:ln>
            <a:solidFill>
              <a:srgbClr val="082A43"/>
            </a:solidFill>
          </a:ln>
        </p:spPr>
        <p:style>
          <a:lnRef idx="1">
            <a:schemeClr val="accent1"/>
          </a:lnRef>
          <a:fillRef idx="3">
            <a:schemeClr val="accent1"/>
          </a:fillRef>
          <a:effectRef idx="2">
            <a:schemeClr val="accent1"/>
          </a:effectRef>
          <a:fontRef idx="minor"/>
        </p:style>
        <p:txBody>
          <a:bodyPr lIns="73080" tIns="36720" rIns="73080" bIns="36720" anchor="ctr">
            <a:noAutofit/>
          </a:bodyPr>
          <a:lstStyle/>
          <a:p>
            <a:pPr algn="ctr" defTabSz="914400">
              <a:lnSpc>
                <a:spcPct val="100000"/>
              </a:lnSpc>
            </a:pPr>
            <a:r>
              <a:rPr lang="en-US" sz="1500" b="1" u="none" strike="noStrike">
                <a:solidFill>
                  <a:srgbClr val="FFFFFF"/>
                </a:solidFill>
                <a:effectLst/>
                <a:uFillTx/>
                <a:latin typeface="Aptos"/>
              </a:rPr>
              <a:t>LOCAL DATA → COHORT → 5 BASE LEARNERS → 3 ENSEMBLES → PROGRESSION → TRUSTWORTHINESS</a:t>
            </a:r>
            <a:endParaRPr lang="en-US" sz="1500" b="0" u="none" strike="noStrike">
              <a:solidFill>
                <a:srgbClr val="FFFFFF"/>
              </a:solidFill>
              <a:effectLst/>
              <a:uFillTx/>
              <a:latin typeface="Arial"/>
            </a:endParaRPr>
          </a:p>
        </p:txBody>
      </p:sp>
      <p:sp>
        <p:nvSpPr>
          <p:cNvPr id="750" name="TextBox 30"/>
          <p:cNvSpPr/>
          <p:nvPr/>
        </p:nvSpPr>
        <p:spPr>
          <a:xfrm>
            <a:off x="11384280" y="6537960"/>
            <a:ext cx="319680" cy="20088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r" defTabSz="914400">
              <a:lnSpc>
                <a:spcPct val="100000"/>
              </a:lnSpc>
            </a:pPr>
            <a:r>
              <a:rPr sz="850">
                <a:solidFill>
                  <a:srgbClr val="607488"/>
                </a:solidFill>
                <a:latin typeface="Aptos"/>
              </a:rPr>
              <a:t>41</a:t>
            </a:r>
            <a:endParaRPr lang="en-US" sz="9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 name="Text 0"/>
          <p:cNvSpPr/>
          <p:nvPr/>
        </p:nvSpPr>
        <p:spPr>
          <a:xfrm>
            <a:off x="567000" y="384120"/>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11">
                <a:solidFill>
                  <a:srgbClr val="0F8B8D"/>
                </a:solidFill>
                <a:effectLst/>
                <a:uFillTx/>
                <a:latin typeface="Aptos"/>
              </a:rPr>
              <a:t>REFERENCES</a:t>
            </a:r>
            <a:endParaRPr lang="en-US" sz="1000" b="0" u="none" strike="noStrike">
              <a:solidFill>
                <a:srgbClr val="000000"/>
              </a:solidFill>
              <a:effectLst/>
              <a:uFillTx/>
              <a:latin typeface="Arial"/>
            </a:endParaRPr>
          </a:p>
        </p:txBody>
      </p:sp>
      <p:sp>
        <p:nvSpPr>
          <p:cNvPr id="752" name="Text 1"/>
          <p:cNvSpPr/>
          <p:nvPr/>
        </p:nvSpPr>
        <p:spPr>
          <a:xfrm>
            <a:off x="567000" y="713160"/>
            <a:ext cx="109724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0B3558"/>
                </a:solidFill>
                <a:effectLst/>
                <a:uFillTx/>
                <a:latin typeface="Aptos"/>
              </a:rPr>
              <a:t>Key sources and documentation</a:t>
            </a:r>
            <a:endParaRPr lang="en-US" sz="2800" b="0" u="none" strike="noStrike">
              <a:solidFill>
                <a:srgbClr val="000000"/>
              </a:solidFill>
              <a:effectLst/>
              <a:uFillTx/>
              <a:latin typeface="Arial"/>
            </a:endParaRPr>
          </a:p>
        </p:txBody>
      </p:sp>
      <p:sp>
        <p:nvSpPr>
          <p:cNvPr id="753" name="Text 2"/>
          <p:cNvSpPr/>
          <p:nvPr/>
        </p:nvSpPr>
        <p:spPr>
          <a:xfrm>
            <a:off x="731520" y="1188720"/>
            <a:ext cx="1828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F8B8D"/>
                </a:solidFill>
                <a:effectLst/>
                <a:uFillTx/>
                <a:latin typeface="Aptos"/>
              </a:rPr>
              <a:t>Project basis</a:t>
            </a:r>
            <a:endParaRPr lang="en-US" sz="1600" b="0" u="none" strike="noStrike">
              <a:solidFill>
                <a:srgbClr val="000000"/>
              </a:solidFill>
              <a:effectLst/>
              <a:uFillTx/>
              <a:latin typeface="Arial"/>
            </a:endParaRPr>
          </a:p>
        </p:txBody>
      </p:sp>
      <p:sp>
        <p:nvSpPr>
          <p:cNvPr id="754" name="Text 3"/>
          <p:cNvSpPr/>
          <p:nvPr/>
        </p:nvSpPr>
        <p:spPr>
          <a:xfrm>
            <a:off x="822960" y="1645920"/>
            <a:ext cx="5668920" cy="356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u="none" strike="noStrike">
                <a:solidFill>
                  <a:srgbClr val="203040"/>
                </a:solidFill>
                <a:effectLst/>
                <a:uFillTx/>
                <a:latin typeface="Aptos"/>
              </a:rPr>
              <a:t>• NeuroFusion-AI Master’s Project Brief, v2 — uploaded project specification.</a:t>
            </a:r>
            <a:endParaRPr lang="en-US" sz="1500" b="0" u="none" strike="noStrike">
              <a:solidFill>
                <a:srgbClr val="000000"/>
              </a:solidFill>
              <a:effectLst/>
              <a:uFillTx/>
              <a:latin typeface="Arial"/>
            </a:endParaRPr>
          </a:p>
          <a:p>
            <a:pPr defTabSz="914400">
              <a:lnSpc>
                <a:spcPct val="100000"/>
              </a:lnSpc>
              <a:tabLst>
                <a:tab pos="0" algn="l"/>
              </a:tabLst>
            </a:pP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203040"/>
                </a:solidFill>
                <a:effectLst/>
                <a:uFillTx/>
                <a:latin typeface="Aptos"/>
              </a:rPr>
              <a:t>Official ADNI resources</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203040"/>
                </a:solidFill>
                <a:effectLst/>
                <a:uFillTx/>
                <a:latin typeface="Aptos"/>
              </a:rPr>
              <a:t>• ADNI Data and Samples / Data Access</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203040"/>
                </a:solidFill>
                <a:effectLst/>
                <a:uFillTx/>
                <a:latin typeface="Aptos"/>
              </a:rPr>
              <a:t>• ADNI Data User Guide / Study Files</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203040"/>
                </a:solidFill>
                <a:effectLst/>
                <a:uFillTx/>
                <a:latin typeface="Aptos"/>
              </a:rPr>
              <a:t>• ADNI Data Dictionary documentation</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203040"/>
                </a:solidFill>
                <a:effectLst/>
                <a:uFillTx/>
                <a:latin typeface="Aptos"/>
              </a:rPr>
              <a:t>• ADNI Clinical Assessments</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203040"/>
                </a:solidFill>
                <a:effectLst/>
                <a:uFillTx/>
                <a:latin typeface="Aptos"/>
              </a:rPr>
              <a:t>• ADNI Genetics &amp; Related Omics</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203040"/>
                </a:solidFill>
                <a:effectLst/>
                <a:uFillTx/>
                <a:latin typeface="Aptos"/>
              </a:rPr>
              <a:t>• LONI Image &amp; Data Archive (IDA) user documentation</a:t>
            </a:r>
            <a:endParaRPr lang="en-US" sz="1500" b="0" u="none" strike="noStrike">
              <a:solidFill>
                <a:srgbClr val="000000"/>
              </a:solidFill>
              <a:effectLst/>
              <a:uFillTx/>
              <a:latin typeface="Arial"/>
            </a:endParaRPr>
          </a:p>
        </p:txBody>
      </p:sp>
      <p:sp>
        <p:nvSpPr>
          <p:cNvPr id="755" name="Shape 4"/>
          <p:cNvSpPr/>
          <p:nvPr/>
        </p:nvSpPr>
        <p:spPr>
          <a:xfrm>
            <a:off x="6995160" y="1508760"/>
            <a:ext cx="4205880" cy="3565800"/>
          </a:xfrm>
          <a:prstGeom prst="roundRect">
            <a:avLst>
              <a:gd name="adj" fmla="val 16667"/>
            </a:avLst>
          </a:prstGeom>
          <a:solidFill>
            <a:srgbClr val="EDF3F7"/>
          </a:solidFill>
          <a:ln w="12700">
            <a:solidFill>
              <a:srgbClr val="D3DE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56" name="Text 5"/>
          <p:cNvSpPr/>
          <p:nvPr/>
        </p:nvSpPr>
        <p:spPr>
          <a:xfrm>
            <a:off x="7315200" y="1828800"/>
            <a:ext cx="35658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0B3558"/>
                </a:solidFill>
                <a:effectLst/>
                <a:uFillTx/>
                <a:latin typeface="Aptos"/>
              </a:rPr>
              <a:t>Important implementation note</a:t>
            </a:r>
            <a:endParaRPr lang="en-US" sz="1700" b="0" u="none" strike="noStrike">
              <a:solidFill>
                <a:srgbClr val="000000"/>
              </a:solidFill>
              <a:effectLst/>
              <a:uFillTx/>
              <a:latin typeface="Arial"/>
            </a:endParaRPr>
          </a:p>
        </p:txBody>
      </p:sp>
      <p:sp>
        <p:nvSpPr>
          <p:cNvPr id="757" name="Text 6"/>
          <p:cNvSpPr/>
          <p:nvPr/>
        </p:nvSpPr>
        <p:spPr>
          <a:xfrm>
            <a:off x="7315200" y="2423160"/>
            <a:ext cx="356580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0" u="none" strike="noStrike">
                <a:solidFill>
                  <a:srgbClr val="203040"/>
                </a:solidFill>
                <a:effectLst/>
                <a:uFillTx/>
                <a:latin typeface="Aptos"/>
              </a:rPr>
              <a:t>Exact ADNI files, variables, cohort counts and biomarker definitions must be documented from the approved data release actually used by the student.</a:t>
            </a:r>
            <a:endParaRPr lang="en-US" sz="1500" b="0" u="none" strike="noStrike">
              <a:solidFill>
                <a:srgbClr val="000000"/>
              </a:solidFill>
              <a:effectLst/>
              <a:uFillTx/>
              <a:latin typeface="Arial"/>
            </a:endParaRPr>
          </a:p>
          <a:p>
            <a:pPr algn="ctr" defTabSz="914400">
              <a:lnSpc>
                <a:spcPct val="100000"/>
              </a:lnSpc>
              <a:tabLst>
                <a:tab pos="0" algn="l"/>
              </a:tabLst>
            </a:pPr>
            <a:endParaRPr lang="en-US" sz="1500" b="0" u="none" strike="noStrike">
              <a:solidFill>
                <a:srgbClr val="000000"/>
              </a:solidFill>
              <a:effectLst/>
              <a:uFillTx/>
              <a:latin typeface="Arial"/>
            </a:endParaRPr>
          </a:p>
          <a:p>
            <a:pPr algn="ctr" defTabSz="914400">
              <a:lnSpc>
                <a:spcPct val="100000"/>
              </a:lnSpc>
              <a:tabLst>
                <a:tab pos="0" algn="l"/>
              </a:tabLst>
            </a:pPr>
            <a:r>
              <a:rPr lang="en-US" sz="1500" b="0" u="none" strike="noStrike">
                <a:solidFill>
                  <a:srgbClr val="203040"/>
                </a:solidFill>
                <a:effectLst/>
                <a:uFillTx/>
                <a:latin typeface="Aptos"/>
              </a:rPr>
              <a:t>Do not hard-code assumptions from older papers or tutorials without checking the current dictionary and release.</a:t>
            </a:r>
            <a:endParaRPr lang="en-US" sz="1500" b="0" u="none" strike="noStrike">
              <a:solidFill>
                <a:srgbClr val="000000"/>
              </a:solidFill>
              <a:effectLst/>
              <a:uFillTx/>
              <a:latin typeface="Arial"/>
            </a:endParaRPr>
          </a:p>
        </p:txBody>
      </p:sp>
      <p:sp>
        <p:nvSpPr>
          <p:cNvPr id="758" name="PlaceHolder 1"/>
          <p:cNvSpPr>
            <a:spLocks noGrp="1"/>
          </p:cNvSpPr>
          <p:nvPr>
            <p:ph type="sldNum" idx="30"/>
          </p:nvPr>
        </p:nvSpPr>
        <p:spPr>
          <a:xfrm>
            <a:off x="11685960" y="6537960"/>
            <a:ext cx="228240" cy="164160"/>
          </a:xfrm>
          <a:prstGeom prst="rect">
            <a:avLst/>
          </a:prstGeom>
          <a:noFill/>
          <a:ln w="0">
            <a:noFill/>
          </a:ln>
        </p:spPr>
        <p:txBody>
          <a:bodyPr lIns="90000" tIns="45000" rIns="90000" bIns="45000" anchor="t">
            <a:noAutofit/>
          </a:bodyPr>
          <a:lstStyle>
            <a:lvl1pPr indent="0" defTabSz="914400">
              <a:lnSpc>
                <a:spcPct val="100000"/>
              </a:lnSpc>
              <a:buNone/>
              <a:defRPr lang="en-US" sz="800" b="0" u="none" strike="noStrike">
                <a:solidFill>
                  <a:srgbClr val="657786"/>
                </a:solidFill>
                <a:effectLst/>
                <a:uFillTx/>
                <a:latin typeface="Aptos"/>
                <a:ea typeface="Aptos"/>
              </a:defRPr>
            </a:lvl1pPr>
          </a:lstStyle>
          <a:p>
            <a:pPr indent="0" algn="r" defTabSz="914400">
              <a:lnSpc>
                <a:spcPct val="100000"/>
              </a:lnSpc>
              <a:buNone/>
            </a:pPr>
            <a:r>
              <a:rPr sz="850">
                <a:solidFill>
                  <a:srgbClr val="607488"/>
                </a:solidFill>
                <a:latin typeface="Aptos"/>
              </a:rPr>
              <a:t>42</a:t>
            </a:r>
            <a:endParaRPr lang="en-US" sz="800" b="0" u="none" strike="noStrike">
              <a:solidFill>
                <a:srgbClr val="000000"/>
              </a:solidFill>
              <a:effectLst/>
              <a:uFillTx/>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TotalTime>
  <Words>11095</Words>
  <Application>Microsoft Office PowerPoint</Application>
  <PresentationFormat>Widescreen</PresentationFormat>
  <Paragraphs>857</Paragraphs>
  <Slides>41</Slides>
  <Notes>41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Aptos</vt:lpstr>
      <vt:lpstr>Arial</vt:lpstr>
      <vt:lpstr>Consolas</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Konstantinos Kokkinos</cp:lastModifiedBy>
  <cp:revision>9</cp:revision>
  <dcterms:modified xsi:type="dcterms:W3CDTF">2026-09-22T10:26:02Z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2026-09-21T11:18:49Z</dcterms:created>
  <dc:creator>OpenAI</dc:creator>
  <dc:description/>
  <dc:language>en-US</dc:language>
  <cp:lastModifiedBy>OpenAI</cp:lastModifiedBy>
  <dcterms:modified xsi:type="dcterms:W3CDTF">2026-09-21T11:18:49Z</dcterms:modified>
  <cp:revision>1</cp:revision>
  <dc:subject>NeuroFusion-AI Master Project</dc:subject>
  <dc:title>NeuroFusion-AI: ADNI Multimodal ML Project and Implementation Roadmap</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34</vt:r8>
  </property>
  <property fmtid="{D5CDD505-2E9C-101B-9397-08002B2CF9AE}" pid="3" name="PresentationFormat">
    <vt:lpwstr>On-screen Show (16:9)</vt:lpwstr>
  </property>
  <property fmtid="{D5CDD505-2E9C-101B-9397-08002B2CF9AE}" pid="4" name="Slides">
    <vt:r8>34</vt:r8>
  </property>
</Properties>
</file>